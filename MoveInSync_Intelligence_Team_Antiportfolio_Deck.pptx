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hO1Qy6Fo2tvSJJclzhTe+/D/K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a2b8997a9_2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a2b8997a9_2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a2b8997a9_2_1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2b8997a9_2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fa2b8997a9_2_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a2b8997a9_2_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2b8997a9_2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fa2b8997a9_2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a2b8997a9_2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a2b8997a9_2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a2b8997a9_2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fa2b8997a9_2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5F8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 cap="flat" cmpd="sng" w="12700">
            <a:solidFill>
              <a:srgbClr val="0E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4"/>
          <p:cNvSpPr/>
          <p:nvPr/>
        </p:nvSpPr>
        <p:spPr>
          <a:xfrm>
            <a:off x="411480" y="6611112"/>
            <a:ext cx="51206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3E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rPr>
              <a:t>MoveInSync Intelligence  •  Hackathon Concept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1">
  <p:cSld name="MASTER (g3fa2b8997a9_20_0)">
    <p:bg>
      <p:bgPr>
        <a:solidFill>
          <a:srgbClr val="F5F8FC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a2b8997a9_2_79"/>
          <p:cNvSpPr txBox="1"/>
          <p:nvPr>
            <p:ph idx="12" type="sldNum"/>
          </p:nvPr>
        </p:nvSpPr>
        <p:spPr>
          <a:xfrm>
            <a:off x="11475720" y="658368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B2A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/>
          <p:nvPr/>
        </p:nvSpPr>
        <p:spPr>
          <a:xfrm>
            <a:off x="0" y="6565392"/>
            <a:ext cx="12191700" cy="292500"/>
          </a:xfrm>
          <a:prstGeom prst="rect">
            <a:avLst/>
          </a:prstGeom>
          <a:solidFill>
            <a:srgbClr val="0E1B2A"/>
          </a:solidFill>
          <a:ln cap="flat" cmpd="sng" w="12700">
            <a:solidFill>
              <a:srgbClr val="0E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0" y="0"/>
            <a:ext cx="12191700" cy="6565500"/>
          </a:xfrm>
          <a:prstGeom prst="rect">
            <a:avLst/>
          </a:prstGeom>
          <a:solidFill>
            <a:srgbClr val="0E1B2A"/>
          </a:solidFill>
          <a:ln cap="flat" cmpd="sng" w="12700">
            <a:solidFill>
              <a:srgbClr val="0E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543800" y="-731520"/>
            <a:ext cx="5669400" cy="5669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E1B2A"/>
          </a:solidFill>
          <a:ln cap="flat" cmpd="sng" w="25400">
            <a:solidFill>
              <a:srgbClr val="21405D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8229600" y="137160"/>
            <a:ext cx="4389000" cy="43890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E1B2A"/>
          </a:solidFill>
          <a:ln cap="flat" cmpd="sng" w="25400">
            <a:solidFill>
              <a:srgbClr val="2A5B7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</a:t>
            </a:r>
            <a:endParaRPr/>
          </a:p>
        </p:txBody>
      </p:sp>
      <p:sp>
        <p:nvSpPr>
          <p:cNvPr id="27" name="Google Shape;27;p1"/>
          <p:cNvSpPr txBox="1"/>
          <p:nvPr/>
        </p:nvSpPr>
        <p:spPr>
          <a:xfrm>
            <a:off x="2915500" y="509200"/>
            <a:ext cx="59982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MoveInSync</a:t>
            </a:r>
            <a:r>
              <a:rPr lang="en-US" sz="3100">
                <a:solidFill>
                  <a:schemeClr val="dk1"/>
                </a:solidFill>
              </a:rPr>
              <a:t> </a:t>
            </a: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Intelligence Layer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585225" y="1691675"/>
            <a:ext cx="5056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F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CE8F3"/>
                </a:solidFill>
                <a:latin typeface="Arial"/>
                <a:ea typeface="Arial"/>
                <a:cs typeface="Arial"/>
                <a:sym typeface="Arial"/>
              </a:rPr>
              <a:t>From “what happened?” to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F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CE8F3"/>
                </a:solidFill>
                <a:latin typeface="Arial"/>
                <a:ea typeface="Arial"/>
                <a:cs typeface="Arial"/>
                <a:sym typeface="Arial"/>
              </a:rPr>
              <a:t>“what should I do next?”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585225" y="2971800"/>
            <a:ext cx="4148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2D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FC2D8"/>
                </a:solidFill>
                <a:latin typeface="Arial"/>
                <a:ea typeface="Arial"/>
                <a:cs typeface="Arial"/>
                <a:sym typeface="Arial"/>
              </a:rPr>
              <a:t>An agentic intelligence &amp; reporting layer that senses operational change, explains the business impact, recommends action, and closes the loop.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585216" y="5961888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BD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9308592" y="5989320"/>
            <a:ext cx="2103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6D6B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6D6BD"/>
                </a:solidFill>
                <a:latin typeface="Arial"/>
                <a:ea typeface="Arial"/>
                <a:cs typeface="Arial"/>
                <a:sym typeface="Arial"/>
              </a:rPr>
              <a:t>MOVEINSYNC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 txBox="1"/>
          <p:nvPr>
            <p:ph idx="4294967295" type="sldNum"/>
          </p:nvPr>
        </p:nvSpPr>
        <p:spPr>
          <a:xfrm>
            <a:off x="11475720" y="658368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D9E3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1"/>
          <p:cNvPicPr preferRelativeResize="0"/>
          <p:nvPr/>
        </p:nvPicPr>
        <p:blipFill rotWithShape="1">
          <a:blip r:embed="rId3">
            <a:alphaModFix amt="48000"/>
          </a:blip>
          <a:srcRect b="0" l="3279" r="0" t="3063"/>
          <a:stretch/>
        </p:blipFill>
        <p:spPr>
          <a:xfrm>
            <a:off x="6435735" y="1478500"/>
            <a:ext cx="5535764" cy="360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502920" y="31089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01 — THE PROBLEM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502920" y="658368"/>
            <a:ext cx="11018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Mobility teams have data everywhere — but decisions nowhere.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502920" y="1225296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The signal is rich. The insight is missing. The action is manual.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02920" y="1783080"/>
            <a:ext cx="6400800" cy="4251960"/>
          </a:xfrm>
          <a:prstGeom prst="roundRect">
            <a:avLst>
              <a:gd fmla="val 3441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77724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43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9343A"/>
                </a:solidFill>
                <a:latin typeface="Arial"/>
                <a:ea typeface="Arial"/>
                <a:cs typeface="Arial"/>
                <a:sym typeface="Arial"/>
              </a:rPr>
              <a:t>TODAY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777240" y="233172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A metric arrives without context.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777240" y="2907792"/>
            <a:ext cx="539496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“OTA is 78%.”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The manager still has to answer: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• Is that better or worse than last month?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• Which vendor caused the gap?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• Which routes are recurring offenders?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• How many employees were impacted?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• What should I do next?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178040" y="1783080"/>
            <a:ext cx="4507992" cy="4251960"/>
          </a:xfrm>
          <a:prstGeom prst="roundRect">
            <a:avLst>
              <a:gd fmla="val 3441" name="adj"/>
            </a:avLst>
          </a:prstGeom>
          <a:solidFill>
            <a:srgbClr val="0E1B2A"/>
          </a:solidFill>
          <a:ln cap="flat" cmpd="sng" w="12700">
            <a:solidFill>
              <a:srgbClr val="0E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 txBox="1"/>
          <p:nvPr/>
        </p:nvSpPr>
        <p:spPr>
          <a:xfrm>
            <a:off x="7498080" y="201168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D6B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6D6BD"/>
                </a:solidFill>
                <a:latin typeface="Arial"/>
                <a:ea typeface="Arial"/>
                <a:cs typeface="Arial"/>
                <a:sym typeface="Arial"/>
              </a:rPr>
              <a:t>THE SHIFT WE WANT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7498080" y="2395728"/>
            <a:ext cx="3657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78% becomes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decision.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7498080" y="3520440"/>
            <a:ext cx="3611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5F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6E5F2"/>
                </a:solidFill>
                <a:latin typeface="Arial"/>
                <a:ea typeface="Arial"/>
                <a:cs typeface="Arial"/>
                <a:sym typeface="Arial"/>
              </a:rPr>
              <a:t>“OTA fell from 85% to 78%, below the 90% SLA. Two vendors explain 81% of the gap, affecting 146 employees. Intervene on 3 morning routes.”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498080" y="5330952"/>
            <a:ext cx="960120" cy="256032"/>
          </a:xfrm>
          <a:prstGeom prst="roundRect">
            <a:avLst>
              <a:gd fmla="val 50000" name="adj"/>
            </a:avLst>
          </a:prstGeom>
          <a:solidFill>
            <a:srgbClr val="1769E0"/>
          </a:solidFill>
          <a:ln cap="flat" cmpd="sng" w="12700">
            <a:solidFill>
              <a:srgbClr val="176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7571232" y="5340096"/>
            <a:ext cx="813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577072" y="5330952"/>
            <a:ext cx="777240" cy="256032"/>
          </a:xfrm>
          <a:prstGeom prst="roundRect">
            <a:avLst>
              <a:gd fmla="val 50000" name="adj"/>
            </a:avLst>
          </a:prstGeom>
          <a:solidFill>
            <a:srgbClr val="1769E0"/>
          </a:solidFill>
          <a:ln cap="flat" cmpd="sng" w="12700">
            <a:solidFill>
              <a:srgbClr val="176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 txBox="1"/>
          <p:nvPr/>
        </p:nvSpPr>
        <p:spPr>
          <a:xfrm>
            <a:off x="8650224" y="5340096"/>
            <a:ext cx="630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CAUSE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473184" y="5330952"/>
            <a:ext cx="841248" cy="256032"/>
          </a:xfrm>
          <a:prstGeom prst="roundRect">
            <a:avLst>
              <a:gd fmla="val 50000" name="adj"/>
            </a:avLst>
          </a:prstGeom>
          <a:solidFill>
            <a:srgbClr val="1769E0"/>
          </a:solidFill>
          <a:ln cap="flat" cmpd="sng" w="12700">
            <a:solidFill>
              <a:srgbClr val="176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9546336" y="5340096"/>
            <a:ext cx="69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0442448" y="5330952"/>
            <a:ext cx="868680" cy="256032"/>
          </a:xfrm>
          <a:prstGeom prst="roundRect">
            <a:avLst>
              <a:gd fmla="val 50000" name="adj"/>
            </a:avLst>
          </a:prstGeom>
          <a:solidFill>
            <a:srgbClr val="36D6BD"/>
          </a:solidFill>
          <a:ln cap="flat" cmpd="sng" w="12700">
            <a:solidFill>
              <a:srgbClr val="36D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 txBox="1"/>
          <p:nvPr/>
        </p:nvSpPr>
        <p:spPr>
          <a:xfrm>
            <a:off x="10515600" y="5340096"/>
            <a:ext cx="7223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 txBox="1"/>
          <p:nvPr>
            <p:ph idx="4294967295" type="sldNum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D9E3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02920" y="31089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02 — WHO WINS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02920" y="658368"/>
            <a:ext cx="11018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lang="en-US" sz="2800">
                <a:solidFill>
                  <a:srgbClr val="0E1B2A"/>
                </a:solidFill>
              </a:rPr>
              <a:t>wo </a:t>
            </a:r>
            <a:r>
              <a:rPr b="1" i="0" lang="en-US" sz="280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personas. One shared source of operational truth.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873520" y="1737393"/>
            <a:ext cx="3154800" cy="4251900"/>
          </a:xfrm>
          <a:prstGeom prst="roundRect">
            <a:avLst>
              <a:gd fmla="val 4638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2102120" y="1984281"/>
            <a:ext cx="530400" cy="530400"/>
          </a:xfrm>
          <a:prstGeom prst="ellipse">
            <a:avLst/>
          </a:prstGeom>
          <a:solidFill>
            <a:srgbClr val="1769E0"/>
          </a:solidFill>
          <a:ln cap="flat" cmpd="sng" w="12700">
            <a:solidFill>
              <a:srgbClr val="176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 txBox="1"/>
          <p:nvPr/>
        </p:nvSpPr>
        <p:spPr>
          <a:xfrm>
            <a:off x="2102120" y="1993425"/>
            <a:ext cx="5304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2769632" y="1984281"/>
            <a:ext cx="196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TRANSPORT MANAGER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2102120" y="2624361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Run the day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2102120" y="3200432"/>
            <a:ext cx="2651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Needs fast answers: what changed, what is urgent, which vendor/route is driving it, and who to contact.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2102120" y="4754913"/>
            <a:ext cx="2651700" cy="0"/>
          </a:xfrm>
          <a:prstGeom prst="straightConnector1">
            <a:avLst/>
          </a:prstGeom>
          <a:noFill/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3"/>
          <p:cNvSpPr txBox="1"/>
          <p:nvPr/>
        </p:nvSpPr>
        <p:spPr>
          <a:xfrm>
            <a:off x="2102120" y="4974369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Their question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2102120" y="5239545"/>
            <a:ext cx="2606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What needs my attention now?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482902" y="1737393"/>
            <a:ext cx="3154800" cy="4251900"/>
          </a:xfrm>
          <a:prstGeom prst="roundRect">
            <a:avLst>
              <a:gd fmla="val 4638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711502" y="1984281"/>
            <a:ext cx="530400" cy="530400"/>
          </a:xfrm>
          <a:prstGeom prst="ellipse">
            <a:avLst/>
          </a:prstGeom>
          <a:solidFill>
            <a:srgbClr val="36D6BD"/>
          </a:solidFill>
          <a:ln cap="flat" cmpd="sng" w="12700">
            <a:solidFill>
              <a:srgbClr val="36D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6711502" y="1993425"/>
            <a:ext cx="5304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◈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7379014" y="1984281"/>
            <a:ext cx="196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D6B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6D6BD"/>
                </a:solidFill>
                <a:latin typeface="Arial"/>
                <a:ea typeface="Arial"/>
                <a:cs typeface="Arial"/>
                <a:sym typeface="Arial"/>
              </a:rPr>
              <a:t>FACILITIES HEAD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6711502" y="2624361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Run the business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6711502" y="3200432"/>
            <a:ext cx="2651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Needs a coherent cost + SLA + experience story without assembling weekly leadership packs by hand.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6711502" y="4754913"/>
            <a:ext cx="2651700" cy="0"/>
          </a:xfrm>
          <a:prstGeom prst="straightConnector1">
            <a:avLst/>
          </a:prstGeom>
          <a:noFill/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 txBox="1"/>
          <p:nvPr/>
        </p:nvSpPr>
        <p:spPr>
          <a:xfrm>
            <a:off x="6711502" y="4974369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Their question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6711502" y="5239545"/>
            <a:ext cx="2606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Where is value/risk moving?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>
            <p:ph idx="4294967295" type="sldNum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D9E3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/>
        </p:nvSpPr>
        <p:spPr>
          <a:xfrm>
            <a:off x="502920" y="31089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03 — EXPERIENCE DESIGN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502920" y="658368"/>
            <a:ext cx="11018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Replace the reporting loop with an action loop.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54864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43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9343A"/>
                </a:solidFill>
                <a:latin typeface="Arial"/>
                <a:ea typeface="Arial"/>
                <a:cs typeface="Arial"/>
                <a:sym typeface="Arial"/>
              </a:rPr>
              <a:t>TODAY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48640" y="2148840"/>
            <a:ext cx="1572768" cy="82296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 txBox="1"/>
          <p:nvPr/>
        </p:nvSpPr>
        <p:spPr>
          <a:xfrm>
            <a:off x="667512" y="226771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658368" y="248716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Open report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2167128" y="2359152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3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934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404872" y="2148840"/>
            <a:ext cx="1572768" cy="82296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 txBox="1"/>
          <p:nvPr/>
        </p:nvSpPr>
        <p:spPr>
          <a:xfrm>
            <a:off x="2523744" y="226771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2514600" y="248716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Find metric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4023360" y="2359152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3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934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261104" y="2148840"/>
            <a:ext cx="1572768" cy="82296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4379976" y="226771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4370832" y="248716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Export data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5879592" y="2359152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3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934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117336" y="2148840"/>
            <a:ext cx="1572768" cy="82296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6236208" y="226771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6227064" y="248716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Investigate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7735824" y="2359152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3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934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973568" y="2148840"/>
            <a:ext cx="1572768" cy="82296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092440" y="226771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8083296" y="248716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Call / email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9592056" y="2359152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3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934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829800" y="2148840"/>
            <a:ext cx="1572768" cy="82296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9948672" y="226771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9939528" y="248716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Wait + recheck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548640" y="35204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D6B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6D6BD"/>
                </a:solidFill>
                <a:latin typeface="Arial"/>
                <a:ea typeface="Arial"/>
                <a:cs typeface="Arial"/>
                <a:sym typeface="Arial"/>
              </a:rPr>
              <a:t>WITH MOVEINSYNC INTELLIGENCE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48640" y="3931920"/>
            <a:ext cx="1572768" cy="9144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667512" y="405993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658368" y="4297680"/>
            <a:ext cx="1353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Sense change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2167128" y="4206240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404872" y="3931920"/>
            <a:ext cx="1572768" cy="9144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2523744" y="405993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2514600" y="4297680"/>
            <a:ext cx="1353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Explain why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4023360" y="4206240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261104" y="3931920"/>
            <a:ext cx="1572768" cy="9144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4379976" y="405993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4370832" y="4297680"/>
            <a:ext cx="1353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Show impact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5879592" y="4206240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117336" y="3931920"/>
            <a:ext cx="1572768" cy="914400"/>
          </a:xfrm>
          <a:prstGeom prst="roundRect">
            <a:avLst>
              <a:gd fmla="val 16000" name="adj"/>
            </a:avLst>
          </a:prstGeom>
          <a:solidFill>
            <a:srgbClr val="E9F7F3"/>
          </a:solidFill>
          <a:ln cap="flat" cmpd="sng" w="12700">
            <a:solidFill>
              <a:srgbClr val="36D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6236208" y="405993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6227064" y="4297680"/>
            <a:ext cx="1353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Recommend action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7735824" y="4206240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7973568" y="3931920"/>
            <a:ext cx="1572768" cy="9144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8092440" y="405993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8083296" y="4297680"/>
            <a:ext cx="1353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Communicate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9592056" y="4206240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829800" y="3931920"/>
            <a:ext cx="1572768" cy="9144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9948672" y="405993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9939528" y="4297680"/>
            <a:ext cx="1353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Prove outcome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48640" y="5303520"/>
            <a:ext cx="11064240" cy="594360"/>
          </a:xfrm>
          <a:prstGeom prst="roundRect">
            <a:avLst>
              <a:gd fmla="val 24615" name="adj"/>
            </a:avLst>
          </a:prstGeom>
          <a:solidFill>
            <a:srgbClr val="0E1B2A"/>
          </a:solidFill>
          <a:ln cap="flat" cmpd="sng" w="12700">
            <a:solidFill>
              <a:srgbClr val="0E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777240" y="54681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D6B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6D6BD"/>
                </a:solidFill>
                <a:latin typeface="Arial"/>
                <a:ea typeface="Arial"/>
                <a:cs typeface="Arial"/>
                <a:sym typeface="Arial"/>
              </a:rPr>
              <a:t>Core product promise: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2212848" y="5431536"/>
            <a:ext cx="7955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 important signal ends in a clear decision, owner, or next step.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>
            <p:ph idx="4294967295" type="sldNum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D9E3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a2b8997a9_2_129"/>
          <p:cNvSpPr txBox="1"/>
          <p:nvPr/>
        </p:nvSpPr>
        <p:spPr>
          <a:xfrm>
            <a:off x="502920" y="310896"/>
            <a:ext cx="4114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900">
                <a:solidFill>
                  <a:srgbClr val="1769E0"/>
                </a:solidFill>
              </a:rPr>
              <a:t>4</a:t>
            </a:r>
            <a:r>
              <a:rPr b="1" i="0" lang="en-US" sz="9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b="1" lang="en-US" sz="900">
                <a:solidFill>
                  <a:srgbClr val="1769E0"/>
                </a:solidFill>
              </a:rPr>
              <a:t>AGENTS</a:t>
            </a:r>
            <a:endParaRPr b="1" sz="900">
              <a:solidFill>
                <a:srgbClr val="1769E0"/>
              </a:solidFill>
            </a:endParaRPr>
          </a:p>
        </p:txBody>
      </p:sp>
      <p:sp>
        <p:nvSpPr>
          <p:cNvPr id="150" name="Google Shape;150;g3fa2b8997a9_2_129"/>
          <p:cNvSpPr/>
          <p:nvPr/>
        </p:nvSpPr>
        <p:spPr>
          <a:xfrm>
            <a:off x="502920" y="1303043"/>
            <a:ext cx="3154800" cy="4251900"/>
          </a:xfrm>
          <a:prstGeom prst="roundRect">
            <a:avLst>
              <a:gd fmla="val 4638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a2b8997a9_2_129"/>
          <p:cNvSpPr/>
          <p:nvPr/>
        </p:nvSpPr>
        <p:spPr>
          <a:xfrm>
            <a:off x="731520" y="1549931"/>
            <a:ext cx="530400" cy="530400"/>
          </a:xfrm>
          <a:prstGeom prst="ellipse">
            <a:avLst/>
          </a:prstGeom>
          <a:solidFill>
            <a:srgbClr val="1769E0"/>
          </a:solidFill>
          <a:ln cap="flat" cmpd="sng" w="12700">
            <a:solidFill>
              <a:srgbClr val="176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a2b8997a9_2_129"/>
          <p:cNvSpPr txBox="1"/>
          <p:nvPr/>
        </p:nvSpPr>
        <p:spPr>
          <a:xfrm>
            <a:off x="731520" y="1559075"/>
            <a:ext cx="5304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fa2b8997a9_2_129"/>
          <p:cNvSpPr txBox="1"/>
          <p:nvPr/>
        </p:nvSpPr>
        <p:spPr>
          <a:xfrm>
            <a:off x="1399032" y="1549931"/>
            <a:ext cx="196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TRANSPORT MANAGER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a2b8997a9_2_129"/>
          <p:cNvSpPr txBox="1"/>
          <p:nvPr/>
        </p:nvSpPr>
        <p:spPr>
          <a:xfrm>
            <a:off x="731520" y="2190011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ct val="100000"/>
              <a:buFont typeface="Arial"/>
              <a:buNone/>
            </a:pPr>
            <a:r>
              <a:rPr b="1" lang="en-US" sz="2200">
                <a:solidFill>
                  <a:srgbClr val="0E1B2A"/>
                </a:solidFill>
              </a:rPr>
              <a:t>Delay Management Agent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fa2b8997a9_2_129"/>
          <p:cNvSpPr txBox="1"/>
          <p:nvPr/>
        </p:nvSpPr>
        <p:spPr>
          <a:xfrm>
            <a:off x="731520" y="2766082"/>
            <a:ext cx="2651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1738A"/>
                </a:solidFill>
              </a:rPr>
              <a:t>Transport Manager’s Daily headache of </a:t>
            </a:r>
            <a:r>
              <a:rPr lang="en-US" sz="1300">
                <a:solidFill>
                  <a:srgbClr val="61738A"/>
                </a:solidFill>
              </a:rPr>
              <a:t>calling</a:t>
            </a:r>
            <a:r>
              <a:rPr lang="en-US" sz="1300">
                <a:solidFill>
                  <a:srgbClr val="61738A"/>
                </a:solidFill>
              </a:rPr>
              <a:t> &amp; confirming on delays are sorted!</a:t>
            </a:r>
            <a:endParaRPr sz="1300">
              <a:solidFill>
                <a:srgbClr val="61738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61738A"/>
              </a:solidFill>
            </a:endParaRPr>
          </a:p>
        </p:txBody>
      </p:sp>
      <p:cxnSp>
        <p:nvCxnSpPr>
          <p:cNvPr id="156" name="Google Shape;156;g3fa2b8997a9_2_129"/>
          <p:cNvCxnSpPr/>
          <p:nvPr/>
        </p:nvCxnSpPr>
        <p:spPr>
          <a:xfrm>
            <a:off x="731520" y="4320563"/>
            <a:ext cx="2651700" cy="0"/>
          </a:xfrm>
          <a:prstGeom prst="straightConnector1">
            <a:avLst/>
          </a:prstGeom>
          <a:noFill/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g3fa2b8997a9_2_129"/>
          <p:cNvSpPr txBox="1"/>
          <p:nvPr/>
        </p:nvSpPr>
        <p:spPr>
          <a:xfrm>
            <a:off x="731520" y="4540019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Their question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fa2b8997a9_2_129"/>
          <p:cNvSpPr txBox="1"/>
          <p:nvPr/>
        </p:nvSpPr>
        <p:spPr>
          <a:xfrm>
            <a:off x="731520" y="4805195"/>
            <a:ext cx="2606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What needs my attention now?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fa2b8997a9_2_129"/>
          <p:cNvSpPr txBox="1"/>
          <p:nvPr>
            <p:ph idx="4294967295" type="sldNum"/>
          </p:nvPr>
        </p:nvSpPr>
        <p:spPr>
          <a:xfrm>
            <a:off x="11475720" y="658368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D9E3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3fa2b8997a9_2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125" y="1341450"/>
            <a:ext cx="8114801" cy="411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a2b8997a9_2_178"/>
          <p:cNvSpPr txBox="1"/>
          <p:nvPr/>
        </p:nvSpPr>
        <p:spPr>
          <a:xfrm>
            <a:off x="502920" y="310896"/>
            <a:ext cx="4114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900">
                <a:solidFill>
                  <a:srgbClr val="1769E0"/>
                </a:solidFill>
              </a:rPr>
              <a:t>4</a:t>
            </a:r>
            <a:r>
              <a:rPr b="1" i="0" lang="en-US" sz="9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b="1" lang="en-US" sz="900">
                <a:solidFill>
                  <a:srgbClr val="1769E0"/>
                </a:solidFill>
              </a:rPr>
              <a:t>AGENTS</a:t>
            </a:r>
            <a:endParaRPr b="1" sz="900">
              <a:solidFill>
                <a:srgbClr val="1769E0"/>
              </a:solidFill>
            </a:endParaRPr>
          </a:p>
        </p:txBody>
      </p:sp>
      <p:sp>
        <p:nvSpPr>
          <p:cNvPr id="167" name="Google Shape;167;g3fa2b8997a9_2_178"/>
          <p:cNvSpPr/>
          <p:nvPr/>
        </p:nvSpPr>
        <p:spPr>
          <a:xfrm>
            <a:off x="502920" y="1303043"/>
            <a:ext cx="3154800" cy="4251900"/>
          </a:xfrm>
          <a:prstGeom prst="roundRect">
            <a:avLst>
              <a:gd fmla="val 4638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fa2b8997a9_2_178"/>
          <p:cNvSpPr/>
          <p:nvPr/>
        </p:nvSpPr>
        <p:spPr>
          <a:xfrm>
            <a:off x="731520" y="1549931"/>
            <a:ext cx="530400" cy="530400"/>
          </a:xfrm>
          <a:prstGeom prst="ellipse">
            <a:avLst/>
          </a:prstGeom>
          <a:solidFill>
            <a:srgbClr val="1769E0"/>
          </a:solidFill>
          <a:ln cap="flat" cmpd="sng" w="12700">
            <a:solidFill>
              <a:srgbClr val="176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a2b8997a9_2_178"/>
          <p:cNvSpPr txBox="1"/>
          <p:nvPr/>
        </p:nvSpPr>
        <p:spPr>
          <a:xfrm>
            <a:off x="731520" y="1559075"/>
            <a:ext cx="5304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fa2b8997a9_2_178"/>
          <p:cNvSpPr txBox="1"/>
          <p:nvPr/>
        </p:nvSpPr>
        <p:spPr>
          <a:xfrm>
            <a:off x="1399032" y="1549931"/>
            <a:ext cx="196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TRANSPORT MANAGER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fa2b8997a9_2_178"/>
          <p:cNvSpPr txBox="1"/>
          <p:nvPr/>
        </p:nvSpPr>
        <p:spPr>
          <a:xfrm>
            <a:off x="731520" y="2190011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ct val="100000"/>
              <a:buFont typeface="Arial"/>
              <a:buNone/>
            </a:pPr>
            <a:r>
              <a:rPr b="1" lang="en-US" sz="2200">
                <a:solidFill>
                  <a:srgbClr val="0E1B2A"/>
                </a:solidFill>
              </a:rPr>
              <a:t>Shift Planning </a:t>
            </a:r>
            <a:r>
              <a:rPr b="1" lang="en-US" sz="2200">
                <a:solidFill>
                  <a:srgbClr val="0E1B2A"/>
                </a:solidFill>
              </a:rPr>
              <a:t>Agent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a2b8997a9_2_178"/>
          <p:cNvSpPr txBox="1"/>
          <p:nvPr/>
        </p:nvSpPr>
        <p:spPr>
          <a:xfrm>
            <a:off x="731520" y="2766082"/>
            <a:ext cx="2651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1738A"/>
                </a:solidFill>
              </a:rPr>
              <a:t>No Manual ShiftPlanning now, It’s al automated with everyday data.</a:t>
            </a:r>
            <a:endParaRPr sz="1300">
              <a:solidFill>
                <a:srgbClr val="61738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61738A"/>
              </a:solidFill>
            </a:endParaRPr>
          </a:p>
        </p:txBody>
      </p:sp>
      <p:cxnSp>
        <p:nvCxnSpPr>
          <p:cNvPr id="173" name="Google Shape;173;g3fa2b8997a9_2_178"/>
          <p:cNvCxnSpPr/>
          <p:nvPr/>
        </p:nvCxnSpPr>
        <p:spPr>
          <a:xfrm>
            <a:off x="731520" y="4320563"/>
            <a:ext cx="2651700" cy="0"/>
          </a:xfrm>
          <a:prstGeom prst="straightConnector1">
            <a:avLst/>
          </a:prstGeom>
          <a:noFill/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g3fa2b8997a9_2_178"/>
          <p:cNvSpPr txBox="1"/>
          <p:nvPr>
            <p:ph idx="4294967295" type="sldNum"/>
          </p:nvPr>
        </p:nvSpPr>
        <p:spPr>
          <a:xfrm>
            <a:off x="11475720" y="658368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D9E3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g3fa2b8997a9_2_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125" y="1211025"/>
            <a:ext cx="8170800" cy="414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a2b8997a9_2_154"/>
          <p:cNvSpPr txBox="1"/>
          <p:nvPr/>
        </p:nvSpPr>
        <p:spPr>
          <a:xfrm>
            <a:off x="502920" y="310896"/>
            <a:ext cx="4114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900">
                <a:solidFill>
                  <a:srgbClr val="1769E0"/>
                </a:solidFill>
              </a:rPr>
              <a:t>4</a:t>
            </a:r>
            <a:r>
              <a:rPr b="1" i="0" lang="en-US" sz="9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b="1" lang="en-US" sz="900">
                <a:solidFill>
                  <a:srgbClr val="1769E0"/>
                </a:solidFill>
              </a:rPr>
              <a:t>AGENTS</a:t>
            </a:r>
            <a:endParaRPr b="1" sz="900">
              <a:solidFill>
                <a:srgbClr val="1769E0"/>
              </a:solidFill>
            </a:endParaRPr>
          </a:p>
        </p:txBody>
      </p:sp>
      <p:sp>
        <p:nvSpPr>
          <p:cNvPr id="182" name="Google Shape;182;g3fa2b8997a9_2_154"/>
          <p:cNvSpPr/>
          <p:nvPr/>
        </p:nvSpPr>
        <p:spPr>
          <a:xfrm>
            <a:off x="667452" y="1303043"/>
            <a:ext cx="3154800" cy="4251900"/>
          </a:xfrm>
          <a:prstGeom prst="roundRect">
            <a:avLst>
              <a:gd fmla="val 4638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a2b8997a9_2_154"/>
          <p:cNvSpPr/>
          <p:nvPr/>
        </p:nvSpPr>
        <p:spPr>
          <a:xfrm>
            <a:off x="896052" y="1549931"/>
            <a:ext cx="530400" cy="530400"/>
          </a:xfrm>
          <a:prstGeom prst="ellipse">
            <a:avLst/>
          </a:prstGeom>
          <a:solidFill>
            <a:srgbClr val="36D6BD"/>
          </a:solidFill>
          <a:ln cap="flat" cmpd="sng" w="12700">
            <a:solidFill>
              <a:srgbClr val="36D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a2b8997a9_2_154"/>
          <p:cNvSpPr txBox="1"/>
          <p:nvPr/>
        </p:nvSpPr>
        <p:spPr>
          <a:xfrm>
            <a:off x="896052" y="1559075"/>
            <a:ext cx="5304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◈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fa2b8997a9_2_154"/>
          <p:cNvSpPr txBox="1"/>
          <p:nvPr/>
        </p:nvSpPr>
        <p:spPr>
          <a:xfrm>
            <a:off x="1563564" y="1549931"/>
            <a:ext cx="196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D6B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6D6BD"/>
                </a:solidFill>
                <a:latin typeface="Arial"/>
                <a:ea typeface="Arial"/>
                <a:cs typeface="Arial"/>
                <a:sym typeface="Arial"/>
              </a:rPr>
              <a:t>FACILITIES HEAD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fa2b8997a9_2_154"/>
          <p:cNvSpPr txBox="1"/>
          <p:nvPr/>
        </p:nvSpPr>
        <p:spPr>
          <a:xfrm>
            <a:off x="896052" y="2190011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E1B2A"/>
                </a:solidFill>
              </a:rPr>
              <a:t>Strategy Agent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fa2b8997a9_2_154"/>
          <p:cNvSpPr txBox="1"/>
          <p:nvPr/>
        </p:nvSpPr>
        <p:spPr>
          <a:xfrm>
            <a:off x="896052" y="2766082"/>
            <a:ext cx="2651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1738A"/>
                </a:solidFill>
              </a:rPr>
              <a:t>Facility Head is now sorted to make their strategy. Daily, Weekly &amp; Quarterly. </a:t>
            </a:r>
            <a:br>
              <a:rPr lang="en-US" sz="1300">
                <a:solidFill>
                  <a:srgbClr val="61738A"/>
                </a:solidFill>
              </a:rPr>
            </a:br>
            <a:br>
              <a:rPr lang="en-US" sz="1300">
                <a:solidFill>
                  <a:srgbClr val="61738A"/>
                </a:solidFill>
              </a:rPr>
            </a:br>
            <a:r>
              <a:rPr lang="en-US" sz="1300">
                <a:solidFill>
                  <a:srgbClr val="61738A"/>
                </a:solidFill>
              </a:rPr>
              <a:t>Save Big Money &amp; Serve </a:t>
            </a:r>
            <a:r>
              <a:rPr lang="en-US" sz="1300">
                <a:solidFill>
                  <a:srgbClr val="61738A"/>
                </a:solidFill>
              </a:rPr>
              <a:t>Bigger</a:t>
            </a:r>
            <a:r>
              <a:rPr lang="en-US" sz="1300">
                <a:solidFill>
                  <a:srgbClr val="61738A"/>
                </a:solidFill>
              </a:rPr>
              <a:t> Purpose.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g3fa2b8997a9_2_154"/>
          <p:cNvCxnSpPr/>
          <p:nvPr/>
        </p:nvCxnSpPr>
        <p:spPr>
          <a:xfrm>
            <a:off x="896052" y="4320563"/>
            <a:ext cx="2651700" cy="0"/>
          </a:xfrm>
          <a:prstGeom prst="straightConnector1">
            <a:avLst/>
          </a:prstGeom>
          <a:noFill/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g3fa2b8997a9_2_154"/>
          <p:cNvSpPr txBox="1"/>
          <p:nvPr/>
        </p:nvSpPr>
        <p:spPr>
          <a:xfrm>
            <a:off x="896052" y="4540019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Their quetion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fa2b8997a9_2_154"/>
          <p:cNvSpPr txBox="1"/>
          <p:nvPr>
            <p:ph idx="4294967295" type="sldNum"/>
          </p:nvPr>
        </p:nvSpPr>
        <p:spPr>
          <a:xfrm>
            <a:off x="11475720" y="658368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D9E3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g3fa2b8997a9_2_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1652" y="1337521"/>
            <a:ext cx="8064950" cy="4091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B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 txBox="1"/>
          <p:nvPr/>
        </p:nvSpPr>
        <p:spPr>
          <a:xfrm>
            <a:off x="566928" y="42062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D6B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6D6BD"/>
                </a:solidFill>
                <a:latin typeface="Arial"/>
                <a:ea typeface="Arial"/>
                <a:cs typeface="Arial"/>
                <a:sym typeface="Arial"/>
              </a:rPr>
              <a:t>11 — THE CLOSE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566928" y="868680"/>
            <a:ext cx="75895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Don’t build another dashboard.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the decision layer.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594360" y="2404872"/>
            <a:ext cx="7040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9E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9E6"/>
                </a:solidFill>
                <a:latin typeface="Arial"/>
                <a:ea typeface="Arial"/>
                <a:cs typeface="Arial"/>
                <a:sym typeface="Arial"/>
              </a:rPr>
              <a:t>MoveInSync Intelligence turns mobility data into prioritized action — for the person who needs to act, at the moment they need to act.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21792" y="3657600"/>
            <a:ext cx="3154680" cy="960120"/>
          </a:xfrm>
          <a:prstGeom prst="roundRect">
            <a:avLst>
              <a:gd fmla="val 15238" name="adj"/>
            </a:avLst>
          </a:prstGeom>
          <a:solidFill>
            <a:srgbClr val="16263A"/>
          </a:solidFill>
          <a:ln cap="flat" cmpd="sng" w="12700">
            <a:solidFill>
              <a:srgbClr val="365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804672" y="3822192"/>
            <a:ext cx="438912" cy="256032"/>
          </a:xfrm>
          <a:prstGeom prst="roundRect">
            <a:avLst>
              <a:gd fmla="val 50000" name="adj"/>
            </a:avLst>
          </a:prstGeom>
          <a:solidFill>
            <a:srgbClr val="36D6BD"/>
          </a:solidFill>
          <a:ln cap="flat" cmpd="sng" w="12700">
            <a:solidFill>
              <a:srgbClr val="36D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877824" y="383133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1399032" y="3803904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Business-first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804672" y="4114800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CADB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B6CADB"/>
                </a:solidFill>
                <a:latin typeface="Arial"/>
                <a:ea typeface="Arial"/>
                <a:cs typeface="Arial"/>
                <a:sym typeface="Arial"/>
              </a:rPr>
              <a:t>Connects metrics to SLA, impact, and commercial consequence.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977640" y="3657600"/>
            <a:ext cx="3154680" cy="960120"/>
          </a:xfrm>
          <a:prstGeom prst="roundRect">
            <a:avLst>
              <a:gd fmla="val 15238" name="adj"/>
            </a:avLst>
          </a:prstGeom>
          <a:solidFill>
            <a:srgbClr val="16263A"/>
          </a:solidFill>
          <a:ln cap="flat" cmpd="sng" w="12700">
            <a:solidFill>
              <a:srgbClr val="365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4160520" y="3822192"/>
            <a:ext cx="438912" cy="256032"/>
          </a:xfrm>
          <a:prstGeom prst="roundRect">
            <a:avLst>
              <a:gd fmla="val 50000" name="adj"/>
            </a:avLst>
          </a:prstGeom>
          <a:solidFill>
            <a:srgbClr val="36D6BD"/>
          </a:solidFill>
          <a:ln cap="flat" cmpd="sng" w="12700">
            <a:solidFill>
              <a:srgbClr val="36D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4233672" y="383133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4754880" y="3803904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Persona-aware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4160520" y="4114800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CADB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B6CADB"/>
                </a:solidFill>
                <a:latin typeface="Arial"/>
                <a:ea typeface="Arial"/>
                <a:cs typeface="Arial"/>
                <a:sym typeface="Arial"/>
              </a:rPr>
              <a:t>One event becomes the right decision for each stakeholder.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621792" y="4892040"/>
            <a:ext cx="3154680" cy="960120"/>
          </a:xfrm>
          <a:prstGeom prst="roundRect">
            <a:avLst>
              <a:gd fmla="val 15238" name="adj"/>
            </a:avLst>
          </a:prstGeom>
          <a:solidFill>
            <a:srgbClr val="16263A"/>
          </a:solidFill>
          <a:ln cap="flat" cmpd="sng" w="12700">
            <a:solidFill>
              <a:srgbClr val="365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804672" y="5056632"/>
            <a:ext cx="438912" cy="256032"/>
          </a:xfrm>
          <a:prstGeom prst="roundRect">
            <a:avLst>
              <a:gd fmla="val 50000" name="adj"/>
            </a:avLst>
          </a:prstGeom>
          <a:solidFill>
            <a:srgbClr val="36D6BD"/>
          </a:solidFill>
          <a:ln cap="flat" cmpd="sng" w="12700">
            <a:solidFill>
              <a:srgbClr val="36D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877824" y="506577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1399032" y="5038344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Action-oriented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804672" y="5349240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CADB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B6CADB"/>
                </a:solidFill>
                <a:latin typeface="Arial"/>
                <a:ea typeface="Arial"/>
                <a:cs typeface="Arial"/>
                <a:sym typeface="Arial"/>
              </a:rPr>
              <a:t>Every priority ends with a recommended owner / next move.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3977640" y="4892040"/>
            <a:ext cx="3154680" cy="960120"/>
          </a:xfrm>
          <a:prstGeom prst="roundRect">
            <a:avLst>
              <a:gd fmla="val 15238" name="adj"/>
            </a:avLst>
          </a:prstGeom>
          <a:solidFill>
            <a:srgbClr val="16263A"/>
          </a:solidFill>
          <a:ln cap="flat" cmpd="sng" w="12700">
            <a:solidFill>
              <a:srgbClr val="365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4160520" y="5056632"/>
            <a:ext cx="438912" cy="256032"/>
          </a:xfrm>
          <a:prstGeom prst="roundRect">
            <a:avLst>
              <a:gd fmla="val 50000" name="adj"/>
            </a:avLst>
          </a:prstGeom>
          <a:solidFill>
            <a:srgbClr val="36D6BD"/>
          </a:solidFill>
          <a:ln cap="flat" cmpd="sng" w="12700">
            <a:solidFill>
              <a:srgbClr val="36D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 txBox="1"/>
          <p:nvPr/>
        </p:nvSpPr>
        <p:spPr>
          <a:xfrm>
            <a:off x="4233672" y="506577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4754880" y="5038344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Closed-loop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4160520" y="5349240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CADB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B6CADB"/>
                </a:solidFill>
                <a:latin typeface="Arial"/>
                <a:ea typeface="Arial"/>
                <a:cs typeface="Arial"/>
                <a:sym typeface="Arial"/>
              </a:rPr>
              <a:t>Measures whether the intervention actually improved outcomes.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7543800" y="3337560"/>
            <a:ext cx="3977640" cy="265176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 txBox="1"/>
          <p:nvPr/>
        </p:nvSpPr>
        <p:spPr>
          <a:xfrm>
            <a:off x="7955280" y="365760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SENSE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>
            <a:off x="8933688" y="365760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9281160" y="3657600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C4CE6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7955280" y="4315968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D6B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6D6BD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8650224" y="4315968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738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1738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9015984" y="43159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56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6A568"/>
                </a:solidFill>
                <a:latin typeface="Arial"/>
                <a:ea typeface="Arial"/>
                <a:cs typeface="Arial"/>
                <a:sym typeface="Arial"/>
              </a:rPr>
              <a:t>PROVE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7955280" y="482803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From operational data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to measurable outcomes.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7955280" y="5623560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9E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769E0"/>
                </a:solidFill>
                <a:latin typeface="Arial"/>
                <a:ea typeface="Arial"/>
                <a:cs typeface="Arial"/>
                <a:sym typeface="Arial"/>
              </a:rPr>
              <a:t>MOVEINSYNC INTELLIGENCE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603504" y="614476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4D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FC4D6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2"/>
          <p:cNvSpPr txBox="1"/>
          <p:nvPr>
            <p:ph idx="4294967295" type="sldNum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D9E3E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D9E3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fa2b8997a9_2_81"/>
          <p:cNvPicPr preferRelativeResize="0"/>
          <p:nvPr/>
        </p:nvPicPr>
        <p:blipFill rotWithShape="1">
          <a:blip r:embed="rId3">
            <a:alphaModFix/>
          </a:blip>
          <a:srcRect b="0" l="3279" r="0" t="3063"/>
          <a:stretch/>
        </p:blipFill>
        <p:spPr>
          <a:xfrm>
            <a:off x="1223063" y="0"/>
            <a:ext cx="9745874" cy="635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2026-09-05T04:37:48Z</dcterms:created>
  <dc:creator>OpenAI</dc:creator>
</cp:coreProperties>
</file>