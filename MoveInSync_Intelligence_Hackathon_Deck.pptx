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6565392"/>
            <a:ext cx="12191695" cy="292608"/>
          </a:xfrm>
          <a:prstGeom prst="rect">
            <a:avLst/>
          </a:prstGeom>
          <a:solidFill>
            <a:srgbClr val="0E1B2A"/>
          </a:solidFill>
          <a:ln w="12700">
            <a:solidFill>
              <a:srgbClr val="0E1B2A"/>
            </a:solidFill>
            <a:prstDash val="solid"/>
          </a:ln>
        </p:spPr>
      </p:sp>
      <p:sp>
        <p:nvSpPr>
          <p:cNvPr id="3" name="Text 1"/>
          <p:cNvSpPr/>
          <p:nvPr/>
        </p:nvSpPr>
        <p:spPr>
          <a:xfrm>
            <a:off x="411480" y="6611112"/>
            <a:ext cx="5120640" cy="109728"/>
          </a:xfrm>
          <a:prstGeom prst="rect">
            <a:avLst/>
          </a:prstGeom>
          <a:noFill/>
          <a:ln/>
        </p:spPr>
        <p:txBody>
          <a:bodyPr wrap="square" lIns="0" tIns="0" rIns="0" bIns="0" rtlCol="0" anchor="ctr"/>
          <a:lstStyle/>
          <a:p>
            <a:pPr indent="0" marL="0">
              <a:buNone/>
            </a:pPr>
            <a:r>
              <a:rPr lang="en-US" sz="800" dirty="0">
                <a:solidFill>
                  <a:srgbClr val="D9E3EF"/>
                </a:solidFill>
                <a:latin typeface="Aptos" pitchFamily="34" charset="0"/>
                <a:ea typeface="Aptos" pitchFamily="34" charset="-122"/>
                <a:cs typeface="Aptos" pitchFamily="34" charset="-120"/>
              </a:rPr>
              <a:t>MoveInSync Intelligence  •  Signal Desk build</a:t>
            </a:r>
            <a:endParaRPr lang="en-US" sz="8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A"/>
        </a:solidFill>
      </p:bgPr>
    </p:bg>
    <p:spTree>
      <p:nvGrpSpPr>
        <p:cNvPr id="1" name=""/>
        <p:cNvGrpSpPr/>
        <p:nvPr/>
      </p:nvGrpSpPr>
      <p:grpSpPr>
        <a:xfrm>
          <a:off x="0" y="0"/>
          <a:ext cx="0" cy="0"/>
          <a:chOff x="0" y="0"/>
          <a:chExt cx="0" cy="0"/>
        </a:xfrm>
      </p:grpSpPr>
      <p:sp>
        <p:nvSpPr>
          <p:cNvPr id="2" name="Shape 0"/>
          <p:cNvSpPr/>
          <p:nvPr/>
        </p:nvSpPr>
        <p:spPr>
          <a:xfrm>
            <a:off x="0" y="0"/>
            <a:ext cx="12191695" cy="6565392"/>
          </a:xfrm>
          <a:prstGeom prst="rect">
            <a:avLst/>
          </a:prstGeom>
          <a:solidFill>
            <a:srgbClr val="0E1B2A"/>
          </a:solidFill>
          <a:ln w="12700">
            <a:solidFill>
              <a:srgbClr val="0E1B2A"/>
            </a:solidFill>
            <a:prstDash val="solid"/>
          </a:ln>
        </p:spPr>
      </p:sp>
      <p:sp>
        <p:nvSpPr>
          <p:cNvPr id="3" name="Shape 1"/>
          <p:cNvSpPr/>
          <p:nvPr/>
        </p:nvSpPr>
        <p:spPr>
          <a:xfrm>
            <a:off x="7543800" y="-731520"/>
            <a:ext cx="5669280" cy="5669280"/>
          </a:xfrm>
          <a:prstGeom prst="arc">
            <a:avLst/>
          </a:prstGeom>
          <a:solidFill>
            <a:srgbClr val="0E1B2A"/>
          </a:solidFill>
          <a:ln w="25400">
            <a:solidFill>
              <a:srgbClr val="21405D">
                <a:alpha val="75000"/>
              </a:srgbClr>
            </a:solidFill>
            <a:prstDash val="solid"/>
          </a:ln>
        </p:spPr>
      </p:sp>
      <p:sp>
        <p:nvSpPr>
          <p:cNvPr id="4" name="Shape 2"/>
          <p:cNvSpPr/>
          <p:nvPr/>
        </p:nvSpPr>
        <p:spPr>
          <a:xfrm>
            <a:off x="8229600" y="137160"/>
            <a:ext cx="4389120" cy="4389120"/>
          </a:xfrm>
          <a:prstGeom prst="arc">
            <a:avLst/>
          </a:prstGeom>
          <a:solidFill>
            <a:srgbClr val="0E1B2A"/>
          </a:solidFill>
          <a:ln w="25400">
            <a:solidFill>
              <a:srgbClr val="2A5B77">
                <a:alpha val="70000"/>
              </a:srgbClr>
            </a:solidFill>
            <a:prstDash val="solid"/>
          </a:ln>
        </p:spPr>
      </p:sp>
      <p:pic>
        <p:nvPicPr>
          <p:cNvPr id="5" name="Image 0" descr="/mnt/data/wide_desktop_ui_screenshot_of_a_modern_saas_dashbo.png">    </p:cNvPr>
          <p:cNvPicPr>
            <a:picLocks noChangeAspect="1"/>
          </p:cNvPicPr>
          <p:nvPr/>
        </p:nvPicPr>
        <p:blipFill>
          <a:blip r:embed="rId1"/>
          <a:srcRect l="15686" r="15686" t="0" b="0"/>
          <a:stretch/>
        </p:blipFill>
        <p:spPr>
          <a:xfrm>
            <a:off x="6720840" y="749808"/>
            <a:ext cx="4800600" cy="4663440"/>
          </a:xfrm>
          <a:prstGeom prst="rect">
            <a:avLst/>
          </a:prstGeom>
        </p:spPr>
      </p:pic>
      <p:sp>
        <p:nvSpPr>
          <p:cNvPr id="6" name="Shape 3"/>
          <p:cNvSpPr/>
          <p:nvPr/>
        </p:nvSpPr>
        <p:spPr>
          <a:xfrm>
            <a:off x="6720840" y="749808"/>
            <a:ext cx="4800600" cy="4663440"/>
          </a:xfrm>
          <a:prstGeom prst="rect">
            <a:avLst/>
          </a:prstGeom>
          <a:solidFill>
            <a:srgbClr val="0E1B2A">
              <a:alpha val="38000"/>
            </a:srgbClr>
          </a:solidFill>
          <a:ln w="12700">
            <a:solidFill>
              <a:srgbClr val="0E1B2A">
                <a:alpha val="0"/>
              </a:srgbClr>
            </a:solidFill>
            <a:prstDash val="solid"/>
          </a:ln>
        </p:spPr>
      </p:sp>
      <p:sp>
        <p:nvSpPr>
          <p:cNvPr id="7" name="Shape 4"/>
          <p:cNvSpPr/>
          <p:nvPr/>
        </p:nvSpPr>
        <p:spPr>
          <a:xfrm>
            <a:off x="566928" y="685800"/>
            <a:ext cx="2834640" cy="256032"/>
          </a:xfrm>
          <a:prstGeom prst="roundRect">
            <a:avLst>
              <a:gd name="adj" fmla="val 50000"/>
            </a:avLst>
          </a:prstGeom>
          <a:solidFill>
            <a:srgbClr val="36D6BD"/>
          </a:solidFill>
          <a:ln w="12700">
            <a:solidFill>
              <a:srgbClr val="36D6BD"/>
            </a:solidFill>
            <a:prstDash val="solid"/>
          </a:ln>
        </p:spPr>
      </p:sp>
      <p:sp>
        <p:nvSpPr>
          <p:cNvPr id="8" name="Text 5"/>
          <p:cNvSpPr txBox="1"/>
          <p:nvPr/>
        </p:nvSpPr>
        <p:spPr>
          <a:xfrm>
            <a:off x="640080" y="694944"/>
            <a:ext cx="2688336" cy="219456"/>
          </a:xfrm>
          <a:prstGeom prst="rect">
            <a:avLst/>
          </a:prstGeom>
          <a:noFill/>
          <a:ln/>
        </p:spPr>
        <p:txBody>
          <a:bodyPr wrap="square" lIns="0" tIns="0" rIns="0" bIns="0" rtlCol="0" anchor="ctr">
            <a:normAutofit/>
          </a:bodyPr>
          <a:lstStyle/>
          <a:p>
            <a:pPr algn="ctr" indent="0" marL="0">
              <a:buNone/>
            </a:pPr>
            <a:r>
              <a:rPr lang="en-US" sz="1000" b="1" dirty="0">
                <a:solidFill>
                  <a:srgbClr val="0E1B2A"/>
                </a:solidFill>
                <a:latin typeface="Aptos" pitchFamily="34" charset="0"/>
                <a:ea typeface="Aptos" pitchFamily="34" charset="-122"/>
                <a:cs typeface="Aptos" pitchFamily="34" charset="-120"/>
              </a:rPr>
              <a:t>AGENTIC AI • ENTERPRISE MOBILITY</a:t>
            </a:r>
            <a:endParaRPr lang="en-US" sz="1000" dirty="0"/>
          </a:p>
        </p:txBody>
      </p:sp>
      <p:sp>
        <p:nvSpPr>
          <p:cNvPr id="9" name="Text 6"/>
          <p:cNvSpPr txBox="1"/>
          <p:nvPr/>
        </p:nvSpPr>
        <p:spPr>
          <a:xfrm>
            <a:off x="566928" y="1335024"/>
            <a:ext cx="5669280" cy="1325880"/>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Aptos" pitchFamily="34" charset="0"/>
                <a:ea typeface="Aptos" pitchFamily="34" charset="-122"/>
                <a:cs typeface="Aptos" pitchFamily="34" charset="-120"/>
              </a:rPr>
              <a:t>MoveInSync</a:t>
            </a:r>
            <a:endParaRPr lang="en-US" sz="3100" dirty="0"/>
          </a:p>
          <a:p>
            <a:pPr algn="l" indent="0" marL="0">
              <a:buNone/>
            </a:pPr>
            <a:r>
              <a:rPr lang="en-US" sz="3100" b="1" dirty="0">
                <a:solidFill>
                  <a:srgbClr val="FFFFFF"/>
                </a:solidFill>
                <a:latin typeface="Aptos" pitchFamily="34" charset="0"/>
                <a:ea typeface="Aptos" pitchFamily="34" charset="-122"/>
                <a:cs typeface="Aptos" pitchFamily="34" charset="-120"/>
              </a:rPr>
              <a:t>Intelligence</a:t>
            </a:r>
            <a:endParaRPr lang="en-US" sz="3100" dirty="0"/>
          </a:p>
        </p:txBody>
      </p:sp>
      <p:sp>
        <p:nvSpPr>
          <p:cNvPr id="10" name="Text 7"/>
          <p:cNvSpPr txBox="1"/>
          <p:nvPr/>
        </p:nvSpPr>
        <p:spPr>
          <a:xfrm>
            <a:off x="585216" y="2834640"/>
            <a:ext cx="5029200" cy="822960"/>
          </a:xfrm>
          <a:prstGeom prst="rect">
            <a:avLst/>
          </a:prstGeom>
          <a:noFill/>
          <a:ln/>
        </p:spPr>
        <p:txBody>
          <a:bodyPr wrap="square" lIns="0" tIns="0" rIns="0" bIns="0" rtlCol="0" anchor="t">
            <a:normAutofit/>
          </a:bodyPr>
          <a:lstStyle/>
          <a:p>
            <a:pPr algn="l" indent="0" marL="0">
              <a:buNone/>
            </a:pPr>
            <a:r>
              <a:rPr lang="en-US" sz="2200" b="1" dirty="0">
                <a:solidFill>
                  <a:srgbClr val="DCE8F3"/>
                </a:solidFill>
                <a:latin typeface="Aptos" pitchFamily="34" charset="0"/>
                <a:ea typeface="Aptos" pitchFamily="34" charset="-122"/>
                <a:cs typeface="Aptos" pitchFamily="34" charset="-120"/>
              </a:rPr>
              <a:t>From “what happened?” to</a:t>
            </a:r>
            <a:endParaRPr lang="en-US" sz="2200" dirty="0"/>
          </a:p>
          <a:p>
            <a:pPr algn="l" indent="0" marL="0">
              <a:buNone/>
            </a:pPr>
            <a:r>
              <a:rPr lang="en-US" sz="2200" b="1" dirty="0">
                <a:solidFill>
                  <a:srgbClr val="DCE8F3"/>
                </a:solidFill>
                <a:latin typeface="Aptos" pitchFamily="34" charset="0"/>
                <a:ea typeface="Aptos" pitchFamily="34" charset="-122"/>
                <a:cs typeface="Aptos" pitchFamily="34" charset="-120"/>
              </a:rPr>
              <a:t>“what should I do next?”</a:t>
            </a:r>
            <a:endParaRPr lang="en-US" sz="2200" dirty="0"/>
          </a:p>
        </p:txBody>
      </p:sp>
      <p:sp>
        <p:nvSpPr>
          <p:cNvPr id="11" name="Text 8"/>
          <p:cNvSpPr txBox="1"/>
          <p:nvPr/>
        </p:nvSpPr>
        <p:spPr>
          <a:xfrm>
            <a:off x="585216" y="3977640"/>
            <a:ext cx="5257800" cy="914400"/>
          </a:xfrm>
          <a:prstGeom prst="rect">
            <a:avLst/>
          </a:prstGeom>
          <a:noFill/>
          <a:ln/>
        </p:spPr>
        <p:txBody>
          <a:bodyPr wrap="square" lIns="0" tIns="0" rIns="0" bIns="0" rtlCol="0" anchor="t">
            <a:normAutofit/>
          </a:bodyPr>
          <a:lstStyle/>
          <a:p>
            <a:pPr algn="l" indent="0" marL="0">
              <a:buNone/>
            </a:pPr>
            <a:r>
              <a:rPr lang="en-US" sz="1400" dirty="0">
                <a:solidFill>
                  <a:srgbClr val="AFC2D8"/>
                </a:solidFill>
                <a:latin typeface="Aptos" pitchFamily="34" charset="0"/>
                <a:ea typeface="Aptos" pitchFamily="34" charset="-122"/>
                <a:cs typeface="Aptos" pitchFamily="34" charset="-120"/>
              </a:rPr>
              <a:t>Signal Desk — a working agent on the provided dataset. It sweeps on a clock tick, ranks what changed against trend and peers, and sends the brief with the SQL attached.</a:t>
            </a:r>
            <a:endParaRPr lang="en-US" sz="1400" dirty="0"/>
          </a:p>
        </p:txBody>
      </p:sp>
      <p:sp>
        <p:nvSpPr>
          <p:cNvPr id="12" name="Text 9"/>
          <p:cNvSpPr txBox="1"/>
          <p:nvPr/>
        </p:nvSpPr>
        <p:spPr>
          <a:xfrm>
            <a:off x="585216" y="5961888"/>
            <a:ext cx="3840480" cy="274320"/>
          </a:xfrm>
          <a:prstGeom prst="rect">
            <a:avLst/>
          </a:prstGeom>
          <a:noFill/>
          <a:ln/>
        </p:spPr>
        <p:txBody>
          <a:bodyPr wrap="square" lIns="0" tIns="0" rIns="0" bIns="0" rtlCol="0" anchor="ctr">
            <a:normAutofit/>
          </a:bodyPr>
          <a:lstStyle/>
          <a:p>
            <a:pPr algn="l" indent="0" marL="0">
              <a:buNone/>
            </a:pPr>
            <a:r>
              <a:rPr lang="en-US" sz="1000" dirty="0">
                <a:solidFill>
                  <a:srgbClr val="8FA6BD"/>
                </a:solidFill>
                <a:latin typeface="Aptos" pitchFamily="34" charset="0"/>
                <a:ea typeface="Aptos" pitchFamily="34" charset="-122"/>
                <a:cs typeface="Aptos" pitchFamily="34" charset="-120"/>
              </a:rPr>
              <a:t>Hackathon build  |  5 September 2026  |  12 slides</a:t>
            </a:r>
            <a:endParaRPr lang="en-US" sz="1000" dirty="0"/>
          </a:p>
        </p:txBody>
      </p:sp>
      <p:sp>
        <p:nvSpPr>
          <p:cNvPr id="13" name="Text 10"/>
          <p:cNvSpPr txBox="1"/>
          <p:nvPr/>
        </p:nvSpPr>
        <p:spPr>
          <a:xfrm>
            <a:off x="9308592" y="5989320"/>
            <a:ext cx="2103120" cy="237744"/>
          </a:xfrm>
          <a:prstGeom prst="rect">
            <a:avLst/>
          </a:prstGeom>
          <a:noFill/>
          <a:ln/>
        </p:spPr>
        <p:txBody>
          <a:bodyPr wrap="square" lIns="0" tIns="0" rIns="0" bIns="0" rtlCol="0" anchor="ctr">
            <a:normAutofit/>
          </a:bodyPr>
          <a:lstStyle/>
          <a:p>
            <a:pPr algn="r" indent="0" marL="0">
              <a:buNone/>
            </a:pPr>
            <a:r>
              <a:rPr lang="en-US" sz="1100" b="1" spc="200" kern="0" dirty="0">
                <a:solidFill>
                  <a:srgbClr val="36D6BD"/>
                </a:solidFill>
                <a:latin typeface="Aptos" pitchFamily="34" charset="0"/>
                <a:ea typeface="Aptos" pitchFamily="34" charset="-122"/>
                <a:cs typeface="Aptos" pitchFamily="34" charset="-120"/>
              </a:rPr>
              <a:t>MOVEINSYNC</a:t>
            </a:r>
            <a:endParaRPr lang="en-US" sz="11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01 — THE PROBLEM</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Mobility teams have data everywhere — but decisions nowhere.</a:t>
            </a:r>
            <a:endParaRPr lang="en-US" sz="2800" dirty="0"/>
          </a:p>
        </p:txBody>
      </p:sp>
      <p:sp>
        <p:nvSpPr>
          <p:cNvPr id="4" name="Text 2"/>
          <p:cNvSpPr txBox="1"/>
          <p:nvPr/>
        </p:nvSpPr>
        <p:spPr>
          <a:xfrm>
            <a:off x="502920" y="1225296"/>
            <a:ext cx="10789920" cy="411480"/>
          </a:xfrm>
          <a:prstGeom prst="rect">
            <a:avLst/>
          </a:prstGeom>
          <a:noFill/>
          <a:ln/>
        </p:spPr>
        <p:txBody>
          <a:bodyPr wrap="square" lIns="0" tIns="0" rIns="0" bIns="0" rtlCol="0" anchor="ctr">
            <a:normAutofit/>
          </a:bodyPr>
          <a:lstStyle/>
          <a:p>
            <a:pPr algn="l" indent="0" marL="0">
              <a:buNone/>
            </a:pPr>
            <a:r>
              <a:rPr lang="en-US" sz="1400" dirty="0">
                <a:solidFill>
                  <a:srgbClr val="61738A"/>
                </a:solidFill>
                <a:latin typeface="Aptos" pitchFamily="34" charset="0"/>
                <a:ea typeface="Aptos" pitchFamily="34" charset="-122"/>
                <a:cs typeface="Aptos" pitchFamily="34" charset="-120"/>
              </a:rPr>
              <a:t>The signal is rich. The insight is missing. The action is manual.</a:t>
            </a:r>
            <a:endParaRPr lang="en-US" sz="1400" dirty="0"/>
          </a:p>
        </p:txBody>
      </p:sp>
      <p:sp>
        <p:nvSpPr>
          <p:cNvPr id="5" name="Shape 3"/>
          <p:cNvSpPr/>
          <p:nvPr/>
        </p:nvSpPr>
        <p:spPr>
          <a:xfrm>
            <a:off x="502920" y="1783080"/>
            <a:ext cx="6400800" cy="4251960"/>
          </a:xfrm>
          <a:prstGeom prst="roundRect">
            <a:avLst>
              <a:gd name="adj" fmla="val 3441"/>
            </a:avLst>
          </a:prstGeom>
          <a:solidFill>
            <a:srgbClr val="FFFFFF"/>
          </a:solidFill>
          <a:ln w="12700">
            <a:solidFill>
              <a:srgbClr val="D9E2EC"/>
            </a:solidFill>
            <a:prstDash val="solid"/>
          </a:ln>
        </p:spPr>
      </p:sp>
      <p:sp>
        <p:nvSpPr>
          <p:cNvPr id="6" name="Text 4"/>
          <p:cNvSpPr txBox="1"/>
          <p:nvPr/>
        </p:nvSpPr>
        <p:spPr>
          <a:xfrm>
            <a:off x="777240" y="2011680"/>
            <a:ext cx="914400" cy="228600"/>
          </a:xfrm>
          <a:prstGeom prst="rect">
            <a:avLst/>
          </a:prstGeom>
          <a:noFill/>
          <a:ln/>
        </p:spPr>
        <p:txBody>
          <a:bodyPr wrap="square" lIns="0" tIns="0" rIns="0" bIns="0" rtlCol="0" anchor="ctr">
            <a:normAutofit/>
          </a:bodyPr>
          <a:lstStyle/>
          <a:p>
            <a:pPr algn="l" indent="0" marL="0">
              <a:buNone/>
            </a:pPr>
            <a:r>
              <a:rPr lang="en-US" sz="900" b="1" spc="120" kern="0" dirty="0">
                <a:solidFill>
                  <a:srgbClr val="D9343A"/>
                </a:solidFill>
                <a:latin typeface="Aptos" pitchFamily="34" charset="0"/>
                <a:ea typeface="Aptos" pitchFamily="34" charset="-122"/>
                <a:cs typeface="Aptos" pitchFamily="34" charset="-120"/>
              </a:rPr>
              <a:t>TODAY</a:t>
            </a:r>
            <a:endParaRPr lang="en-US" sz="900" dirty="0"/>
          </a:p>
        </p:txBody>
      </p:sp>
      <p:sp>
        <p:nvSpPr>
          <p:cNvPr id="7" name="Text 5"/>
          <p:cNvSpPr txBox="1"/>
          <p:nvPr/>
        </p:nvSpPr>
        <p:spPr>
          <a:xfrm>
            <a:off x="777240" y="2331720"/>
            <a:ext cx="5303520" cy="384048"/>
          </a:xfrm>
          <a:prstGeom prst="rect">
            <a:avLst/>
          </a:prstGeom>
          <a:noFill/>
          <a:ln/>
        </p:spPr>
        <p:txBody>
          <a:bodyPr wrap="square" lIns="0" tIns="0" rIns="0" bIns="0" rtlCol="0" anchor="ctr">
            <a:normAutofit/>
          </a:bodyPr>
          <a:lstStyle/>
          <a:p>
            <a:pPr algn="l" indent="0" marL="0">
              <a:buNone/>
            </a:pPr>
            <a:r>
              <a:rPr lang="en-US" sz="2300" b="1" dirty="0">
                <a:solidFill>
                  <a:srgbClr val="0E1B2A"/>
                </a:solidFill>
                <a:latin typeface="Aptos" pitchFamily="34" charset="0"/>
                <a:ea typeface="Aptos" pitchFamily="34" charset="-122"/>
                <a:cs typeface="Aptos" pitchFamily="34" charset="-120"/>
              </a:rPr>
              <a:t>A metric arrives without context.</a:t>
            </a:r>
            <a:endParaRPr lang="en-US" sz="2300" dirty="0"/>
          </a:p>
        </p:txBody>
      </p:sp>
      <p:sp>
        <p:nvSpPr>
          <p:cNvPr id="8" name="Text 6"/>
          <p:cNvSpPr txBox="1"/>
          <p:nvPr/>
        </p:nvSpPr>
        <p:spPr>
          <a:xfrm>
            <a:off x="777240" y="2907792"/>
            <a:ext cx="5394960" cy="2148840"/>
          </a:xfrm>
          <a:prstGeom prst="rect">
            <a:avLst/>
          </a:prstGeom>
          <a:noFill/>
          <a:ln/>
        </p:spPr>
        <p:txBody>
          <a:bodyPr wrap="square" lIns="0" tIns="0" rIns="0" bIns="0" rtlCol="0" anchor="t">
            <a:normAutofit/>
          </a:bodyPr>
          <a:lstStyle/>
          <a:p>
            <a:pPr algn="l" indent="0" marL="0">
              <a:buNone/>
            </a:pPr>
            <a:r>
              <a:rPr lang="en-US" sz="1400" dirty="0">
                <a:solidFill>
                  <a:srgbClr val="61738A"/>
                </a:solidFill>
                <a:latin typeface="Aptos" pitchFamily="34" charset="0"/>
                <a:ea typeface="Aptos" pitchFamily="34" charset="-122"/>
                <a:cs typeface="Aptos" pitchFamily="34" charset="-120"/>
              </a:rPr>
              <a:t>“OTA is 78%.”</a:t>
            </a:r>
            <a:endParaRPr lang="en-US" sz="1400" dirty="0"/>
          </a:p>
          <a:p>
            <a:pPr algn="l" indent="0" marL="0">
              <a:buNone/>
            </a:pPr>
            <a:endParaRPr lang="en-US" sz="1400" dirty="0"/>
          </a:p>
          <a:p>
            <a:pPr algn="l" indent="0" marL="0">
              <a:buNone/>
            </a:pPr>
            <a:r>
              <a:rPr lang="en-US" sz="1400" dirty="0">
                <a:solidFill>
                  <a:srgbClr val="61738A"/>
                </a:solidFill>
                <a:latin typeface="Aptos" pitchFamily="34" charset="0"/>
                <a:ea typeface="Aptos" pitchFamily="34" charset="-122"/>
                <a:cs typeface="Aptos" pitchFamily="34" charset="-120"/>
              </a:rPr>
              <a:t>The manager still has to answer:</a:t>
            </a:r>
            <a:endParaRPr lang="en-US" sz="1400" dirty="0"/>
          </a:p>
          <a:p>
            <a:pPr algn="l" indent="0" marL="0">
              <a:buNone/>
            </a:pPr>
            <a:r>
              <a:rPr lang="en-US" sz="1400" dirty="0">
                <a:solidFill>
                  <a:srgbClr val="61738A"/>
                </a:solidFill>
                <a:latin typeface="Aptos" pitchFamily="34" charset="0"/>
                <a:ea typeface="Aptos" pitchFamily="34" charset="-122"/>
                <a:cs typeface="Aptos" pitchFamily="34" charset="-120"/>
              </a:rPr>
              <a:t>• Is that better or worse than last month?</a:t>
            </a:r>
            <a:endParaRPr lang="en-US" sz="1400" dirty="0"/>
          </a:p>
          <a:p>
            <a:pPr algn="l" indent="0" marL="0">
              <a:buNone/>
            </a:pPr>
            <a:r>
              <a:rPr lang="en-US" sz="1400" dirty="0">
                <a:solidFill>
                  <a:srgbClr val="61738A"/>
                </a:solidFill>
                <a:latin typeface="Aptos" pitchFamily="34" charset="0"/>
                <a:ea typeface="Aptos" pitchFamily="34" charset="-122"/>
                <a:cs typeface="Aptos" pitchFamily="34" charset="-120"/>
              </a:rPr>
              <a:t>• Which vendor caused the gap?</a:t>
            </a:r>
            <a:endParaRPr lang="en-US" sz="1400" dirty="0"/>
          </a:p>
          <a:p>
            <a:pPr algn="l" indent="0" marL="0">
              <a:buNone/>
            </a:pPr>
            <a:r>
              <a:rPr lang="en-US" sz="1400" dirty="0">
                <a:solidFill>
                  <a:srgbClr val="61738A"/>
                </a:solidFill>
                <a:latin typeface="Aptos" pitchFamily="34" charset="0"/>
                <a:ea typeface="Aptos" pitchFamily="34" charset="-122"/>
                <a:cs typeface="Aptos" pitchFamily="34" charset="-120"/>
              </a:rPr>
              <a:t>• Which routes are recurring offenders?</a:t>
            </a:r>
            <a:endParaRPr lang="en-US" sz="1400" dirty="0"/>
          </a:p>
          <a:p>
            <a:pPr algn="l" indent="0" marL="0">
              <a:buNone/>
            </a:pPr>
            <a:r>
              <a:rPr lang="en-US" sz="1400" dirty="0">
                <a:solidFill>
                  <a:srgbClr val="61738A"/>
                </a:solidFill>
                <a:latin typeface="Aptos" pitchFamily="34" charset="0"/>
                <a:ea typeface="Aptos" pitchFamily="34" charset="-122"/>
                <a:cs typeface="Aptos" pitchFamily="34" charset="-120"/>
              </a:rPr>
              <a:t>• How many employees were impacted?</a:t>
            </a:r>
            <a:endParaRPr lang="en-US" sz="1400" dirty="0"/>
          </a:p>
          <a:p>
            <a:pPr algn="l" indent="0" marL="0">
              <a:buNone/>
            </a:pPr>
            <a:r>
              <a:rPr lang="en-US" sz="1400" dirty="0">
                <a:solidFill>
                  <a:srgbClr val="61738A"/>
                </a:solidFill>
                <a:latin typeface="Aptos" pitchFamily="34" charset="0"/>
                <a:ea typeface="Aptos" pitchFamily="34" charset="-122"/>
                <a:cs typeface="Aptos" pitchFamily="34" charset="-120"/>
              </a:rPr>
              <a:t>• What should I do next?</a:t>
            </a:r>
            <a:endParaRPr lang="en-US" sz="1400" dirty="0"/>
          </a:p>
        </p:txBody>
      </p:sp>
      <p:sp>
        <p:nvSpPr>
          <p:cNvPr id="9" name="Shape 7"/>
          <p:cNvSpPr/>
          <p:nvPr/>
        </p:nvSpPr>
        <p:spPr>
          <a:xfrm>
            <a:off x="7178040" y="1783080"/>
            <a:ext cx="4507992" cy="4251960"/>
          </a:xfrm>
          <a:prstGeom prst="roundRect">
            <a:avLst>
              <a:gd name="adj" fmla="val 3441"/>
            </a:avLst>
          </a:prstGeom>
          <a:solidFill>
            <a:srgbClr val="0E1B2A"/>
          </a:solidFill>
          <a:ln w="12700">
            <a:solidFill>
              <a:srgbClr val="0E1B2A"/>
            </a:solidFill>
            <a:prstDash val="solid"/>
          </a:ln>
        </p:spPr>
      </p:sp>
      <p:sp>
        <p:nvSpPr>
          <p:cNvPr id="10" name="Text 8"/>
          <p:cNvSpPr txBox="1"/>
          <p:nvPr/>
        </p:nvSpPr>
        <p:spPr>
          <a:xfrm>
            <a:off x="7498080" y="2011680"/>
            <a:ext cx="3200400" cy="256032"/>
          </a:xfrm>
          <a:prstGeom prst="rect">
            <a:avLst/>
          </a:prstGeom>
          <a:noFill/>
          <a:ln/>
        </p:spPr>
        <p:txBody>
          <a:bodyPr wrap="square" lIns="0" tIns="0" rIns="0" bIns="0" rtlCol="0" anchor="ctr">
            <a:normAutofit/>
          </a:bodyPr>
          <a:lstStyle/>
          <a:p>
            <a:pPr algn="l" indent="0" marL="0">
              <a:buNone/>
            </a:pPr>
            <a:r>
              <a:rPr lang="en-US" sz="900" b="1" spc="120" kern="0" dirty="0">
                <a:solidFill>
                  <a:srgbClr val="36D6BD"/>
                </a:solidFill>
                <a:latin typeface="Aptos" pitchFamily="34" charset="0"/>
                <a:ea typeface="Aptos" pitchFamily="34" charset="-122"/>
                <a:cs typeface="Aptos" pitchFamily="34" charset="-120"/>
              </a:rPr>
              <a:t>THE SHIFT WE WANT</a:t>
            </a:r>
            <a:endParaRPr lang="en-US" sz="900" dirty="0"/>
          </a:p>
        </p:txBody>
      </p:sp>
      <p:sp>
        <p:nvSpPr>
          <p:cNvPr id="11" name="Text 9"/>
          <p:cNvSpPr txBox="1"/>
          <p:nvPr/>
        </p:nvSpPr>
        <p:spPr>
          <a:xfrm>
            <a:off x="7498080" y="2395728"/>
            <a:ext cx="3657600" cy="960120"/>
          </a:xfrm>
          <a:prstGeom prst="rect">
            <a:avLst/>
          </a:prstGeom>
          <a:noFill/>
          <a:ln/>
        </p:spPr>
        <p:txBody>
          <a:bodyPr wrap="square" lIns="0" tIns="0" rIns="0" bIns="0" rtlCol="0" anchor="t">
            <a:normAutofit/>
          </a:bodyPr>
          <a:lstStyle/>
          <a:p>
            <a:pPr algn="l" indent="0" marL="0">
              <a:buNone/>
            </a:pPr>
            <a:r>
              <a:rPr lang="en-US" sz="2900" b="1" dirty="0">
                <a:solidFill>
                  <a:srgbClr val="FFFFFF"/>
                </a:solidFill>
                <a:latin typeface="Aptos" pitchFamily="34" charset="0"/>
                <a:ea typeface="Aptos" pitchFamily="34" charset="-122"/>
                <a:cs typeface="Aptos" pitchFamily="34" charset="-120"/>
              </a:rPr>
              <a:t>78% becomes</a:t>
            </a:r>
            <a:endParaRPr lang="en-US" sz="2900" dirty="0"/>
          </a:p>
          <a:p>
            <a:pPr algn="l" indent="0" marL="0">
              <a:buNone/>
            </a:pPr>
            <a:r>
              <a:rPr lang="en-US" sz="2900" b="1" dirty="0">
                <a:solidFill>
                  <a:srgbClr val="FFFFFF"/>
                </a:solidFill>
                <a:latin typeface="Aptos" pitchFamily="34" charset="0"/>
                <a:ea typeface="Aptos" pitchFamily="34" charset="-122"/>
                <a:cs typeface="Aptos" pitchFamily="34" charset="-120"/>
              </a:rPr>
              <a:t>a decision.</a:t>
            </a:r>
            <a:endParaRPr lang="en-US" sz="2900" dirty="0"/>
          </a:p>
        </p:txBody>
      </p:sp>
      <p:sp>
        <p:nvSpPr>
          <p:cNvPr id="12" name="Text 10"/>
          <p:cNvSpPr txBox="1"/>
          <p:nvPr/>
        </p:nvSpPr>
        <p:spPr>
          <a:xfrm>
            <a:off x="7498080" y="3520440"/>
            <a:ext cx="3611880" cy="1600200"/>
          </a:xfrm>
          <a:prstGeom prst="rect">
            <a:avLst/>
          </a:prstGeom>
          <a:noFill/>
          <a:ln/>
        </p:spPr>
        <p:txBody>
          <a:bodyPr wrap="square" lIns="0" tIns="0" rIns="0" bIns="0" rtlCol="0" anchor="t">
            <a:normAutofit/>
          </a:bodyPr>
          <a:lstStyle/>
          <a:p>
            <a:pPr algn="l" indent="0" marL="0">
              <a:buNone/>
            </a:pPr>
            <a:r>
              <a:rPr lang="en-US" sz="1500" dirty="0">
                <a:solidFill>
                  <a:srgbClr val="D6E5F2"/>
                </a:solidFill>
                <a:latin typeface="Aptos" pitchFamily="34" charset="0"/>
                <a:ea typeface="Aptos" pitchFamily="34" charset="-122"/>
                <a:cs typeface="Aptos" pitchFamily="34" charset="-120"/>
              </a:rPr>
              <a:t>“OTA fell from 85% to 78%, below the 90% SLA. Two vendors explain 81% of the gap, affecting 146 employees. Intervene on 3 morning routes.”</a:t>
            </a:r>
            <a:endParaRPr lang="en-US" sz="1500" dirty="0"/>
          </a:p>
        </p:txBody>
      </p:sp>
      <p:sp>
        <p:nvSpPr>
          <p:cNvPr id="13" name="Shape 11"/>
          <p:cNvSpPr/>
          <p:nvPr/>
        </p:nvSpPr>
        <p:spPr>
          <a:xfrm>
            <a:off x="7498080" y="5330952"/>
            <a:ext cx="960120" cy="256032"/>
          </a:xfrm>
          <a:prstGeom prst="roundRect">
            <a:avLst>
              <a:gd name="adj" fmla="val 50000"/>
            </a:avLst>
          </a:prstGeom>
          <a:solidFill>
            <a:srgbClr val="1769E0"/>
          </a:solidFill>
          <a:ln w="12700">
            <a:solidFill>
              <a:srgbClr val="1769E0"/>
            </a:solidFill>
            <a:prstDash val="solid"/>
          </a:ln>
        </p:spPr>
      </p:sp>
      <p:sp>
        <p:nvSpPr>
          <p:cNvPr id="14" name="Text 12"/>
          <p:cNvSpPr txBox="1"/>
          <p:nvPr/>
        </p:nvSpPr>
        <p:spPr>
          <a:xfrm>
            <a:off x="7571232" y="5340096"/>
            <a:ext cx="813816"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CONTEXT</a:t>
            </a:r>
            <a:endParaRPr lang="en-US" sz="900" dirty="0"/>
          </a:p>
        </p:txBody>
      </p:sp>
      <p:sp>
        <p:nvSpPr>
          <p:cNvPr id="15" name="Shape 13"/>
          <p:cNvSpPr/>
          <p:nvPr/>
        </p:nvSpPr>
        <p:spPr>
          <a:xfrm>
            <a:off x="8577072" y="5330952"/>
            <a:ext cx="777240" cy="256032"/>
          </a:xfrm>
          <a:prstGeom prst="roundRect">
            <a:avLst>
              <a:gd name="adj" fmla="val 50000"/>
            </a:avLst>
          </a:prstGeom>
          <a:solidFill>
            <a:srgbClr val="1769E0"/>
          </a:solidFill>
          <a:ln w="12700">
            <a:solidFill>
              <a:srgbClr val="1769E0"/>
            </a:solidFill>
            <a:prstDash val="solid"/>
          </a:ln>
        </p:spPr>
      </p:sp>
      <p:sp>
        <p:nvSpPr>
          <p:cNvPr id="16" name="Text 14"/>
          <p:cNvSpPr txBox="1"/>
          <p:nvPr/>
        </p:nvSpPr>
        <p:spPr>
          <a:xfrm>
            <a:off x="8650224" y="5340096"/>
            <a:ext cx="630936"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CAUSE</a:t>
            </a:r>
            <a:endParaRPr lang="en-US" sz="900" dirty="0"/>
          </a:p>
        </p:txBody>
      </p:sp>
      <p:sp>
        <p:nvSpPr>
          <p:cNvPr id="17" name="Shape 15"/>
          <p:cNvSpPr/>
          <p:nvPr/>
        </p:nvSpPr>
        <p:spPr>
          <a:xfrm>
            <a:off x="9473184" y="5330952"/>
            <a:ext cx="841248" cy="256032"/>
          </a:xfrm>
          <a:prstGeom prst="roundRect">
            <a:avLst>
              <a:gd name="adj" fmla="val 50000"/>
            </a:avLst>
          </a:prstGeom>
          <a:solidFill>
            <a:srgbClr val="1769E0"/>
          </a:solidFill>
          <a:ln w="12700">
            <a:solidFill>
              <a:srgbClr val="1769E0"/>
            </a:solidFill>
            <a:prstDash val="solid"/>
          </a:ln>
        </p:spPr>
      </p:sp>
      <p:sp>
        <p:nvSpPr>
          <p:cNvPr id="18" name="Text 16"/>
          <p:cNvSpPr txBox="1"/>
          <p:nvPr/>
        </p:nvSpPr>
        <p:spPr>
          <a:xfrm>
            <a:off x="9546336" y="5340096"/>
            <a:ext cx="694944"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IMPACT</a:t>
            </a:r>
            <a:endParaRPr lang="en-US" sz="900" dirty="0"/>
          </a:p>
        </p:txBody>
      </p:sp>
      <p:sp>
        <p:nvSpPr>
          <p:cNvPr id="19" name="Shape 17"/>
          <p:cNvSpPr/>
          <p:nvPr/>
        </p:nvSpPr>
        <p:spPr>
          <a:xfrm>
            <a:off x="10442448" y="5330952"/>
            <a:ext cx="868680" cy="256032"/>
          </a:xfrm>
          <a:prstGeom prst="roundRect">
            <a:avLst>
              <a:gd name="adj" fmla="val 50000"/>
            </a:avLst>
          </a:prstGeom>
          <a:solidFill>
            <a:srgbClr val="36D6BD"/>
          </a:solidFill>
          <a:ln w="12700">
            <a:solidFill>
              <a:srgbClr val="36D6BD"/>
            </a:solidFill>
            <a:prstDash val="solid"/>
          </a:ln>
        </p:spPr>
      </p:sp>
      <p:sp>
        <p:nvSpPr>
          <p:cNvPr id="20" name="Text 18"/>
          <p:cNvSpPr txBox="1"/>
          <p:nvPr/>
        </p:nvSpPr>
        <p:spPr>
          <a:xfrm>
            <a:off x="10515600" y="5340096"/>
            <a:ext cx="722376" cy="219456"/>
          </a:xfrm>
          <a:prstGeom prst="rect">
            <a:avLst/>
          </a:prstGeom>
          <a:noFill/>
          <a:ln/>
        </p:spPr>
        <p:txBody>
          <a:bodyPr wrap="square" lIns="0" tIns="0" rIns="0" bIns="0" rtlCol="0" anchor="ctr">
            <a:normAutofit/>
          </a:bodyPr>
          <a:lstStyle/>
          <a:p>
            <a:pPr algn="ctr" indent="0" marL="0">
              <a:buNone/>
            </a:pPr>
            <a:r>
              <a:rPr lang="en-US" sz="900" b="1" dirty="0">
                <a:solidFill>
                  <a:srgbClr val="0E1B2A"/>
                </a:solidFill>
                <a:latin typeface="Aptos" pitchFamily="34" charset="0"/>
                <a:ea typeface="Aptos" pitchFamily="34" charset="-122"/>
                <a:cs typeface="Aptos" pitchFamily="34" charset="-120"/>
              </a:rPr>
              <a:t>ACTION</a:t>
            </a:r>
            <a:endParaRPr lang="en-US" sz="9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02 — WHO WINS</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Two personas. One shared source of operational truth.</a:t>
            </a:r>
            <a:endParaRPr lang="en-US" sz="2800" dirty="0"/>
          </a:p>
        </p:txBody>
      </p:sp>
      <p:sp>
        <p:nvSpPr>
          <p:cNvPr id="4" name="Shape 2"/>
          <p:cNvSpPr/>
          <p:nvPr/>
        </p:nvSpPr>
        <p:spPr>
          <a:xfrm>
            <a:off x="502920" y="1783080"/>
            <a:ext cx="5001768" cy="4251960"/>
          </a:xfrm>
          <a:prstGeom prst="roundRect">
            <a:avLst>
              <a:gd name="adj" fmla="val 4638"/>
            </a:avLst>
          </a:prstGeom>
          <a:solidFill>
            <a:srgbClr val="FFFFFF"/>
          </a:solidFill>
          <a:ln w="12700">
            <a:solidFill>
              <a:srgbClr val="D9E2EC"/>
            </a:solidFill>
            <a:prstDash val="solid"/>
          </a:ln>
        </p:spPr>
      </p:sp>
      <p:sp>
        <p:nvSpPr>
          <p:cNvPr id="5" name="Shape 3"/>
          <p:cNvSpPr/>
          <p:nvPr/>
        </p:nvSpPr>
        <p:spPr>
          <a:xfrm>
            <a:off x="731520" y="2029968"/>
            <a:ext cx="530352" cy="530352"/>
          </a:xfrm>
          <a:prstGeom prst="ellipse">
            <a:avLst/>
          </a:prstGeom>
          <a:solidFill>
            <a:srgbClr val="1769E0"/>
          </a:solidFill>
          <a:ln w="12700">
            <a:solidFill>
              <a:srgbClr val="1769E0"/>
            </a:solidFill>
            <a:prstDash val="solid"/>
          </a:ln>
        </p:spPr>
      </p:sp>
      <p:sp>
        <p:nvSpPr>
          <p:cNvPr id="6" name="Text 4"/>
          <p:cNvSpPr txBox="1"/>
          <p:nvPr/>
        </p:nvSpPr>
        <p:spPr>
          <a:xfrm>
            <a:off x="731520" y="2039112"/>
            <a:ext cx="530352" cy="52120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7" name="Text 5"/>
          <p:cNvSpPr txBox="1"/>
          <p:nvPr/>
        </p:nvSpPr>
        <p:spPr>
          <a:xfrm>
            <a:off x="1399032" y="2029968"/>
            <a:ext cx="2880360" cy="219456"/>
          </a:xfrm>
          <a:prstGeom prst="rect">
            <a:avLst/>
          </a:prstGeom>
          <a:noFill/>
          <a:ln/>
        </p:spPr>
        <p:txBody>
          <a:bodyPr wrap="square" lIns="0" tIns="0" rIns="0" bIns="0" rtlCol="0" anchor="ctr">
            <a:normAutofit/>
          </a:bodyPr>
          <a:lstStyle/>
          <a:p>
            <a:pPr algn="l" indent="0" marL="0">
              <a:buNone/>
            </a:pPr>
            <a:r>
              <a:rPr lang="en-US" sz="900" b="1" spc="100" kern="0" dirty="0">
                <a:solidFill>
                  <a:srgbClr val="1769E0"/>
                </a:solidFill>
                <a:latin typeface="Aptos" pitchFamily="34" charset="0"/>
                <a:ea typeface="Aptos" pitchFamily="34" charset="-122"/>
                <a:cs typeface="Aptos" pitchFamily="34" charset="-120"/>
              </a:rPr>
              <a:t>TRANSPORT MANAGER</a:t>
            </a:r>
            <a:endParaRPr lang="en-US" sz="900" dirty="0"/>
          </a:p>
        </p:txBody>
      </p:sp>
      <p:sp>
        <p:nvSpPr>
          <p:cNvPr id="8" name="Text 6"/>
          <p:cNvSpPr txBox="1"/>
          <p:nvPr/>
        </p:nvSpPr>
        <p:spPr>
          <a:xfrm>
            <a:off x="731520" y="2670048"/>
            <a:ext cx="4389120" cy="347472"/>
          </a:xfrm>
          <a:prstGeom prst="rect">
            <a:avLst/>
          </a:prstGeom>
          <a:noFill/>
          <a:ln/>
        </p:spPr>
        <p:txBody>
          <a:bodyPr wrap="square" lIns="0" tIns="0" rIns="0" bIns="0" rtlCol="0" anchor="ctr">
            <a:normAutofit/>
          </a:bodyPr>
          <a:lstStyle/>
          <a:p>
            <a:pPr algn="l" indent="0" marL="0">
              <a:buNone/>
            </a:pPr>
            <a:r>
              <a:rPr lang="en-US" sz="2200" b="1" dirty="0">
                <a:solidFill>
                  <a:srgbClr val="0E1B2A"/>
                </a:solidFill>
                <a:latin typeface="Aptos" pitchFamily="34" charset="0"/>
                <a:ea typeface="Aptos" pitchFamily="34" charset="-122"/>
                <a:cs typeface="Aptos" pitchFamily="34" charset="-120"/>
              </a:rPr>
              <a:t>Run the day</a:t>
            </a:r>
            <a:endParaRPr lang="en-US" sz="2200" dirty="0"/>
          </a:p>
        </p:txBody>
      </p:sp>
      <p:sp>
        <p:nvSpPr>
          <p:cNvPr id="9" name="Text 7"/>
          <p:cNvSpPr txBox="1"/>
          <p:nvPr/>
        </p:nvSpPr>
        <p:spPr>
          <a:xfrm>
            <a:off x="731520" y="3246120"/>
            <a:ext cx="4480560" cy="1234440"/>
          </a:xfrm>
          <a:prstGeom prst="rect">
            <a:avLst/>
          </a:prstGeom>
          <a:noFill/>
          <a:ln/>
        </p:spPr>
        <p:txBody>
          <a:bodyPr wrap="square" lIns="0" tIns="0" rIns="0" bIns="0" rtlCol="0" anchor="t">
            <a:normAutofit/>
          </a:bodyPr>
          <a:lstStyle/>
          <a:p>
            <a:pPr algn="l" indent="0" marL="0">
              <a:buNone/>
            </a:pPr>
            <a:r>
              <a:rPr lang="en-US" sz="1300" dirty="0">
                <a:solidFill>
                  <a:srgbClr val="61738A"/>
                </a:solidFill>
                <a:latin typeface="Aptos" pitchFamily="34" charset="0"/>
                <a:ea typeface="Aptos" pitchFamily="34" charset="-122"/>
                <a:cs typeface="Aptos" pitchFamily="34" charset="-120"/>
              </a:rPr>
              <a:t>Needs fast answers: what changed, what is urgent, which vendor or route is driving it, and who to contact. Signal Desk sends each BREACH and CONCERN as it is found, naming the vendor, the site and the reference it fell short of.</a:t>
            </a:r>
            <a:endParaRPr lang="en-US" sz="1300" dirty="0"/>
          </a:p>
        </p:txBody>
      </p:sp>
      <p:sp>
        <p:nvSpPr>
          <p:cNvPr id="10" name="Shape 8"/>
          <p:cNvSpPr/>
          <p:nvPr/>
        </p:nvSpPr>
        <p:spPr>
          <a:xfrm>
            <a:off x="731520" y="4800600"/>
            <a:ext cx="4480560" cy="0"/>
          </a:xfrm>
          <a:prstGeom prst="line">
            <a:avLst/>
          </a:prstGeom>
          <a:noFill/>
          <a:ln w="12700">
            <a:solidFill>
              <a:srgbClr val="D9E2EC"/>
            </a:solidFill>
            <a:prstDash val="solid"/>
            <a:headEnd type="none"/>
            <a:tailEnd type="none"/>
          </a:ln>
        </p:spPr>
      </p:sp>
      <p:sp>
        <p:nvSpPr>
          <p:cNvPr id="11" name="Text 9"/>
          <p:cNvSpPr txBox="1"/>
          <p:nvPr/>
        </p:nvSpPr>
        <p:spPr>
          <a:xfrm>
            <a:off x="731520" y="5020056"/>
            <a:ext cx="960120" cy="164592"/>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Their question</a:t>
            </a:r>
            <a:endParaRPr lang="en-US" sz="900" dirty="0"/>
          </a:p>
        </p:txBody>
      </p:sp>
      <p:sp>
        <p:nvSpPr>
          <p:cNvPr id="12" name="Text 10"/>
          <p:cNvSpPr txBox="1"/>
          <p:nvPr/>
        </p:nvSpPr>
        <p:spPr>
          <a:xfrm>
            <a:off x="731520" y="5285232"/>
            <a:ext cx="4434840" cy="429768"/>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What needs my attention now?</a:t>
            </a:r>
            <a:endParaRPr lang="en-US" sz="1150" dirty="0"/>
          </a:p>
        </p:txBody>
      </p:sp>
      <p:sp>
        <p:nvSpPr>
          <p:cNvPr id="13" name="Shape 11"/>
          <p:cNvSpPr/>
          <p:nvPr/>
        </p:nvSpPr>
        <p:spPr>
          <a:xfrm>
            <a:off x="6025895" y="1783080"/>
            <a:ext cx="5001768" cy="4251960"/>
          </a:xfrm>
          <a:prstGeom prst="roundRect">
            <a:avLst>
              <a:gd name="adj" fmla="val 4638"/>
            </a:avLst>
          </a:prstGeom>
          <a:solidFill>
            <a:srgbClr val="FFFFFF"/>
          </a:solidFill>
          <a:ln w="12700">
            <a:solidFill>
              <a:srgbClr val="D9E2EC"/>
            </a:solidFill>
            <a:prstDash val="solid"/>
          </a:ln>
        </p:spPr>
      </p:sp>
      <p:sp>
        <p:nvSpPr>
          <p:cNvPr id="14" name="Shape 12"/>
          <p:cNvSpPr/>
          <p:nvPr/>
        </p:nvSpPr>
        <p:spPr>
          <a:xfrm>
            <a:off x="6254495" y="2029968"/>
            <a:ext cx="530352" cy="530352"/>
          </a:xfrm>
          <a:prstGeom prst="ellipse">
            <a:avLst/>
          </a:prstGeom>
          <a:solidFill>
            <a:srgbClr val="36D6BD"/>
          </a:solidFill>
          <a:ln w="12700">
            <a:solidFill>
              <a:srgbClr val="36D6BD"/>
            </a:solidFill>
            <a:prstDash val="solid"/>
          </a:ln>
        </p:spPr>
      </p:sp>
      <p:sp>
        <p:nvSpPr>
          <p:cNvPr id="15" name="Text 13"/>
          <p:cNvSpPr txBox="1"/>
          <p:nvPr/>
        </p:nvSpPr>
        <p:spPr>
          <a:xfrm>
            <a:off x="6254495" y="2039112"/>
            <a:ext cx="530352" cy="52120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16" name="Text 14"/>
          <p:cNvSpPr txBox="1"/>
          <p:nvPr/>
        </p:nvSpPr>
        <p:spPr>
          <a:xfrm>
            <a:off x="6922007" y="2029968"/>
            <a:ext cx="2880360" cy="219456"/>
          </a:xfrm>
          <a:prstGeom prst="rect">
            <a:avLst/>
          </a:prstGeom>
          <a:noFill/>
          <a:ln/>
        </p:spPr>
        <p:txBody>
          <a:bodyPr wrap="square" lIns="0" tIns="0" rIns="0" bIns="0" rtlCol="0" anchor="ctr">
            <a:normAutofit/>
          </a:bodyPr>
          <a:lstStyle/>
          <a:p>
            <a:pPr algn="l" indent="0" marL="0">
              <a:buNone/>
            </a:pPr>
            <a:r>
              <a:rPr lang="en-US" sz="900" b="1" spc="100" kern="0" dirty="0">
                <a:solidFill>
                  <a:srgbClr val="36D6BD"/>
                </a:solidFill>
                <a:latin typeface="Aptos" pitchFamily="34" charset="0"/>
                <a:ea typeface="Aptos" pitchFamily="34" charset="-122"/>
                <a:cs typeface="Aptos" pitchFamily="34" charset="-120"/>
              </a:rPr>
              <a:t>FACILITIES HEAD</a:t>
            </a:r>
            <a:endParaRPr lang="en-US" sz="900" dirty="0"/>
          </a:p>
        </p:txBody>
      </p:sp>
      <p:sp>
        <p:nvSpPr>
          <p:cNvPr id="17" name="Text 15"/>
          <p:cNvSpPr txBox="1"/>
          <p:nvPr/>
        </p:nvSpPr>
        <p:spPr>
          <a:xfrm>
            <a:off x="6254495" y="2670048"/>
            <a:ext cx="4389120" cy="347472"/>
          </a:xfrm>
          <a:prstGeom prst="rect">
            <a:avLst/>
          </a:prstGeom>
          <a:noFill/>
          <a:ln/>
        </p:spPr>
        <p:txBody>
          <a:bodyPr wrap="square" lIns="0" tIns="0" rIns="0" bIns="0" rtlCol="0" anchor="ctr">
            <a:normAutofit/>
          </a:bodyPr>
          <a:lstStyle/>
          <a:p>
            <a:pPr algn="l" indent="0" marL="0">
              <a:buNone/>
            </a:pPr>
            <a:r>
              <a:rPr lang="en-US" sz="2200" b="1" dirty="0">
                <a:solidFill>
                  <a:srgbClr val="0E1B2A"/>
                </a:solidFill>
                <a:latin typeface="Aptos" pitchFamily="34" charset="0"/>
                <a:ea typeface="Aptos" pitchFamily="34" charset="-122"/>
                <a:cs typeface="Aptos" pitchFamily="34" charset="-120"/>
              </a:rPr>
              <a:t>Run the business</a:t>
            </a:r>
            <a:endParaRPr lang="en-US" sz="2200" dirty="0"/>
          </a:p>
        </p:txBody>
      </p:sp>
      <p:sp>
        <p:nvSpPr>
          <p:cNvPr id="18" name="Text 16"/>
          <p:cNvSpPr txBox="1"/>
          <p:nvPr/>
        </p:nvSpPr>
        <p:spPr>
          <a:xfrm>
            <a:off x="6254495" y="3246120"/>
            <a:ext cx="4480560" cy="1234440"/>
          </a:xfrm>
          <a:prstGeom prst="rect">
            <a:avLst/>
          </a:prstGeom>
          <a:noFill/>
          <a:ln/>
        </p:spPr>
        <p:txBody>
          <a:bodyPr wrap="square" lIns="0" tIns="0" rIns="0" bIns="0" rtlCol="0" anchor="t">
            <a:normAutofit/>
          </a:bodyPr>
          <a:lstStyle/>
          <a:p>
            <a:pPr algn="l" indent="0" marL="0">
              <a:buNone/>
            </a:pPr>
            <a:r>
              <a:rPr lang="en-US" sz="1300" dirty="0">
                <a:solidFill>
                  <a:srgbClr val="61738A"/>
                </a:solidFill>
                <a:latin typeface="Aptos" pitchFamily="34" charset="0"/>
                <a:ea typeface="Aptos" pitchFamily="34" charset="-122"/>
                <a:cs typeface="Aptos" pitchFamily="34" charset="-120"/>
              </a:rPr>
              <a:t>Needs a coherent cost + SLA + experience story without assembling weekly leadership packs by hand. The same sweep writes a brief addressed to this audience, forwardable without rework.</a:t>
            </a:r>
            <a:endParaRPr lang="en-US" sz="1300" dirty="0"/>
          </a:p>
        </p:txBody>
      </p:sp>
      <p:sp>
        <p:nvSpPr>
          <p:cNvPr id="19" name="Shape 17"/>
          <p:cNvSpPr/>
          <p:nvPr/>
        </p:nvSpPr>
        <p:spPr>
          <a:xfrm>
            <a:off x="6254495" y="4800600"/>
            <a:ext cx="4480560" cy="0"/>
          </a:xfrm>
          <a:prstGeom prst="line">
            <a:avLst/>
          </a:prstGeom>
          <a:noFill/>
          <a:ln w="12700">
            <a:solidFill>
              <a:srgbClr val="D9E2EC"/>
            </a:solidFill>
            <a:prstDash val="solid"/>
            <a:headEnd type="none"/>
            <a:tailEnd type="none"/>
          </a:ln>
        </p:spPr>
      </p:sp>
      <p:sp>
        <p:nvSpPr>
          <p:cNvPr id="20" name="Text 18"/>
          <p:cNvSpPr txBox="1"/>
          <p:nvPr/>
        </p:nvSpPr>
        <p:spPr>
          <a:xfrm>
            <a:off x="6254495" y="5020056"/>
            <a:ext cx="960120" cy="164592"/>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Their question</a:t>
            </a:r>
            <a:endParaRPr lang="en-US" sz="900" dirty="0"/>
          </a:p>
        </p:txBody>
      </p:sp>
      <p:sp>
        <p:nvSpPr>
          <p:cNvPr id="21" name="Text 19"/>
          <p:cNvSpPr txBox="1"/>
          <p:nvPr/>
        </p:nvSpPr>
        <p:spPr>
          <a:xfrm>
            <a:off x="6254495" y="5285232"/>
            <a:ext cx="4434840" cy="429768"/>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Where is value/risk moving?</a:t>
            </a:r>
            <a:endParaRPr lang="en-US" sz="115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03 — THE LOOP, AS BUILT</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Six manual steps become one unprompted sweep.</a:t>
            </a:r>
            <a:endParaRPr lang="en-US" sz="2800" dirty="0"/>
          </a:p>
        </p:txBody>
      </p:sp>
      <p:sp>
        <p:nvSpPr>
          <p:cNvPr id="4" name="Text 2"/>
          <p:cNvSpPr txBox="1"/>
          <p:nvPr/>
        </p:nvSpPr>
        <p:spPr>
          <a:xfrm>
            <a:off x="548640" y="1737360"/>
            <a:ext cx="3200400" cy="201168"/>
          </a:xfrm>
          <a:prstGeom prst="rect">
            <a:avLst/>
          </a:prstGeom>
          <a:noFill/>
          <a:ln/>
        </p:spPr>
        <p:txBody>
          <a:bodyPr wrap="square" lIns="0" tIns="0" rIns="0" bIns="0" rtlCol="0" anchor="ctr">
            <a:normAutofit/>
          </a:bodyPr>
          <a:lstStyle/>
          <a:p>
            <a:pPr algn="l" indent="0" marL="0">
              <a:buNone/>
            </a:pPr>
            <a:r>
              <a:rPr lang="en-US" sz="900" b="1" spc="120" kern="0" dirty="0">
                <a:solidFill>
                  <a:srgbClr val="D9343A"/>
                </a:solidFill>
                <a:latin typeface="Aptos" pitchFamily="34" charset="0"/>
                <a:ea typeface="Aptos" pitchFamily="34" charset="-122"/>
                <a:cs typeface="Aptos" pitchFamily="34" charset="-120"/>
              </a:rPr>
              <a:t>TODAY — THE MANAGER DOES THIS</a:t>
            </a:r>
            <a:endParaRPr lang="en-US" sz="900" dirty="0"/>
          </a:p>
        </p:txBody>
      </p:sp>
      <p:sp>
        <p:nvSpPr>
          <p:cNvPr id="5" name="Shape 3"/>
          <p:cNvSpPr/>
          <p:nvPr/>
        </p:nvSpPr>
        <p:spPr>
          <a:xfrm>
            <a:off x="548640" y="2148840"/>
            <a:ext cx="1572768" cy="822960"/>
          </a:xfrm>
          <a:prstGeom prst="roundRect">
            <a:avLst>
              <a:gd name="adj" fmla="val 17778"/>
            </a:avLst>
          </a:prstGeom>
          <a:solidFill>
            <a:srgbClr val="FFFFFF"/>
          </a:solidFill>
          <a:ln w="12700">
            <a:solidFill>
              <a:srgbClr val="D9E2EC"/>
            </a:solidFill>
            <a:prstDash val="solid"/>
          </a:ln>
        </p:spPr>
      </p:sp>
      <p:sp>
        <p:nvSpPr>
          <p:cNvPr id="6" name="Text 4"/>
          <p:cNvSpPr txBox="1"/>
          <p:nvPr/>
        </p:nvSpPr>
        <p:spPr>
          <a:xfrm>
            <a:off x="667512" y="2267712"/>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01</a:t>
            </a:r>
            <a:endParaRPr lang="en-US" sz="900" dirty="0"/>
          </a:p>
        </p:txBody>
      </p:sp>
      <p:sp>
        <p:nvSpPr>
          <p:cNvPr id="7" name="Text 5"/>
          <p:cNvSpPr txBox="1"/>
          <p:nvPr/>
        </p:nvSpPr>
        <p:spPr>
          <a:xfrm>
            <a:off x="658368" y="2487168"/>
            <a:ext cx="1325880" cy="22860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Open report</a:t>
            </a:r>
            <a:endParaRPr lang="en-US" sz="1150" dirty="0"/>
          </a:p>
        </p:txBody>
      </p:sp>
      <p:sp>
        <p:nvSpPr>
          <p:cNvPr id="8" name="Text 6"/>
          <p:cNvSpPr txBox="1"/>
          <p:nvPr/>
        </p:nvSpPr>
        <p:spPr>
          <a:xfrm>
            <a:off x="2167128" y="2359152"/>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D9343A"/>
                </a:solidFill>
                <a:latin typeface="Aptos" pitchFamily="34" charset="0"/>
                <a:ea typeface="Aptos" pitchFamily="34" charset="-122"/>
                <a:cs typeface="Aptos" pitchFamily="34" charset="-120"/>
              </a:rPr>
              <a:t>→</a:t>
            </a:r>
            <a:endParaRPr lang="en-US" sz="1600" dirty="0"/>
          </a:p>
        </p:txBody>
      </p:sp>
      <p:sp>
        <p:nvSpPr>
          <p:cNvPr id="9" name="Shape 7"/>
          <p:cNvSpPr/>
          <p:nvPr/>
        </p:nvSpPr>
        <p:spPr>
          <a:xfrm>
            <a:off x="2404872" y="2148840"/>
            <a:ext cx="1572768" cy="822960"/>
          </a:xfrm>
          <a:prstGeom prst="roundRect">
            <a:avLst>
              <a:gd name="adj" fmla="val 17778"/>
            </a:avLst>
          </a:prstGeom>
          <a:solidFill>
            <a:srgbClr val="FFFFFF"/>
          </a:solidFill>
          <a:ln w="12700">
            <a:solidFill>
              <a:srgbClr val="D9E2EC"/>
            </a:solidFill>
            <a:prstDash val="solid"/>
          </a:ln>
        </p:spPr>
      </p:sp>
      <p:sp>
        <p:nvSpPr>
          <p:cNvPr id="10" name="Text 8"/>
          <p:cNvSpPr txBox="1"/>
          <p:nvPr/>
        </p:nvSpPr>
        <p:spPr>
          <a:xfrm>
            <a:off x="2523744" y="2267712"/>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02</a:t>
            </a:r>
            <a:endParaRPr lang="en-US" sz="900" dirty="0"/>
          </a:p>
        </p:txBody>
      </p:sp>
      <p:sp>
        <p:nvSpPr>
          <p:cNvPr id="11" name="Text 9"/>
          <p:cNvSpPr txBox="1"/>
          <p:nvPr/>
        </p:nvSpPr>
        <p:spPr>
          <a:xfrm>
            <a:off x="2514600" y="2487168"/>
            <a:ext cx="1325880" cy="22860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Find metric</a:t>
            </a:r>
            <a:endParaRPr lang="en-US" sz="1150" dirty="0"/>
          </a:p>
        </p:txBody>
      </p:sp>
      <p:sp>
        <p:nvSpPr>
          <p:cNvPr id="12" name="Text 10"/>
          <p:cNvSpPr txBox="1"/>
          <p:nvPr/>
        </p:nvSpPr>
        <p:spPr>
          <a:xfrm>
            <a:off x="4023360" y="2359152"/>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D9343A"/>
                </a:solidFill>
                <a:latin typeface="Aptos" pitchFamily="34" charset="0"/>
                <a:ea typeface="Aptos" pitchFamily="34" charset="-122"/>
                <a:cs typeface="Aptos" pitchFamily="34" charset="-120"/>
              </a:rPr>
              <a:t>→</a:t>
            </a:r>
            <a:endParaRPr lang="en-US" sz="1600" dirty="0"/>
          </a:p>
        </p:txBody>
      </p:sp>
      <p:sp>
        <p:nvSpPr>
          <p:cNvPr id="13" name="Shape 11"/>
          <p:cNvSpPr/>
          <p:nvPr/>
        </p:nvSpPr>
        <p:spPr>
          <a:xfrm>
            <a:off x="4261104" y="2148840"/>
            <a:ext cx="1572768" cy="822960"/>
          </a:xfrm>
          <a:prstGeom prst="roundRect">
            <a:avLst>
              <a:gd name="adj" fmla="val 17778"/>
            </a:avLst>
          </a:prstGeom>
          <a:solidFill>
            <a:srgbClr val="FFFFFF"/>
          </a:solidFill>
          <a:ln w="12700">
            <a:solidFill>
              <a:srgbClr val="D9E2EC"/>
            </a:solidFill>
            <a:prstDash val="solid"/>
          </a:ln>
        </p:spPr>
      </p:sp>
      <p:sp>
        <p:nvSpPr>
          <p:cNvPr id="14" name="Text 12"/>
          <p:cNvSpPr txBox="1"/>
          <p:nvPr/>
        </p:nvSpPr>
        <p:spPr>
          <a:xfrm>
            <a:off x="4379976" y="2267712"/>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03</a:t>
            </a:r>
            <a:endParaRPr lang="en-US" sz="900" dirty="0"/>
          </a:p>
        </p:txBody>
      </p:sp>
      <p:sp>
        <p:nvSpPr>
          <p:cNvPr id="15" name="Text 13"/>
          <p:cNvSpPr txBox="1"/>
          <p:nvPr/>
        </p:nvSpPr>
        <p:spPr>
          <a:xfrm>
            <a:off x="4370832" y="2487168"/>
            <a:ext cx="1325880" cy="22860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Export data</a:t>
            </a:r>
            <a:endParaRPr lang="en-US" sz="1150" dirty="0"/>
          </a:p>
        </p:txBody>
      </p:sp>
      <p:sp>
        <p:nvSpPr>
          <p:cNvPr id="16" name="Text 14"/>
          <p:cNvSpPr txBox="1"/>
          <p:nvPr/>
        </p:nvSpPr>
        <p:spPr>
          <a:xfrm>
            <a:off x="5879592" y="2359152"/>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D9343A"/>
                </a:solidFill>
                <a:latin typeface="Aptos" pitchFamily="34" charset="0"/>
                <a:ea typeface="Aptos" pitchFamily="34" charset="-122"/>
                <a:cs typeface="Aptos" pitchFamily="34" charset="-120"/>
              </a:rPr>
              <a:t>→</a:t>
            </a:r>
            <a:endParaRPr lang="en-US" sz="1600" dirty="0"/>
          </a:p>
        </p:txBody>
      </p:sp>
      <p:sp>
        <p:nvSpPr>
          <p:cNvPr id="17" name="Shape 15"/>
          <p:cNvSpPr/>
          <p:nvPr/>
        </p:nvSpPr>
        <p:spPr>
          <a:xfrm>
            <a:off x="6117336" y="2148840"/>
            <a:ext cx="1572768" cy="822960"/>
          </a:xfrm>
          <a:prstGeom prst="roundRect">
            <a:avLst>
              <a:gd name="adj" fmla="val 17778"/>
            </a:avLst>
          </a:prstGeom>
          <a:solidFill>
            <a:srgbClr val="FFFFFF"/>
          </a:solidFill>
          <a:ln w="12700">
            <a:solidFill>
              <a:srgbClr val="D9E2EC"/>
            </a:solidFill>
            <a:prstDash val="solid"/>
          </a:ln>
        </p:spPr>
      </p:sp>
      <p:sp>
        <p:nvSpPr>
          <p:cNvPr id="18" name="Text 16"/>
          <p:cNvSpPr txBox="1"/>
          <p:nvPr/>
        </p:nvSpPr>
        <p:spPr>
          <a:xfrm>
            <a:off x="6236208" y="2267712"/>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04</a:t>
            </a:r>
            <a:endParaRPr lang="en-US" sz="900" dirty="0"/>
          </a:p>
        </p:txBody>
      </p:sp>
      <p:sp>
        <p:nvSpPr>
          <p:cNvPr id="19" name="Text 17"/>
          <p:cNvSpPr txBox="1"/>
          <p:nvPr/>
        </p:nvSpPr>
        <p:spPr>
          <a:xfrm>
            <a:off x="6227064" y="2487168"/>
            <a:ext cx="1325880" cy="22860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Investigate</a:t>
            </a:r>
            <a:endParaRPr lang="en-US" sz="1150" dirty="0"/>
          </a:p>
        </p:txBody>
      </p:sp>
      <p:sp>
        <p:nvSpPr>
          <p:cNvPr id="20" name="Text 18"/>
          <p:cNvSpPr txBox="1"/>
          <p:nvPr/>
        </p:nvSpPr>
        <p:spPr>
          <a:xfrm>
            <a:off x="7735824" y="2359152"/>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D9343A"/>
                </a:solidFill>
                <a:latin typeface="Aptos" pitchFamily="34" charset="0"/>
                <a:ea typeface="Aptos" pitchFamily="34" charset="-122"/>
                <a:cs typeface="Aptos" pitchFamily="34" charset="-120"/>
              </a:rPr>
              <a:t>→</a:t>
            </a:r>
            <a:endParaRPr lang="en-US" sz="1600" dirty="0"/>
          </a:p>
        </p:txBody>
      </p:sp>
      <p:sp>
        <p:nvSpPr>
          <p:cNvPr id="21" name="Shape 19"/>
          <p:cNvSpPr/>
          <p:nvPr/>
        </p:nvSpPr>
        <p:spPr>
          <a:xfrm>
            <a:off x="7973568" y="2148840"/>
            <a:ext cx="1572768" cy="822960"/>
          </a:xfrm>
          <a:prstGeom prst="roundRect">
            <a:avLst>
              <a:gd name="adj" fmla="val 17778"/>
            </a:avLst>
          </a:prstGeom>
          <a:solidFill>
            <a:srgbClr val="FFFFFF"/>
          </a:solidFill>
          <a:ln w="12700">
            <a:solidFill>
              <a:srgbClr val="D9E2EC"/>
            </a:solidFill>
            <a:prstDash val="solid"/>
          </a:ln>
        </p:spPr>
      </p:sp>
      <p:sp>
        <p:nvSpPr>
          <p:cNvPr id="22" name="Text 20"/>
          <p:cNvSpPr txBox="1"/>
          <p:nvPr/>
        </p:nvSpPr>
        <p:spPr>
          <a:xfrm>
            <a:off x="8092440" y="2267712"/>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05</a:t>
            </a:r>
            <a:endParaRPr lang="en-US" sz="900" dirty="0"/>
          </a:p>
        </p:txBody>
      </p:sp>
      <p:sp>
        <p:nvSpPr>
          <p:cNvPr id="23" name="Text 21"/>
          <p:cNvSpPr txBox="1"/>
          <p:nvPr/>
        </p:nvSpPr>
        <p:spPr>
          <a:xfrm>
            <a:off x="8083296" y="2487168"/>
            <a:ext cx="1325880" cy="22860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Call / email</a:t>
            </a:r>
            <a:endParaRPr lang="en-US" sz="1150" dirty="0"/>
          </a:p>
        </p:txBody>
      </p:sp>
      <p:sp>
        <p:nvSpPr>
          <p:cNvPr id="24" name="Text 22"/>
          <p:cNvSpPr txBox="1"/>
          <p:nvPr/>
        </p:nvSpPr>
        <p:spPr>
          <a:xfrm>
            <a:off x="9592056" y="2359152"/>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D9343A"/>
                </a:solidFill>
                <a:latin typeface="Aptos" pitchFamily="34" charset="0"/>
                <a:ea typeface="Aptos" pitchFamily="34" charset="-122"/>
                <a:cs typeface="Aptos" pitchFamily="34" charset="-120"/>
              </a:rPr>
              <a:t>→</a:t>
            </a:r>
            <a:endParaRPr lang="en-US" sz="1600" dirty="0"/>
          </a:p>
        </p:txBody>
      </p:sp>
      <p:sp>
        <p:nvSpPr>
          <p:cNvPr id="25" name="Shape 23"/>
          <p:cNvSpPr/>
          <p:nvPr/>
        </p:nvSpPr>
        <p:spPr>
          <a:xfrm>
            <a:off x="9829800" y="2148840"/>
            <a:ext cx="1572768" cy="822960"/>
          </a:xfrm>
          <a:prstGeom prst="roundRect">
            <a:avLst>
              <a:gd name="adj" fmla="val 17778"/>
            </a:avLst>
          </a:prstGeom>
          <a:solidFill>
            <a:srgbClr val="FFFFFF"/>
          </a:solidFill>
          <a:ln w="12700">
            <a:solidFill>
              <a:srgbClr val="D9E2EC"/>
            </a:solidFill>
            <a:prstDash val="solid"/>
          </a:ln>
        </p:spPr>
      </p:sp>
      <p:sp>
        <p:nvSpPr>
          <p:cNvPr id="26" name="Text 24"/>
          <p:cNvSpPr txBox="1"/>
          <p:nvPr/>
        </p:nvSpPr>
        <p:spPr>
          <a:xfrm>
            <a:off x="9948672" y="2267712"/>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06</a:t>
            </a:r>
            <a:endParaRPr lang="en-US" sz="900" dirty="0"/>
          </a:p>
        </p:txBody>
      </p:sp>
      <p:sp>
        <p:nvSpPr>
          <p:cNvPr id="27" name="Text 25"/>
          <p:cNvSpPr txBox="1"/>
          <p:nvPr/>
        </p:nvSpPr>
        <p:spPr>
          <a:xfrm>
            <a:off x="9939528" y="2487168"/>
            <a:ext cx="1325880" cy="22860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Wait + recheck</a:t>
            </a:r>
            <a:endParaRPr lang="en-US" sz="1150" dirty="0"/>
          </a:p>
        </p:txBody>
      </p:sp>
      <p:sp>
        <p:nvSpPr>
          <p:cNvPr id="28" name="Text 26"/>
          <p:cNvSpPr txBox="1"/>
          <p:nvPr/>
        </p:nvSpPr>
        <p:spPr>
          <a:xfrm>
            <a:off x="548640" y="3520440"/>
            <a:ext cx="3566160" cy="201168"/>
          </a:xfrm>
          <a:prstGeom prst="rect">
            <a:avLst/>
          </a:prstGeom>
          <a:noFill/>
          <a:ln/>
        </p:spPr>
        <p:txBody>
          <a:bodyPr wrap="square" lIns="0" tIns="0" rIns="0" bIns="0" rtlCol="0" anchor="ctr">
            <a:normAutofit/>
          </a:bodyPr>
          <a:lstStyle/>
          <a:p>
            <a:pPr algn="l" indent="0" marL="0">
              <a:buNone/>
            </a:pPr>
            <a:r>
              <a:rPr lang="en-US" sz="900" b="1" spc="120" kern="0" dirty="0">
                <a:solidFill>
                  <a:srgbClr val="36D6BD"/>
                </a:solidFill>
                <a:latin typeface="Aptos" pitchFamily="34" charset="0"/>
                <a:ea typeface="Aptos" pitchFamily="34" charset="-122"/>
                <a:cs typeface="Aptos" pitchFamily="34" charset="-120"/>
              </a:rPr>
              <a:t>SIGNAL DESK — ONE SWEEP, NO PROMPT</a:t>
            </a:r>
            <a:endParaRPr lang="en-US" sz="900" dirty="0"/>
          </a:p>
        </p:txBody>
      </p:sp>
      <p:sp>
        <p:nvSpPr>
          <p:cNvPr id="29" name="Shape 27"/>
          <p:cNvSpPr/>
          <p:nvPr/>
        </p:nvSpPr>
        <p:spPr>
          <a:xfrm>
            <a:off x="548640" y="3931920"/>
            <a:ext cx="1572768" cy="914400"/>
          </a:xfrm>
          <a:prstGeom prst="roundRect">
            <a:avLst>
              <a:gd name="adj" fmla="val 16000"/>
            </a:avLst>
          </a:prstGeom>
          <a:solidFill>
            <a:srgbClr val="FFFFFF"/>
          </a:solidFill>
          <a:ln w="12700">
            <a:solidFill>
              <a:srgbClr val="D9E2EC"/>
            </a:solidFill>
            <a:prstDash val="solid"/>
          </a:ln>
        </p:spPr>
      </p:sp>
      <p:sp>
        <p:nvSpPr>
          <p:cNvPr id="30" name="Text 28"/>
          <p:cNvSpPr txBox="1"/>
          <p:nvPr/>
        </p:nvSpPr>
        <p:spPr>
          <a:xfrm>
            <a:off x="667512" y="4059936"/>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01</a:t>
            </a:r>
            <a:endParaRPr lang="en-US" sz="900" dirty="0"/>
          </a:p>
        </p:txBody>
      </p:sp>
      <p:sp>
        <p:nvSpPr>
          <p:cNvPr id="31" name="Text 29"/>
          <p:cNvSpPr txBox="1"/>
          <p:nvPr/>
        </p:nvSpPr>
        <p:spPr>
          <a:xfrm>
            <a:off x="658368" y="4297680"/>
            <a:ext cx="1353312" cy="32004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Load the feeds</a:t>
            </a:r>
            <a:endParaRPr lang="en-US" sz="1150" dirty="0"/>
          </a:p>
        </p:txBody>
      </p:sp>
      <p:sp>
        <p:nvSpPr>
          <p:cNvPr id="32" name="Text 30"/>
          <p:cNvSpPr txBox="1"/>
          <p:nvPr/>
        </p:nvSpPr>
        <p:spPr>
          <a:xfrm>
            <a:off x="2167128" y="4206240"/>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1769E0"/>
                </a:solidFill>
                <a:latin typeface="Aptos" pitchFamily="34" charset="0"/>
                <a:ea typeface="Aptos" pitchFamily="34" charset="-122"/>
                <a:cs typeface="Aptos" pitchFamily="34" charset="-120"/>
              </a:rPr>
              <a:t>→</a:t>
            </a:r>
            <a:endParaRPr lang="en-US" sz="1600" dirty="0"/>
          </a:p>
        </p:txBody>
      </p:sp>
      <p:sp>
        <p:nvSpPr>
          <p:cNvPr id="33" name="Shape 31"/>
          <p:cNvSpPr/>
          <p:nvPr/>
        </p:nvSpPr>
        <p:spPr>
          <a:xfrm>
            <a:off x="2404872" y="3931920"/>
            <a:ext cx="1572768" cy="914400"/>
          </a:xfrm>
          <a:prstGeom prst="roundRect">
            <a:avLst>
              <a:gd name="adj" fmla="val 16000"/>
            </a:avLst>
          </a:prstGeom>
          <a:solidFill>
            <a:srgbClr val="FFFFFF"/>
          </a:solidFill>
          <a:ln w="12700">
            <a:solidFill>
              <a:srgbClr val="D9E2EC"/>
            </a:solidFill>
            <a:prstDash val="solid"/>
          </a:ln>
        </p:spPr>
      </p:sp>
      <p:sp>
        <p:nvSpPr>
          <p:cNvPr id="34" name="Text 32"/>
          <p:cNvSpPr txBox="1"/>
          <p:nvPr/>
        </p:nvSpPr>
        <p:spPr>
          <a:xfrm>
            <a:off x="2523744" y="4059936"/>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02</a:t>
            </a:r>
            <a:endParaRPr lang="en-US" sz="900" dirty="0"/>
          </a:p>
        </p:txBody>
      </p:sp>
      <p:sp>
        <p:nvSpPr>
          <p:cNvPr id="35" name="Text 33"/>
          <p:cNvSpPr txBox="1"/>
          <p:nvPr/>
        </p:nvSpPr>
        <p:spPr>
          <a:xfrm>
            <a:off x="2514600" y="4297680"/>
            <a:ext cx="1353312" cy="32004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Score metrics</a:t>
            </a:r>
            <a:endParaRPr lang="en-US" sz="1150" dirty="0"/>
          </a:p>
        </p:txBody>
      </p:sp>
      <p:sp>
        <p:nvSpPr>
          <p:cNvPr id="36" name="Text 34"/>
          <p:cNvSpPr txBox="1"/>
          <p:nvPr/>
        </p:nvSpPr>
        <p:spPr>
          <a:xfrm>
            <a:off x="4023360" y="4206240"/>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1769E0"/>
                </a:solidFill>
                <a:latin typeface="Aptos" pitchFamily="34" charset="0"/>
                <a:ea typeface="Aptos" pitchFamily="34" charset="-122"/>
                <a:cs typeface="Aptos" pitchFamily="34" charset="-120"/>
              </a:rPr>
              <a:t>→</a:t>
            </a:r>
            <a:endParaRPr lang="en-US" sz="1600" dirty="0"/>
          </a:p>
        </p:txBody>
      </p:sp>
      <p:sp>
        <p:nvSpPr>
          <p:cNvPr id="37" name="Shape 35"/>
          <p:cNvSpPr/>
          <p:nvPr/>
        </p:nvSpPr>
        <p:spPr>
          <a:xfrm>
            <a:off x="4261104" y="3931920"/>
            <a:ext cx="1572768" cy="914400"/>
          </a:xfrm>
          <a:prstGeom prst="roundRect">
            <a:avLst>
              <a:gd name="adj" fmla="val 16000"/>
            </a:avLst>
          </a:prstGeom>
          <a:solidFill>
            <a:srgbClr val="FFFFFF"/>
          </a:solidFill>
          <a:ln w="12700">
            <a:solidFill>
              <a:srgbClr val="D9E2EC"/>
            </a:solidFill>
            <a:prstDash val="solid"/>
          </a:ln>
        </p:spPr>
      </p:sp>
      <p:sp>
        <p:nvSpPr>
          <p:cNvPr id="38" name="Text 36"/>
          <p:cNvSpPr txBox="1"/>
          <p:nvPr/>
        </p:nvSpPr>
        <p:spPr>
          <a:xfrm>
            <a:off x="4379976" y="4059936"/>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03</a:t>
            </a:r>
            <a:endParaRPr lang="en-US" sz="900" dirty="0"/>
          </a:p>
        </p:txBody>
      </p:sp>
      <p:sp>
        <p:nvSpPr>
          <p:cNvPr id="39" name="Text 37"/>
          <p:cNvSpPr txBox="1"/>
          <p:nvPr/>
        </p:nvSpPr>
        <p:spPr>
          <a:xfrm>
            <a:off x="4370832" y="4297680"/>
            <a:ext cx="1353312" cy="32004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Rank findings</a:t>
            </a:r>
            <a:endParaRPr lang="en-US" sz="1150" dirty="0"/>
          </a:p>
        </p:txBody>
      </p:sp>
      <p:sp>
        <p:nvSpPr>
          <p:cNvPr id="40" name="Text 38"/>
          <p:cNvSpPr txBox="1"/>
          <p:nvPr/>
        </p:nvSpPr>
        <p:spPr>
          <a:xfrm>
            <a:off x="5879592" y="4206240"/>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1769E0"/>
                </a:solidFill>
                <a:latin typeface="Aptos" pitchFamily="34" charset="0"/>
                <a:ea typeface="Aptos" pitchFamily="34" charset="-122"/>
                <a:cs typeface="Aptos" pitchFamily="34" charset="-120"/>
              </a:rPr>
              <a:t>→</a:t>
            </a:r>
            <a:endParaRPr lang="en-US" sz="1600" dirty="0"/>
          </a:p>
        </p:txBody>
      </p:sp>
      <p:sp>
        <p:nvSpPr>
          <p:cNvPr id="41" name="Shape 39"/>
          <p:cNvSpPr/>
          <p:nvPr/>
        </p:nvSpPr>
        <p:spPr>
          <a:xfrm>
            <a:off x="6117336" y="3931920"/>
            <a:ext cx="1572768" cy="914400"/>
          </a:xfrm>
          <a:prstGeom prst="roundRect">
            <a:avLst>
              <a:gd name="adj" fmla="val 16000"/>
            </a:avLst>
          </a:prstGeom>
          <a:solidFill>
            <a:srgbClr val="E9F7F3"/>
          </a:solidFill>
          <a:ln w="12700">
            <a:solidFill>
              <a:srgbClr val="36D6BD"/>
            </a:solidFill>
            <a:prstDash val="solid"/>
          </a:ln>
        </p:spPr>
      </p:sp>
      <p:sp>
        <p:nvSpPr>
          <p:cNvPr id="42" name="Text 40"/>
          <p:cNvSpPr txBox="1"/>
          <p:nvPr/>
        </p:nvSpPr>
        <p:spPr>
          <a:xfrm>
            <a:off x="6236208" y="4059936"/>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04</a:t>
            </a:r>
            <a:endParaRPr lang="en-US" sz="900" dirty="0"/>
          </a:p>
        </p:txBody>
      </p:sp>
      <p:sp>
        <p:nvSpPr>
          <p:cNvPr id="43" name="Text 41"/>
          <p:cNvSpPr txBox="1"/>
          <p:nvPr/>
        </p:nvSpPr>
        <p:spPr>
          <a:xfrm>
            <a:off x="6227064" y="4297680"/>
            <a:ext cx="1353312" cy="32004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Write the brief</a:t>
            </a:r>
            <a:endParaRPr lang="en-US" sz="1150" dirty="0"/>
          </a:p>
        </p:txBody>
      </p:sp>
      <p:sp>
        <p:nvSpPr>
          <p:cNvPr id="44" name="Text 42"/>
          <p:cNvSpPr txBox="1"/>
          <p:nvPr/>
        </p:nvSpPr>
        <p:spPr>
          <a:xfrm>
            <a:off x="7735824" y="4206240"/>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1769E0"/>
                </a:solidFill>
                <a:latin typeface="Aptos" pitchFamily="34" charset="0"/>
                <a:ea typeface="Aptos" pitchFamily="34" charset="-122"/>
                <a:cs typeface="Aptos" pitchFamily="34" charset="-120"/>
              </a:rPr>
              <a:t>→</a:t>
            </a:r>
            <a:endParaRPr lang="en-US" sz="1600" dirty="0"/>
          </a:p>
        </p:txBody>
      </p:sp>
      <p:sp>
        <p:nvSpPr>
          <p:cNvPr id="45" name="Shape 43"/>
          <p:cNvSpPr/>
          <p:nvPr/>
        </p:nvSpPr>
        <p:spPr>
          <a:xfrm>
            <a:off x="7973568" y="3931920"/>
            <a:ext cx="1572768" cy="914400"/>
          </a:xfrm>
          <a:prstGeom prst="roundRect">
            <a:avLst>
              <a:gd name="adj" fmla="val 16000"/>
            </a:avLst>
          </a:prstGeom>
          <a:solidFill>
            <a:srgbClr val="FFFFFF"/>
          </a:solidFill>
          <a:ln w="12700">
            <a:solidFill>
              <a:srgbClr val="D9E2EC"/>
            </a:solidFill>
            <a:prstDash val="solid"/>
          </a:ln>
        </p:spPr>
      </p:sp>
      <p:sp>
        <p:nvSpPr>
          <p:cNvPr id="46" name="Text 44"/>
          <p:cNvSpPr txBox="1"/>
          <p:nvPr/>
        </p:nvSpPr>
        <p:spPr>
          <a:xfrm>
            <a:off x="8092440" y="4059936"/>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05</a:t>
            </a:r>
            <a:endParaRPr lang="en-US" sz="900" dirty="0"/>
          </a:p>
        </p:txBody>
      </p:sp>
      <p:sp>
        <p:nvSpPr>
          <p:cNvPr id="47" name="Text 45"/>
          <p:cNvSpPr txBox="1"/>
          <p:nvPr/>
        </p:nvSpPr>
        <p:spPr>
          <a:xfrm>
            <a:off x="8083296" y="4297680"/>
            <a:ext cx="1353312" cy="32004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Slack + email</a:t>
            </a:r>
            <a:endParaRPr lang="en-US" sz="1150" dirty="0"/>
          </a:p>
        </p:txBody>
      </p:sp>
      <p:sp>
        <p:nvSpPr>
          <p:cNvPr id="48" name="Text 46"/>
          <p:cNvSpPr txBox="1"/>
          <p:nvPr/>
        </p:nvSpPr>
        <p:spPr>
          <a:xfrm>
            <a:off x="9592056" y="4206240"/>
            <a:ext cx="201168" cy="228600"/>
          </a:xfrm>
          <a:prstGeom prst="rect">
            <a:avLst/>
          </a:prstGeom>
          <a:noFill/>
          <a:ln/>
        </p:spPr>
        <p:txBody>
          <a:bodyPr wrap="square" lIns="0" tIns="0" rIns="0" bIns="0" rtlCol="0" anchor="ctr">
            <a:normAutofit/>
          </a:bodyPr>
          <a:lstStyle/>
          <a:p>
            <a:pPr algn="ctr" indent="0" marL="0">
              <a:buNone/>
            </a:pPr>
            <a:r>
              <a:rPr lang="en-US" sz="1600" b="1" dirty="0">
                <a:solidFill>
                  <a:srgbClr val="1769E0"/>
                </a:solidFill>
                <a:latin typeface="Aptos" pitchFamily="34" charset="0"/>
                <a:ea typeface="Aptos" pitchFamily="34" charset="-122"/>
                <a:cs typeface="Aptos" pitchFamily="34" charset="-120"/>
              </a:rPr>
              <a:t>→</a:t>
            </a:r>
            <a:endParaRPr lang="en-US" sz="1600" dirty="0"/>
          </a:p>
        </p:txBody>
      </p:sp>
      <p:sp>
        <p:nvSpPr>
          <p:cNvPr id="49" name="Shape 47"/>
          <p:cNvSpPr/>
          <p:nvPr/>
        </p:nvSpPr>
        <p:spPr>
          <a:xfrm>
            <a:off x="9829800" y="3931920"/>
            <a:ext cx="1572768" cy="914400"/>
          </a:xfrm>
          <a:prstGeom prst="roundRect">
            <a:avLst>
              <a:gd name="adj" fmla="val 16000"/>
            </a:avLst>
          </a:prstGeom>
          <a:solidFill>
            <a:srgbClr val="FFFFFF"/>
          </a:solidFill>
          <a:ln w="12700">
            <a:solidFill>
              <a:srgbClr val="D9E2EC"/>
            </a:solidFill>
            <a:prstDash val="solid"/>
          </a:ln>
        </p:spPr>
      </p:sp>
      <p:sp>
        <p:nvSpPr>
          <p:cNvPr id="50" name="Text 48"/>
          <p:cNvSpPr txBox="1"/>
          <p:nvPr/>
        </p:nvSpPr>
        <p:spPr>
          <a:xfrm>
            <a:off x="9948672" y="4059936"/>
            <a:ext cx="32004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06</a:t>
            </a:r>
            <a:endParaRPr lang="en-US" sz="900" dirty="0"/>
          </a:p>
        </p:txBody>
      </p:sp>
      <p:sp>
        <p:nvSpPr>
          <p:cNvPr id="51" name="Text 49"/>
          <p:cNvSpPr txBox="1"/>
          <p:nvPr/>
        </p:nvSpPr>
        <p:spPr>
          <a:xfrm>
            <a:off x="9939528" y="4297680"/>
            <a:ext cx="1353312" cy="320040"/>
          </a:xfrm>
          <a:prstGeom prst="rect">
            <a:avLst/>
          </a:prstGeom>
          <a:noFill/>
          <a:ln/>
        </p:spPr>
        <p:txBody>
          <a:bodyPr wrap="square" lIns="0" tIns="0" rIns="0" bIns="0" rtlCol="0" anchor="ctr">
            <a:normAutofit/>
          </a:bodyPr>
          <a:lstStyle/>
          <a:p>
            <a:pPr algn="l" indent="0" marL="0">
              <a:buNone/>
            </a:pPr>
            <a:r>
              <a:rPr lang="en-US" sz="1150" b="1" dirty="0">
                <a:solidFill>
                  <a:srgbClr val="0E1B2A"/>
                </a:solidFill>
                <a:latin typeface="Aptos" pitchFamily="34" charset="0"/>
                <a:ea typeface="Aptos" pitchFamily="34" charset="-122"/>
                <a:cs typeface="Aptos" pitchFamily="34" charset="-120"/>
              </a:rPr>
              <a:t>Log the SQL</a:t>
            </a:r>
            <a:endParaRPr lang="en-US" sz="1150" dirty="0"/>
          </a:p>
        </p:txBody>
      </p:sp>
      <p:sp>
        <p:nvSpPr>
          <p:cNvPr id="52" name="Shape 50"/>
          <p:cNvSpPr/>
          <p:nvPr/>
        </p:nvSpPr>
        <p:spPr>
          <a:xfrm>
            <a:off x="548640" y="5303520"/>
            <a:ext cx="11064240" cy="594360"/>
          </a:xfrm>
          <a:prstGeom prst="roundRect">
            <a:avLst>
              <a:gd name="adj" fmla="val 24615"/>
            </a:avLst>
          </a:prstGeom>
          <a:solidFill>
            <a:srgbClr val="0E1B2A"/>
          </a:solidFill>
          <a:ln w="12700">
            <a:solidFill>
              <a:srgbClr val="0E1B2A"/>
            </a:solidFill>
            <a:prstDash val="solid"/>
          </a:ln>
        </p:spPr>
      </p:sp>
      <p:sp>
        <p:nvSpPr>
          <p:cNvPr id="53" name="Text 51"/>
          <p:cNvSpPr txBox="1"/>
          <p:nvPr/>
        </p:nvSpPr>
        <p:spPr>
          <a:xfrm>
            <a:off x="777240" y="5468112"/>
            <a:ext cx="1508760" cy="164592"/>
          </a:xfrm>
          <a:prstGeom prst="rect">
            <a:avLst/>
          </a:prstGeom>
          <a:noFill/>
          <a:ln/>
        </p:spPr>
        <p:txBody>
          <a:bodyPr wrap="square" lIns="0" tIns="0" rIns="0" bIns="0" rtlCol="0" anchor="ctr">
            <a:normAutofit/>
          </a:bodyPr>
          <a:lstStyle/>
          <a:p>
            <a:pPr algn="l" indent="0" marL="0">
              <a:buNone/>
            </a:pPr>
            <a:r>
              <a:rPr lang="en-US" sz="1000" b="1" dirty="0">
                <a:solidFill>
                  <a:srgbClr val="36D6BD"/>
                </a:solidFill>
                <a:latin typeface="Aptos" pitchFamily="34" charset="0"/>
                <a:ea typeface="Aptos" pitchFamily="34" charset="-122"/>
                <a:cs typeface="Aptos" pitchFamily="34" charset="-120"/>
              </a:rPr>
              <a:t>The one rule:</a:t>
            </a:r>
            <a:endParaRPr lang="en-US" sz="1000" dirty="0"/>
          </a:p>
        </p:txBody>
      </p:sp>
      <p:sp>
        <p:nvSpPr>
          <p:cNvPr id="54" name="Text 52"/>
          <p:cNvSpPr txBox="1"/>
          <p:nvPr/>
        </p:nvSpPr>
        <p:spPr>
          <a:xfrm>
            <a:off x="2212848" y="5431536"/>
            <a:ext cx="7955280" cy="2286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The model never computes a number and never writes SQL — a test enforces it.</a:t>
            </a:r>
            <a:endParaRPr lang="en-US" sz="14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04 — ARCHITECTURE</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One process, four stages, one hard seam.</a:t>
            </a:r>
            <a:endParaRPr lang="en-US" sz="2800" dirty="0"/>
          </a:p>
        </p:txBody>
      </p:sp>
      <p:sp>
        <p:nvSpPr>
          <p:cNvPr id="4" name="Shape 2"/>
          <p:cNvSpPr/>
          <p:nvPr/>
        </p:nvSpPr>
        <p:spPr>
          <a:xfrm>
            <a:off x="594360" y="1993392"/>
            <a:ext cx="2514600" cy="2011680"/>
          </a:xfrm>
          <a:prstGeom prst="roundRect">
            <a:avLst>
              <a:gd name="adj" fmla="val 7273"/>
            </a:avLst>
          </a:prstGeom>
          <a:solidFill>
            <a:srgbClr val="FFFFFF"/>
          </a:solidFill>
          <a:ln w="12700">
            <a:solidFill>
              <a:srgbClr val="D9E2EC"/>
            </a:solidFill>
            <a:prstDash val="solid"/>
          </a:ln>
        </p:spPr>
      </p:sp>
      <p:sp>
        <p:nvSpPr>
          <p:cNvPr id="5" name="Shape 3"/>
          <p:cNvSpPr/>
          <p:nvPr/>
        </p:nvSpPr>
        <p:spPr>
          <a:xfrm>
            <a:off x="777240" y="2194560"/>
            <a:ext cx="438912" cy="256032"/>
          </a:xfrm>
          <a:prstGeom prst="roundRect">
            <a:avLst>
              <a:gd name="adj" fmla="val 50000"/>
            </a:avLst>
          </a:prstGeom>
          <a:solidFill>
            <a:srgbClr val="1769E0"/>
          </a:solidFill>
          <a:ln w="12700">
            <a:solidFill>
              <a:srgbClr val="1769E0"/>
            </a:solidFill>
            <a:prstDash val="solid"/>
          </a:ln>
        </p:spPr>
      </p:sp>
      <p:sp>
        <p:nvSpPr>
          <p:cNvPr id="6" name="Text 4"/>
          <p:cNvSpPr txBox="1"/>
          <p:nvPr/>
        </p:nvSpPr>
        <p:spPr>
          <a:xfrm>
            <a:off x="850392" y="2203704"/>
            <a:ext cx="292608"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7" name="Text 5"/>
          <p:cNvSpPr txBox="1"/>
          <p:nvPr/>
        </p:nvSpPr>
        <p:spPr>
          <a:xfrm>
            <a:off x="777240" y="2651760"/>
            <a:ext cx="210312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1769E0"/>
                </a:solidFill>
                <a:latin typeface="Aptos" pitchFamily="34" charset="0"/>
                <a:ea typeface="Aptos" pitchFamily="34" charset="-122"/>
                <a:cs typeface="Aptos" pitchFamily="34" charset="-120"/>
              </a:rPr>
              <a:t>SENSE</a:t>
            </a:r>
            <a:endParaRPr lang="en-US" sz="1000" dirty="0"/>
          </a:p>
        </p:txBody>
      </p:sp>
      <p:sp>
        <p:nvSpPr>
          <p:cNvPr id="8" name="Text 6"/>
          <p:cNvSpPr txBox="1"/>
          <p:nvPr/>
        </p:nvSpPr>
        <p:spPr>
          <a:xfrm>
            <a:off x="777240" y="2999232"/>
            <a:ext cx="2103120" cy="320040"/>
          </a:xfrm>
          <a:prstGeom prst="rect">
            <a:avLst/>
          </a:prstGeom>
          <a:noFill/>
          <a:ln/>
        </p:spPr>
        <p:txBody>
          <a:bodyPr wrap="square" lIns="0" tIns="0" rIns="0" bIns="0" rtlCol="0" anchor="ctr">
            <a:normAutofit/>
          </a:bodyPr>
          <a:lstStyle/>
          <a:p>
            <a:pPr algn="l" indent="0" marL="0">
              <a:buNone/>
            </a:pPr>
            <a:r>
              <a:rPr lang="en-US" sz="1700" b="1" dirty="0">
                <a:solidFill>
                  <a:srgbClr val="0E1B2A"/>
                </a:solidFill>
                <a:latin typeface="Aptos" pitchFamily="34" charset="0"/>
                <a:ea typeface="Aptos" pitchFamily="34" charset="-122"/>
                <a:cs typeface="Aptos" pitchFamily="34" charset="-120"/>
              </a:rPr>
              <a:t>Load + measure</a:t>
            </a:r>
            <a:endParaRPr lang="en-US" sz="1700" dirty="0"/>
          </a:p>
        </p:txBody>
      </p:sp>
      <p:sp>
        <p:nvSpPr>
          <p:cNvPr id="9" name="Text 7"/>
          <p:cNvSpPr txBox="1"/>
          <p:nvPr/>
        </p:nvSpPr>
        <p:spPr>
          <a:xfrm>
            <a:off x="777240" y="3438144"/>
            <a:ext cx="205740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DuckDB in-process • the provided feeds • SQL lives here</a:t>
            </a:r>
            <a:endParaRPr lang="en-US" sz="1050" dirty="0"/>
          </a:p>
        </p:txBody>
      </p:sp>
      <p:sp>
        <p:nvSpPr>
          <p:cNvPr id="10" name="Text 8"/>
          <p:cNvSpPr txBox="1"/>
          <p:nvPr/>
        </p:nvSpPr>
        <p:spPr>
          <a:xfrm>
            <a:off x="3118104" y="2743200"/>
            <a:ext cx="320040" cy="274320"/>
          </a:xfrm>
          <a:prstGeom prst="rect">
            <a:avLst/>
          </a:prstGeom>
          <a:noFill/>
          <a:ln/>
        </p:spPr>
        <p:txBody>
          <a:bodyPr wrap="square" lIns="0" tIns="0" rIns="0" bIns="0" rtlCol="0" anchor="ctr">
            <a:normAutofit/>
          </a:bodyPr>
          <a:lstStyle/>
          <a:p>
            <a:pPr algn="ctr" indent="0" marL="0">
              <a:buNone/>
            </a:pPr>
            <a:r>
              <a:rPr lang="en-US" sz="2400" b="1" dirty="0">
                <a:solidFill>
                  <a:srgbClr val="0E1B2A"/>
                </a:solidFill>
                <a:latin typeface="Aptos" pitchFamily="34" charset="0"/>
                <a:ea typeface="Aptos" pitchFamily="34" charset="-122"/>
                <a:cs typeface="Aptos" pitchFamily="34" charset="-120"/>
              </a:rPr>
              <a:t>→</a:t>
            </a:r>
            <a:endParaRPr lang="en-US" sz="2400" dirty="0"/>
          </a:p>
        </p:txBody>
      </p:sp>
      <p:sp>
        <p:nvSpPr>
          <p:cNvPr id="11" name="Shape 9"/>
          <p:cNvSpPr/>
          <p:nvPr/>
        </p:nvSpPr>
        <p:spPr>
          <a:xfrm>
            <a:off x="3474720" y="1993392"/>
            <a:ext cx="2514600" cy="2011680"/>
          </a:xfrm>
          <a:prstGeom prst="roundRect">
            <a:avLst>
              <a:gd name="adj" fmla="val 7273"/>
            </a:avLst>
          </a:prstGeom>
          <a:solidFill>
            <a:srgbClr val="FFFFFF"/>
          </a:solidFill>
          <a:ln w="12700">
            <a:solidFill>
              <a:srgbClr val="D9E2EC"/>
            </a:solidFill>
            <a:prstDash val="solid"/>
          </a:ln>
        </p:spPr>
      </p:sp>
      <p:sp>
        <p:nvSpPr>
          <p:cNvPr id="12" name="Shape 10"/>
          <p:cNvSpPr/>
          <p:nvPr/>
        </p:nvSpPr>
        <p:spPr>
          <a:xfrm>
            <a:off x="3657600" y="2194560"/>
            <a:ext cx="438912" cy="256032"/>
          </a:xfrm>
          <a:prstGeom prst="roundRect">
            <a:avLst>
              <a:gd name="adj" fmla="val 50000"/>
            </a:avLst>
          </a:prstGeom>
          <a:solidFill>
            <a:srgbClr val="6C4CE6"/>
          </a:solidFill>
          <a:ln w="12700">
            <a:solidFill>
              <a:srgbClr val="6C4CE6"/>
            </a:solidFill>
            <a:prstDash val="solid"/>
          </a:ln>
        </p:spPr>
      </p:sp>
      <p:sp>
        <p:nvSpPr>
          <p:cNvPr id="13" name="Text 11"/>
          <p:cNvSpPr txBox="1"/>
          <p:nvPr/>
        </p:nvSpPr>
        <p:spPr>
          <a:xfrm>
            <a:off x="3730752" y="2203704"/>
            <a:ext cx="292608"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14" name="Text 12"/>
          <p:cNvSpPr txBox="1"/>
          <p:nvPr/>
        </p:nvSpPr>
        <p:spPr>
          <a:xfrm>
            <a:off x="3657600" y="2651760"/>
            <a:ext cx="210312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6C4CE6"/>
                </a:solidFill>
                <a:latin typeface="Aptos" pitchFamily="34" charset="0"/>
                <a:ea typeface="Aptos" pitchFamily="34" charset="-122"/>
                <a:cs typeface="Aptos" pitchFamily="34" charset="-120"/>
              </a:rPr>
              <a:t>REASON</a:t>
            </a:r>
            <a:endParaRPr lang="en-US" sz="1000" dirty="0"/>
          </a:p>
        </p:txBody>
      </p:sp>
      <p:sp>
        <p:nvSpPr>
          <p:cNvPr id="15" name="Text 13"/>
          <p:cNvSpPr txBox="1"/>
          <p:nvPr/>
        </p:nvSpPr>
        <p:spPr>
          <a:xfrm>
            <a:off x="3657600" y="2999232"/>
            <a:ext cx="2103120" cy="320040"/>
          </a:xfrm>
          <a:prstGeom prst="rect">
            <a:avLst/>
          </a:prstGeom>
          <a:noFill/>
          <a:ln/>
        </p:spPr>
        <p:txBody>
          <a:bodyPr wrap="square" lIns="0" tIns="0" rIns="0" bIns="0" rtlCol="0" anchor="ctr">
            <a:normAutofit/>
          </a:bodyPr>
          <a:lstStyle/>
          <a:p>
            <a:pPr algn="l" indent="0" marL="0">
              <a:buNone/>
            </a:pPr>
            <a:r>
              <a:rPr lang="en-US" sz="1700" b="1" dirty="0">
                <a:solidFill>
                  <a:srgbClr val="0E1B2A"/>
                </a:solidFill>
                <a:latin typeface="Aptos" pitchFamily="34" charset="0"/>
                <a:ea typeface="Aptos" pitchFamily="34" charset="-122"/>
                <a:cs typeface="Aptos" pitchFamily="34" charset="-120"/>
              </a:rPr>
              <a:t>Pure rules</a:t>
            </a:r>
            <a:endParaRPr lang="en-US" sz="1700" dirty="0"/>
          </a:p>
        </p:txBody>
      </p:sp>
      <p:sp>
        <p:nvSpPr>
          <p:cNvPr id="16" name="Text 14"/>
          <p:cNvSpPr txBox="1"/>
          <p:nvPr/>
        </p:nvSpPr>
        <p:spPr>
          <a:xfrm>
            <a:off x="3657600" y="3438144"/>
            <a:ext cx="205740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Trend + peer + target • four tiers • no I/O, no model</a:t>
            </a:r>
            <a:endParaRPr lang="en-US" sz="1050" dirty="0"/>
          </a:p>
        </p:txBody>
      </p:sp>
      <p:sp>
        <p:nvSpPr>
          <p:cNvPr id="17" name="Text 15"/>
          <p:cNvSpPr txBox="1"/>
          <p:nvPr/>
        </p:nvSpPr>
        <p:spPr>
          <a:xfrm>
            <a:off x="5998464" y="2743200"/>
            <a:ext cx="320040" cy="274320"/>
          </a:xfrm>
          <a:prstGeom prst="rect">
            <a:avLst/>
          </a:prstGeom>
          <a:noFill/>
          <a:ln/>
        </p:spPr>
        <p:txBody>
          <a:bodyPr wrap="square" lIns="0" tIns="0" rIns="0" bIns="0" rtlCol="0" anchor="ctr">
            <a:normAutofit/>
          </a:bodyPr>
          <a:lstStyle/>
          <a:p>
            <a:pPr algn="ctr" indent="0" marL="0">
              <a:buNone/>
            </a:pPr>
            <a:r>
              <a:rPr lang="en-US" sz="2400" b="1" dirty="0">
                <a:solidFill>
                  <a:srgbClr val="0E1B2A"/>
                </a:solidFill>
                <a:latin typeface="Aptos" pitchFamily="34" charset="0"/>
                <a:ea typeface="Aptos" pitchFamily="34" charset="-122"/>
                <a:cs typeface="Aptos" pitchFamily="34" charset="-120"/>
              </a:rPr>
              <a:t>→</a:t>
            </a:r>
            <a:endParaRPr lang="en-US" sz="2400" dirty="0"/>
          </a:p>
        </p:txBody>
      </p:sp>
      <p:sp>
        <p:nvSpPr>
          <p:cNvPr id="18" name="Shape 16"/>
          <p:cNvSpPr/>
          <p:nvPr/>
        </p:nvSpPr>
        <p:spPr>
          <a:xfrm>
            <a:off x="6355080" y="1993392"/>
            <a:ext cx="2514600" cy="2011680"/>
          </a:xfrm>
          <a:prstGeom prst="roundRect">
            <a:avLst>
              <a:gd name="adj" fmla="val 7273"/>
            </a:avLst>
          </a:prstGeom>
          <a:solidFill>
            <a:srgbClr val="FFFFFF"/>
          </a:solidFill>
          <a:ln w="12700">
            <a:solidFill>
              <a:srgbClr val="D9E2EC"/>
            </a:solidFill>
            <a:prstDash val="solid"/>
          </a:ln>
        </p:spPr>
      </p:sp>
      <p:sp>
        <p:nvSpPr>
          <p:cNvPr id="19" name="Shape 17"/>
          <p:cNvSpPr/>
          <p:nvPr/>
        </p:nvSpPr>
        <p:spPr>
          <a:xfrm>
            <a:off x="6537960" y="2194560"/>
            <a:ext cx="438912" cy="256032"/>
          </a:xfrm>
          <a:prstGeom prst="roundRect">
            <a:avLst>
              <a:gd name="adj" fmla="val 50000"/>
            </a:avLst>
          </a:prstGeom>
          <a:solidFill>
            <a:srgbClr val="36D6BD"/>
          </a:solidFill>
          <a:ln w="12700">
            <a:solidFill>
              <a:srgbClr val="36D6BD"/>
            </a:solidFill>
            <a:prstDash val="solid"/>
          </a:ln>
        </p:spPr>
      </p:sp>
      <p:sp>
        <p:nvSpPr>
          <p:cNvPr id="20" name="Text 18"/>
          <p:cNvSpPr txBox="1"/>
          <p:nvPr/>
        </p:nvSpPr>
        <p:spPr>
          <a:xfrm>
            <a:off x="6611112" y="2203704"/>
            <a:ext cx="292608"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21" name="Text 19"/>
          <p:cNvSpPr txBox="1"/>
          <p:nvPr/>
        </p:nvSpPr>
        <p:spPr>
          <a:xfrm>
            <a:off x="6537960" y="2651760"/>
            <a:ext cx="210312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36D6BD"/>
                </a:solidFill>
                <a:latin typeface="Aptos" pitchFamily="34" charset="0"/>
                <a:ea typeface="Aptos" pitchFamily="34" charset="-122"/>
                <a:cs typeface="Aptos" pitchFamily="34" charset="-120"/>
              </a:rPr>
              <a:t>COMPOSE</a:t>
            </a:r>
            <a:endParaRPr lang="en-US" sz="1000" dirty="0"/>
          </a:p>
        </p:txBody>
      </p:sp>
      <p:sp>
        <p:nvSpPr>
          <p:cNvPr id="22" name="Text 20"/>
          <p:cNvSpPr txBox="1"/>
          <p:nvPr/>
        </p:nvSpPr>
        <p:spPr>
          <a:xfrm>
            <a:off x="6537960" y="2999232"/>
            <a:ext cx="2103120" cy="320040"/>
          </a:xfrm>
          <a:prstGeom prst="rect">
            <a:avLst/>
          </a:prstGeom>
          <a:noFill/>
          <a:ln/>
        </p:spPr>
        <p:txBody>
          <a:bodyPr wrap="square" lIns="0" tIns="0" rIns="0" bIns="0" rtlCol="0" anchor="ctr">
            <a:normAutofit/>
          </a:bodyPr>
          <a:lstStyle/>
          <a:p>
            <a:pPr algn="l" indent="0" marL="0">
              <a:buNone/>
            </a:pPr>
            <a:r>
              <a:rPr lang="en-US" sz="1700" b="1" dirty="0">
                <a:solidFill>
                  <a:srgbClr val="0E1B2A"/>
                </a:solidFill>
                <a:latin typeface="Aptos" pitchFamily="34" charset="0"/>
                <a:ea typeface="Aptos" pitchFamily="34" charset="-122"/>
                <a:cs typeface="Aptos" pitchFamily="34" charset="-120"/>
              </a:rPr>
              <a:t>Language only</a:t>
            </a:r>
            <a:endParaRPr lang="en-US" sz="1700" dirty="0"/>
          </a:p>
        </p:txBody>
      </p:sp>
      <p:sp>
        <p:nvSpPr>
          <p:cNvPr id="23" name="Text 21"/>
          <p:cNvSpPr txBox="1"/>
          <p:nvPr/>
        </p:nvSpPr>
        <p:spPr>
          <a:xfrm>
            <a:off x="6537960" y="3438144"/>
            <a:ext cx="205740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Sarvam sarvam-105b • one call • every figure validated</a:t>
            </a:r>
            <a:endParaRPr lang="en-US" sz="1050" dirty="0"/>
          </a:p>
        </p:txBody>
      </p:sp>
      <p:sp>
        <p:nvSpPr>
          <p:cNvPr id="24" name="Text 22"/>
          <p:cNvSpPr txBox="1"/>
          <p:nvPr/>
        </p:nvSpPr>
        <p:spPr>
          <a:xfrm>
            <a:off x="8878824" y="2743200"/>
            <a:ext cx="320040" cy="274320"/>
          </a:xfrm>
          <a:prstGeom prst="rect">
            <a:avLst/>
          </a:prstGeom>
          <a:noFill/>
          <a:ln/>
        </p:spPr>
        <p:txBody>
          <a:bodyPr wrap="square" lIns="0" tIns="0" rIns="0" bIns="0" rtlCol="0" anchor="ctr">
            <a:normAutofit/>
          </a:bodyPr>
          <a:lstStyle/>
          <a:p>
            <a:pPr algn="ctr" indent="0" marL="0">
              <a:buNone/>
            </a:pPr>
            <a:r>
              <a:rPr lang="en-US" sz="2400" b="1" dirty="0">
                <a:solidFill>
                  <a:srgbClr val="0E1B2A"/>
                </a:solidFill>
                <a:latin typeface="Aptos" pitchFamily="34" charset="0"/>
                <a:ea typeface="Aptos" pitchFamily="34" charset="-122"/>
                <a:cs typeface="Aptos" pitchFamily="34" charset="-120"/>
              </a:rPr>
              <a:t>→</a:t>
            </a:r>
            <a:endParaRPr lang="en-US" sz="2400" dirty="0"/>
          </a:p>
        </p:txBody>
      </p:sp>
      <p:sp>
        <p:nvSpPr>
          <p:cNvPr id="25" name="Shape 23"/>
          <p:cNvSpPr/>
          <p:nvPr/>
        </p:nvSpPr>
        <p:spPr>
          <a:xfrm>
            <a:off x="9235440" y="1993392"/>
            <a:ext cx="2514600" cy="2011680"/>
          </a:xfrm>
          <a:prstGeom prst="roundRect">
            <a:avLst>
              <a:gd name="adj" fmla="val 7273"/>
            </a:avLst>
          </a:prstGeom>
          <a:solidFill>
            <a:srgbClr val="FFFFFF"/>
          </a:solidFill>
          <a:ln w="12700">
            <a:solidFill>
              <a:srgbClr val="D9E2EC"/>
            </a:solidFill>
            <a:prstDash val="solid"/>
          </a:ln>
        </p:spPr>
      </p:sp>
      <p:sp>
        <p:nvSpPr>
          <p:cNvPr id="26" name="Shape 24"/>
          <p:cNvSpPr/>
          <p:nvPr/>
        </p:nvSpPr>
        <p:spPr>
          <a:xfrm>
            <a:off x="9418320" y="2194560"/>
            <a:ext cx="438912" cy="256032"/>
          </a:xfrm>
          <a:prstGeom prst="roundRect">
            <a:avLst>
              <a:gd name="adj" fmla="val 50000"/>
            </a:avLst>
          </a:prstGeom>
          <a:solidFill>
            <a:srgbClr val="16A568"/>
          </a:solidFill>
          <a:ln w="12700">
            <a:solidFill>
              <a:srgbClr val="16A568"/>
            </a:solidFill>
            <a:prstDash val="solid"/>
          </a:ln>
        </p:spPr>
      </p:sp>
      <p:sp>
        <p:nvSpPr>
          <p:cNvPr id="27" name="Text 25"/>
          <p:cNvSpPr txBox="1"/>
          <p:nvPr/>
        </p:nvSpPr>
        <p:spPr>
          <a:xfrm>
            <a:off x="9491472" y="2203704"/>
            <a:ext cx="292608"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04</a:t>
            </a:r>
            <a:endParaRPr lang="en-US" sz="900" dirty="0"/>
          </a:p>
        </p:txBody>
      </p:sp>
      <p:sp>
        <p:nvSpPr>
          <p:cNvPr id="28" name="Text 26"/>
          <p:cNvSpPr txBox="1"/>
          <p:nvPr/>
        </p:nvSpPr>
        <p:spPr>
          <a:xfrm>
            <a:off x="9418320" y="2651760"/>
            <a:ext cx="2103120" cy="228600"/>
          </a:xfrm>
          <a:prstGeom prst="rect">
            <a:avLst/>
          </a:prstGeom>
          <a:noFill/>
          <a:ln/>
        </p:spPr>
        <p:txBody>
          <a:bodyPr wrap="square" lIns="0" tIns="0" rIns="0" bIns="0" rtlCol="0" anchor="ctr">
            <a:normAutofit/>
          </a:bodyPr>
          <a:lstStyle/>
          <a:p>
            <a:pPr algn="l" indent="0" marL="0">
              <a:buNone/>
            </a:pPr>
            <a:r>
              <a:rPr lang="en-US" sz="1000" b="1" spc="100" kern="0" dirty="0">
                <a:solidFill>
                  <a:srgbClr val="16A568"/>
                </a:solidFill>
                <a:latin typeface="Aptos" pitchFamily="34" charset="0"/>
                <a:ea typeface="Aptos" pitchFamily="34" charset="-122"/>
                <a:cs typeface="Aptos" pitchFamily="34" charset="-120"/>
              </a:rPr>
              <a:t>ACT</a:t>
            </a:r>
            <a:endParaRPr lang="en-US" sz="1000" dirty="0"/>
          </a:p>
        </p:txBody>
      </p:sp>
      <p:sp>
        <p:nvSpPr>
          <p:cNvPr id="29" name="Text 27"/>
          <p:cNvSpPr txBox="1"/>
          <p:nvPr/>
        </p:nvSpPr>
        <p:spPr>
          <a:xfrm>
            <a:off x="9418320" y="2999232"/>
            <a:ext cx="2103120" cy="320040"/>
          </a:xfrm>
          <a:prstGeom prst="rect">
            <a:avLst/>
          </a:prstGeom>
          <a:noFill/>
          <a:ln/>
        </p:spPr>
        <p:txBody>
          <a:bodyPr wrap="square" lIns="0" tIns="0" rIns="0" bIns="0" rtlCol="0" anchor="ctr">
            <a:normAutofit/>
          </a:bodyPr>
          <a:lstStyle/>
          <a:p>
            <a:pPr algn="l" indent="0" marL="0">
              <a:buNone/>
            </a:pPr>
            <a:r>
              <a:rPr lang="en-US" sz="1700" b="1" dirty="0">
                <a:solidFill>
                  <a:srgbClr val="0E1B2A"/>
                </a:solidFill>
                <a:latin typeface="Aptos" pitchFamily="34" charset="0"/>
                <a:ea typeface="Aptos" pitchFamily="34" charset="-122"/>
                <a:cs typeface="Aptos" pitchFamily="34" charset="-120"/>
              </a:rPr>
              <a:t>Route + log</a:t>
            </a:r>
            <a:endParaRPr lang="en-US" sz="1700" dirty="0"/>
          </a:p>
        </p:txBody>
      </p:sp>
      <p:sp>
        <p:nvSpPr>
          <p:cNvPr id="30" name="Text 28"/>
          <p:cNvSpPr txBox="1"/>
          <p:nvPr/>
        </p:nvSpPr>
        <p:spPr>
          <a:xfrm>
            <a:off x="9418320" y="3438144"/>
            <a:ext cx="205740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Slack + SES by tier • dispatch log with finding ids</a:t>
            </a:r>
            <a:endParaRPr lang="en-US" sz="1050" dirty="0"/>
          </a:p>
        </p:txBody>
      </p:sp>
      <p:sp>
        <p:nvSpPr>
          <p:cNvPr id="31" name="Shape 29"/>
          <p:cNvSpPr/>
          <p:nvPr/>
        </p:nvSpPr>
        <p:spPr>
          <a:xfrm>
            <a:off x="594360" y="4434840"/>
            <a:ext cx="10972800" cy="1143000"/>
          </a:xfrm>
          <a:prstGeom prst="roundRect">
            <a:avLst>
              <a:gd name="adj" fmla="val 12800"/>
            </a:avLst>
          </a:prstGeom>
          <a:solidFill>
            <a:srgbClr val="0E1B2A"/>
          </a:solidFill>
          <a:ln w="12700">
            <a:solidFill>
              <a:srgbClr val="0E1B2A"/>
            </a:solidFill>
            <a:prstDash val="solid"/>
          </a:ln>
        </p:spPr>
      </p:sp>
      <p:sp>
        <p:nvSpPr>
          <p:cNvPr id="32" name="Text 30"/>
          <p:cNvSpPr txBox="1"/>
          <p:nvPr/>
        </p:nvSpPr>
        <p:spPr>
          <a:xfrm>
            <a:off x="868680" y="4709160"/>
            <a:ext cx="10332720" cy="457200"/>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SQL lives in exactly two modules; the model sees only settled findings.</a:t>
            </a:r>
            <a:endParaRPr lang="en-US" sz="1700" dirty="0"/>
          </a:p>
        </p:txBody>
      </p:sp>
      <p:sp>
        <p:nvSpPr>
          <p:cNvPr id="33" name="Shape 31"/>
          <p:cNvSpPr/>
          <p:nvPr/>
        </p:nvSpPr>
        <p:spPr>
          <a:xfrm>
            <a:off x="4892040" y="5303520"/>
            <a:ext cx="2331720" cy="256032"/>
          </a:xfrm>
          <a:prstGeom prst="roundRect">
            <a:avLst>
              <a:gd name="adj" fmla="val 50000"/>
            </a:avLst>
          </a:prstGeom>
          <a:solidFill>
            <a:srgbClr val="36D6BD"/>
          </a:solidFill>
          <a:ln w="12700">
            <a:solidFill>
              <a:srgbClr val="36D6BD"/>
            </a:solidFill>
            <a:prstDash val="solid"/>
          </a:ln>
        </p:spPr>
      </p:sp>
      <p:sp>
        <p:nvSpPr>
          <p:cNvPr id="34" name="Text 32"/>
          <p:cNvSpPr txBox="1"/>
          <p:nvPr/>
        </p:nvSpPr>
        <p:spPr>
          <a:xfrm>
            <a:off x="4965192" y="5312664"/>
            <a:ext cx="2185416" cy="219456"/>
          </a:xfrm>
          <a:prstGeom prst="rect">
            <a:avLst/>
          </a:prstGeom>
          <a:noFill/>
          <a:ln/>
        </p:spPr>
        <p:txBody>
          <a:bodyPr wrap="square" lIns="0" tIns="0" rIns="0" bIns="0" rtlCol="0" anchor="ctr">
            <a:normAutofit/>
          </a:bodyPr>
          <a:lstStyle/>
          <a:p>
            <a:pPr algn="ctr" indent="0" marL="0">
              <a:buNone/>
            </a:pPr>
            <a:r>
              <a:rPr lang="en-US" sz="900" b="1" dirty="0">
                <a:solidFill>
                  <a:srgbClr val="0E1B2A"/>
                </a:solidFill>
                <a:latin typeface="Aptos" pitchFamily="34" charset="0"/>
                <a:ea typeface="Aptos" pitchFamily="34" charset="-122"/>
                <a:cs typeface="Aptos" pitchFamily="34" charset="-120"/>
              </a:rPr>
              <a:t>THERE IS NO run_sql TOOL</a:t>
            </a:r>
            <a:endParaRPr lang="en-US" sz="9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5</a:t>
            </a:fld>
            <a:endParaRPr lang="en-US"/>
          </a:p>
        </p:txBody>
      </p:sp>
      <p:sp>
        <p:nvSpPr>
          <p:cNvPr id="901" name="Arch Stack"/>
          <p:cNvSpPr txBox="1"/>
          <p:nvPr/>
        </p:nvSpPr>
        <p:spPr>
          <a:xfrm>
            <a:off x="502920" y="1225296"/>
            <a:ext cx="10881360" cy="411480"/>
          </a:xfrm>
          <a:prstGeom prst="rect">
            <a:avLst/>
          </a:prstGeom>
          <a:noFill/>
          <a:ln/>
        </p:spPr>
        <p:txBody>
          <a:bodyPr wrap="square" lIns="0" tIns="0" rIns="0" bIns="0" rtlCol="0" anchor="ctr">
            <a:normAutofit/>
          </a:bodyPr>
          <a:lstStyle/>
          <a:p>
            <a:pPr algn="l" indent="0" marL="0">
              <a:buNone/>
            </a:pPr>
            <a:r>
              <a:rPr lang="en-US" sz="1400" dirty="0">
                <a:solidFill>
                  <a:srgbClr val="61738A"/>
                </a:solidFill>
                <a:latin typeface="Aptos" pitchFamily="34" charset="0"/>
                <a:ea typeface="Aptos" pitchFamily="34" charset="-122"/>
                <a:cs typeface="Aptos" pitchFamily="34" charset="-120"/>
              </a:rPr>
              <a:t>Python 3.12 · FastAPI · embedded DuckDB 1.5 · Sarvam sarvam-105b · React 19 console — one stateless process, no queue, no backing database.</a:t>
            </a:r>
            <a:endParaRPr lang="en-US" sz="1400" dirty="0"/>
          </a:p>
        </p:txBody>
      </p:sp>
      <p:sp>
        <p:nvSpPr>
          <p:cNvPr id="902" name="Fact Label 0"/>
          <p:cNvSpPr txBox="1"/>
          <p:nvPr/>
        </p:nvSpPr>
        <p:spPr>
          <a:xfrm>
            <a:off x="777240" y="5779008"/>
            <a:ext cx="2194560" cy="182880"/>
          </a:xfrm>
          <a:prstGeom prst="rect">
            <a:avLst/>
          </a:prstGeom>
          <a:noFill/>
          <a:ln/>
        </p:spPr>
        <p:txBody>
          <a:bodyPr wrap="square" lIns="0" tIns="0" rIns="0" bIns="0" rtlCol="0" anchor="ctr">
            <a:normAutofit/>
          </a:bodyPr>
          <a:lstStyle/>
          <a:p>
            <a:pPr algn="l" indent="0" marL="0">
              <a:buNone/>
            </a:pPr>
            <a:r>
              <a:rPr lang="en-US" sz="1000" b="1" spc="100" kern="0" dirty="0">
                <a:solidFill>
                  <a:srgbClr val="1769E0"/>
                </a:solidFill>
                <a:latin typeface="Aptos" pitchFamily="34" charset="0"/>
                <a:ea typeface="Aptos" pitchFamily="34" charset="-122"/>
                <a:cs typeface="Aptos" pitchFamily="34" charset="-120"/>
              </a:rPr>
              <a:t>ONE PROCESS</a:t>
            </a:r>
            <a:endParaRPr lang="en-US" sz="1000" dirty="0"/>
          </a:p>
        </p:txBody>
      </p:sp>
      <p:sp>
        <p:nvSpPr>
          <p:cNvPr id="903" name="Fact Body 0"/>
          <p:cNvSpPr txBox="1"/>
          <p:nvPr/>
        </p:nvSpPr>
        <p:spPr>
          <a:xfrm>
            <a:off x="777240" y="5998464"/>
            <a:ext cx="237744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FastAPI + uvicorn; the console is a thin HTTP client.</a:t>
            </a:r>
            <a:endParaRPr lang="en-US" sz="1050" dirty="0"/>
          </a:p>
        </p:txBody>
      </p:sp>
      <p:sp>
        <p:nvSpPr>
          <p:cNvPr id="904" name="Fact Label 1"/>
          <p:cNvSpPr txBox="1"/>
          <p:nvPr/>
        </p:nvSpPr>
        <p:spPr>
          <a:xfrm>
            <a:off x="3657600" y="5779008"/>
            <a:ext cx="2194560" cy="182880"/>
          </a:xfrm>
          <a:prstGeom prst="rect">
            <a:avLst/>
          </a:prstGeom>
          <a:noFill/>
          <a:ln/>
        </p:spPr>
        <p:txBody>
          <a:bodyPr wrap="square" lIns="0" tIns="0" rIns="0" bIns="0" rtlCol="0" anchor="ctr">
            <a:normAutofit/>
          </a:bodyPr>
          <a:lstStyle/>
          <a:p>
            <a:pPr algn="l" indent="0" marL="0">
              <a:buNone/>
            </a:pPr>
            <a:r>
              <a:rPr lang="en-US" sz="1000" b="1" spc="100" kern="0" dirty="0">
                <a:solidFill>
                  <a:srgbClr val="6C4CE6"/>
                </a:solidFill>
                <a:latin typeface="Aptos" pitchFamily="34" charset="0"/>
                <a:ea typeface="Aptos" pitchFamily="34" charset="-122"/>
                <a:cs typeface="Aptos" pitchFamily="34" charset="-120"/>
              </a:rPr>
              <a:t>SQL IN TWO MODULES</a:t>
            </a:r>
            <a:endParaRPr lang="en-US" sz="1000" dirty="0"/>
          </a:p>
        </p:txBody>
      </p:sp>
      <p:sp>
        <p:nvSpPr>
          <p:cNvPr id="905" name="Fact Body 1"/>
          <p:cNvSpPr txBox="1"/>
          <p:nvPr/>
        </p:nvSpPr>
        <p:spPr>
          <a:xfrm>
            <a:off x="3657600" y="5998464"/>
            <a:ext cx="237744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ingest.py and registry.py — a grep test enforces it.</a:t>
            </a:r>
            <a:endParaRPr lang="en-US" sz="1050" dirty="0"/>
          </a:p>
        </p:txBody>
      </p:sp>
      <p:sp>
        <p:nvSpPr>
          <p:cNvPr id="906" name="Fact Label 2"/>
          <p:cNvSpPr txBox="1"/>
          <p:nvPr/>
        </p:nvSpPr>
        <p:spPr>
          <a:xfrm>
            <a:off x="6537960" y="5779008"/>
            <a:ext cx="2194560" cy="182880"/>
          </a:xfrm>
          <a:prstGeom prst="rect">
            <a:avLst/>
          </a:prstGeom>
          <a:noFill/>
          <a:ln/>
        </p:spPr>
        <p:txBody>
          <a:bodyPr wrap="square" lIns="0" tIns="0" rIns="0" bIns="0" rtlCol="0" anchor="ctr">
            <a:normAutofit/>
          </a:bodyPr>
          <a:lstStyle/>
          <a:p>
            <a:pPr algn="l" indent="0" marL="0">
              <a:buNone/>
            </a:pPr>
            <a:r>
              <a:rPr lang="en-US" sz="1000" b="1" spc="100" kern="0" dirty="0">
                <a:solidFill>
                  <a:srgbClr val="36D6BD"/>
                </a:solidFill>
                <a:latin typeface="Aptos" pitchFamily="34" charset="0"/>
                <a:ea typeface="Aptos" pitchFamily="34" charset="-122"/>
                <a:cs typeface="Aptos" pitchFamily="34" charset="-120"/>
              </a:rPr>
              <a:t>AN INJECTED CLOCK</a:t>
            </a:r>
            <a:endParaRPr lang="en-US" sz="1000" dirty="0"/>
          </a:p>
        </p:txBody>
      </p:sp>
      <p:sp>
        <p:nvSpPr>
          <p:cNvPr id="907" name="Fact Body 2"/>
          <p:cNvSpPr txBox="1"/>
          <p:nvPr/>
        </p:nvSpPr>
        <p:spPr>
          <a:xfrm>
            <a:off x="6537960" y="5998464"/>
            <a:ext cx="237744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Same data + same clock → identical findings.</a:t>
            </a:r>
            <a:endParaRPr lang="en-US" sz="1050" dirty="0"/>
          </a:p>
        </p:txBody>
      </p:sp>
      <p:sp>
        <p:nvSpPr>
          <p:cNvPr id="908" name="Fact Label 3"/>
          <p:cNvSpPr txBox="1"/>
          <p:nvPr/>
        </p:nvSpPr>
        <p:spPr>
          <a:xfrm>
            <a:off x="9418320" y="5779008"/>
            <a:ext cx="2194560" cy="182880"/>
          </a:xfrm>
          <a:prstGeom prst="rect">
            <a:avLst/>
          </a:prstGeom>
          <a:noFill/>
          <a:ln/>
        </p:spPr>
        <p:txBody>
          <a:bodyPr wrap="square" lIns="0" tIns="0" rIns="0" bIns="0" rtlCol="0" anchor="ctr">
            <a:normAutofit/>
          </a:bodyPr>
          <a:lstStyle/>
          <a:p>
            <a:pPr algn="l" indent="0" marL="0">
              <a:buNone/>
            </a:pPr>
            <a:r>
              <a:rPr lang="en-US" sz="1000" b="1" spc="100" kern="0" dirty="0">
                <a:solidFill>
                  <a:srgbClr val="16A568"/>
                </a:solidFill>
                <a:latin typeface="Aptos" pitchFamily="34" charset="0"/>
                <a:ea typeface="Aptos" pitchFamily="34" charset="-122"/>
                <a:cs typeface="Aptos" pitchFamily="34" charset="-120"/>
              </a:rPr>
              <a:t>ONE DATA SEAM</a:t>
            </a:r>
            <a:endParaRPr lang="en-US" sz="1000" dirty="0"/>
          </a:p>
        </p:txBody>
      </p:sp>
      <p:sp>
        <p:nvSpPr>
          <p:cNvPr id="909" name="Fact Body 3"/>
          <p:cNvSpPr txBox="1"/>
          <p:nvPr/>
        </p:nvSpPr>
        <p:spPr>
          <a:xfrm>
            <a:off x="9418320" y="5998464"/>
            <a:ext cx="2377440" cy="384048"/>
          </a:xfrm>
          <a:prstGeom prst="rect">
            <a:avLst/>
          </a:prstGeom>
          <a:noFill/>
          <a:ln/>
        </p:spPr>
        <p:txBody>
          <a:bodyPr wrap="square" lIns="0" tIns="0" rIns="0" bIns="0" rtlCol="0" anchor="t">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source_for(): a local dir today, s3:// tomorrow.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05 — LIVE DEMO</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What you will see in three minutes.</a:t>
            </a:r>
            <a:endParaRPr lang="en-US" sz="2800" dirty="0"/>
          </a:p>
        </p:txBody>
      </p:sp>
      <p:sp>
        <p:nvSpPr>
          <p:cNvPr id="4" name="Shape 2"/>
          <p:cNvSpPr/>
          <p:nvPr/>
        </p:nvSpPr>
        <p:spPr>
          <a:xfrm>
            <a:off x="896112" y="1901952"/>
            <a:ext cx="0" cy="3584448"/>
          </a:xfrm>
          <a:prstGeom prst="line">
            <a:avLst/>
          </a:prstGeom>
          <a:noFill/>
          <a:ln w="38100">
            <a:solidFill>
              <a:srgbClr val="D9E2EC"/>
            </a:solidFill>
            <a:prstDash val="solid"/>
            <a:headEnd type="none"/>
            <a:tailEnd type="none"/>
          </a:ln>
        </p:spPr>
      </p:sp>
      <p:sp>
        <p:nvSpPr>
          <p:cNvPr id="5" name="Shape 3"/>
          <p:cNvSpPr/>
          <p:nvPr/>
        </p:nvSpPr>
        <p:spPr>
          <a:xfrm>
            <a:off x="658368" y="1810512"/>
            <a:ext cx="475488" cy="475488"/>
          </a:xfrm>
          <a:prstGeom prst="ellipse">
            <a:avLst/>
          </a:prstGeom>
          <a:solidFill>
            <a:srgbClr val="1769E0"/>
          </a:solidFill>
          <a:ln w="12700">
            <a:solidFill>
              <a:srgbClr val="1769E0"/>
            </a:solidFill>
            <a:prstDash val="solid"/>
          </a:ln>
        </p:spPr>
      </p:sp>
      <p:sp>
        <p:nvSpPr>
          <p:cNvPr id="6" name="Text 4"/>
          <p:cNvSpPr txBox="1"/>
          <p:nvPr/>
        </p:nvSpPr>
        <p:spPr>
          <a:xfrm>
            <a:off x="658368" y="1819656"/>
            <a:ext cx="475488" cy="4663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7" name="Text 5"/>
          <p:cNvSpPr txBox="1"/>
          <p:nvPr/>
        </p:nvSpPr>
        <p:spPr>
          <a:xfrm>
            <a:off x="1325880" y="1801368"/>
            <a:ext cx="91440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61738A"/>
                </a:solidFill>
                <a:latin typeface="Aptos" pitchFamily="34" charset="0"/>
                <a:ea typeface="Aptos" pitchFamily="34" charset="-122"/>
                <a:cs typeface="Aptos" pitchFamily="34" charset="-120"/>
              </a:rPr>
              <a:t>Boot</a:t>
            </a:r>
            <a:endParaRPr lang="en-US" sz="1000" dirty="0"/>
          </a:p>
        </p:txBody>
      </p:sp>
      <p:sp>
        <p:nvSpPr>
          <p:cNvPr id="8" name="Text 6"/>
          <p:cNvSpPr txBox="1"/>
          <p:nvPr/>
        </p:nvSpPr>
        <p:spPr>
          <a:xfrm>
            <a:off x="2212848" y="1783080"/>
            <a:ext cx="5943600" cy="256032"/>
          </a:xfrm>
          <a:prstGeom prst="rect">
            <a:avLst/>
          </a:prstGeom>
          <a:noFill/>
          <a:ln/>
        </p:spPr>
        <p:txBody>
          <a:bodyPr wrap="square" lIns="0" tIns="0" rIns="0" bIns="0" rtlCol="0" anchor="ctr">
            <a:normAutofit/>
          </a:bodyPr>
          <a:lstStyle/>
          <a:p>
            <a:pPr algn="l" indent="0" marL="0">
              <a:buNone/>
            </a:pPr>
            <a:r>
              <a:rPr lang="en-US" sz="1500" b="1" dirty="0">
                <a:solidFill>
                  <a:srgbClr val="0E1B2A"/>
                </a:solidFill>
                <a:latin typeface="Aptos" pitchFamily="34" charset="0"/>
                <a:ea typeface="Aptos" pitchFamily="34" charset="-122"/>
                <a:cs typeface="Aptos" pitchFamily="34" charset="-120"/>
              </a:rPr>
              <a:t>“sweep run_id=run-… findings=…”</a:t>
            </a:r>
            <a:endParaRPr lang="en-US" sz="1500" dirty="0"/>
          </a:p>
        </p:txBody>
      </p:sp>
      <p:sp>
        <p:nvSpPr>
          <p:cNvPr id="9" name="Text 7"/>
          <p:cNvSpPr txBox="1"/>
          <p:nvPr/>
        </p:nvSpPr>
        <p:spPr>
          <a:xfrm>
            <a:off x="2212848" y="2075688"/>
            <a:ext cx="6217920" cy="201168"/>
          </a:xfrm>
          <a:prstGeom prst="rect">
            <a:avLst/>
          </a:prstGeom>
          <a:noFill/>
          <a:ln/>
        </p:spPr>
        <p:txBody>
          <a:bodyPr wrap="square" lIns="0" tIns="0" rIns="0" bIns="0" rtlCol="0" anchor="ctr">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It sweeps on startup. No prompt, no human in the loop.</a:t>
            </a:r>
            <a:endParaRPr lang="en-US" sz="1050" dirty="0"/>
          </a:p>
        </p:txBody>
      </p:sp>
      <p:sp>
        <p:nvSpPr>
          <p:cNvPr id="10" name="Shape 8"/>
          <p:cNvSpPr/>
          <p:nvPr/>
        </p:nvSpPr>
        <p:spPr>
          <a:xfrm>
            <a:off x="658368" y="2596896"/>
            <a:ext cx="475488" cy="475488"/>
          </a:xfrm>
          <a:prstGeom prst="ellipse">
            <a:avLst/>
          </a:prstGeom>
          <a:solidFill>
            <a:srgbClr val="1769E0"/>
          </a:solidFill>
          <a:ln w="12700">
            <a:solidFill>
              <a:srgbClr val="1769E0"/>
            </a:solidFill>
            <a:prstDash val="solid"/>
          </a:ln>
        </p:spPr>
      </p:sp>
      <p:sp>
        <p:nvSpPr>
          <p:cNvPr id="11" name="Text 9"/>
          <p:cNvSpPr txBox="1"/>
          <p:nvPr/>
        </p:nvSpPr>
        <p:spPr>
          <a:xfrm>
            <a:off x="658368" y="2606040"/>
            <a:ext cx="475488" cy="4663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2" name="Text 10"/>
          <p:cNvSpPr txBox="1"/>
          <p:nvPr/>
        </p:nvSpPr>
        <p:spPr>
          <a:xfrm>
            <a:off x="1325880" y="2587752"/>
            <a:ext cx="91440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61738A"/>
                </a:solidFill>
                <a:latin typeface="Aptos" pitchFamily="34" charset="0"/>
                <a:ea typeface="Aptos" pitchFamily="34" charset="-122"/>
                <a:cs typeface="Aptos" pitchFamily="34" charset="-120"/>
              </a:rPr>
              <a:t>Replay</a:t>
            </a:r>
            <a:endParaRPr lang="en-US" sz="1000" dirty="0"/>
          </a:p>
        </p:txBody>
      </p:sp>
      <p:sp>
        <p:nvSpPr>
          <p:cNvPr id="13" name="Text 11"/>
          <p:cNvSpPr txBox="1"/>
          <p:nvPr/>
        </p:nvSpPr>
        <p:spPr>
          <a:xfrm>
            <a:off x="2212848" y="2569464"/>
            <a:ext cx="5943600" cy="256032"/>
          </a:xfrm>
          <a:prstGeom prst="rect">
            <a:avLst/>
          </a:prstGeom>
          <a:noFill/>
          <a:ln/>
        </p:spPr>
        <p:txBody>
          <a:bodyPr wrap="square" lIns="0" tIns="0" rIns="0" bIns="0" rtlCol="0" anchor="ctr">
            <a:normAutofit/>
          </a:bodyPr>
          <a:lstStyle/>
          <a:p>
            <a:pPr algn="l" indent="0" marL="0">
              <a:buNone/>
            </a:pPr>
            <a:r>
              <a:rPr lang="en-US" sz="1500" b="1" dirty="0">
                <a:solidFill>
                  <a:srgbClr val="0E1B2A"/>
                </a:solidFill>
                <a:latin typeface="Aptos" pitchFamily="34" charset="0"/>
                <a:ea typeface="Aptos" pitchFamily="34" charset="-122"/>
                <a:cs typeface="Aptos" pitchFamily="34" charset="-120"/>
              </a:rPr>
              <a:t>The dataset plays out at a day per second</a:t>
            </a:r>
            <a:endParaRPr lang="en-US" sz="1500" dirty="0"/>
          </a:p>
        </p:txBody>
      </p:sp>
      <p:sp>
        <p:nvSpPr>
          <p:cNvPr id="14" name="Text 12"/>
          <p:cNvSpPr txBox="1"/>
          <p:nvPr/>
        </p:nvSpPr>
        <p:spPr>
          <a:xfrm>
            <a:off x="2212848" y="2862072"/>
            <a:ext cx="6217920" cy="201168"/>
          </a:xfrm>
          <a:prstGeom prst="rect">
            <a:avLst/>
          </a:prstGeom>
          <a:noFill/>
          <a:ln/>
        </p:spPr>
        <p:txBody>
          <a:bodyPr wrap="square" lIns="0" tIns="0" rIns="0" bIns="0" rtlCol="0" anchor="ctr">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The replay clock drives the same loop production runs on.</a:t>
            </a:r>
            <a:endParaRPr lang="en-US" sz="1050" dirty="0"/>
          </a:p>
        </p:txBody>
      </p:sp>
      <p:sp>
        <p:nvSpPr>
          <p:cNvPr id="15" name="Shape 13"/>
          <p:cNvSpPr/>
          <p:nvPr/>
        </p:nvSpPr>
        <p:spPr>
          <a:xfrm>
            <a:off x="658368" y="3383280"/>
            <a:ext cx="475488" cy="475488"/>
          </a:xfrm>
          <a:prstGeom prst="ellipse">
            <a:avLst/>
          </a:prstGeom>
          <a:solidFill>
            <a:srgbClr val="1769E0"/>
          </a:solidFill>
          <a:ln w="12700">
            <a:solidFill>
              <a:srgbClr val="1769E0"/>
            </a:solidFill>
            <a:prstDash val="solid"/>
          </a:ln>
        </p:spPr>
      </p:sp>
      <p:sp>
        <p:nvSpPr>
          <p:cNvPr id="16" name="Text 14"/>
          <p:cNvSpPr txBox="1"/>
          <p:nvPr/>
        </p:nvSpPr>
        <p:spPr>
          <a:xfrm>
            <a:off x="658368" y="3392424"/>
            <a:ext cx="475488" cy="4663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17" name="Text 15"/>
          <p:cNvSpPr txBox="1"/>
          <p:nvPr/>
        </p:nvSpPr>
        <p:spPr>
          <a:xfrm>
            <a:off x="1325880" y="3374136"/>
            <a:ext cx="91440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61738A"/>
                </a:solidFill>
                <a:latin typeface="Aptos" pitchFamily="34" charset="0"/>
                <a:ea typeface="Aptos" pitchFamily="34" charset="-122"/>
                <a:cs typeface="Aptos" pitchFamily="34" charset="-120"/>
              </a:rPr>
              <a:t>Evidence</a:t>
            </a:r>
            <a:endParaRPr lang="en-US" sz="1000" dirty="0"/>
          </a:p>
        </p:txBody>
      </p:sp>
      <p:sp>
        <p:nvSpPr>
          <p:cNvPr id="18" name="Text 16"/>
          <p:cNvSpPr txBox="1"/>
          <p:nvPr/>
        </p:nvSpPr>
        <p:spPr>
          <a:xfrm>
            <a:off x="2212848" y="3355848"/>
            <a:ext cx="5943600" cy="256032"/>
          </a:xfrm>
          <a:prstGeom prst="rect">
            <a:avLst/>
          </a:prstGeom>
          <a:noFill/>
          <a:ln/>
        </p:spPr>
        <p:txBody>
          <a:bodyPr wrap="square" lIns="0" tIns="0" rIns="0" bIns="0" rtlCol="0" anchor="ctr">
            <a:normAutofit/>
          </a:bodyPr>
          <a:lstStyle/>
          <a:p>
            <a:pPr algn="l" indent="0" marL="0">
              <a:buNone/>
            </a:pPr>
            <a:r>
              <a:rPr lang="en-US" sz="1500" b="1" dirty="0">
                <a:solidFill>
                  <a:srgbClr val="0E1B2A"/>
                </a:solidFill>
                <a:latin typeface="Aptos" pitchFamily="34" charset="0"/>
                <a:ea typeface="Aptos" pitchFamily="34" charset="-122"/>
                <a:cs typeface="Aptos" pitchFamily="34" charset="-120"/>
              </a:rPr>
              <a:t>Expand any finding → the exact SQL</a:t>
            </a:r>
            <a:endParaRPr lang="en-US" sz="1500" dirty="0"/>
          </a:p>
        </p:txBody>
      </p:sp>
      <p:sp>
        <p:nvSpPr>
          <p:cNvPr id="19" name="Text 17"/>
          <p:cNvSpPr txBox="1"/>
          <p:nvPr/>
        </p:nvSpPr>
        <p:spPr>
          <a:xfrm>
            <a:off x="2212848" y="3648456"/>
            <a:ext cx="6217920" cy="201168"/>
          </a:xfrm>
          <a:prstGeom prst="rect">
            <a:avLst/>
          </a:prstGeom>
          <a:noFill/>
          <a:ln/>
        </p:spPr>
        <p:txBody>
          <a:bodyPr wrap="square" lIns="0" tIns="0" rIns="0" bIns="0" rtlCol="0" anchor="ctr">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Paste it into DuckDB against the same data and the number matches.</a:t>
            </a:r>
            <a:endParaRPr lang="en-US" sz="1050" dirty="0"/>
          </a:p>
        </p:txBody>
      </p:sp>
      <p:sp>
        <p:nvSpPr>
          <p:cNvPr id="20" name="Shape 18"/>
          <p:cNvSpPr/>
          <p:nvPr/>
        </p:nvSpPr>
        <p:spPr>
          <a:xfrm>
            <a:off x="658368" y="4169664"/>
            <a:ext cx="475488" cy="475488"/>
          </a:xfrm>
          <a:prstGeom prst="ellipse">
            <a:avLst/>
          </a:prstGeom>
          <a:solidFill>
            <a:srgbClr val="1769E0"/>
          </a:solidFill>
          <a:ln w="12700">
            <a:solidFill>
              <a:srgbClr val="1769E0"/>
            </a:solidFill>
            <a:prstDash val="solid"/>
          </a:ln>
        </p:spPr>
      </p:sp>
      <p:sp>
        <p:nvSpPr>
          <p:cNvPr id="21" name="Text 19"/>
          <p:cNvSpPr txBox="1"/>
          <p:nvPr/>
        </p:nvSpPr>
        <p:spPr>
          <a:xfrm>
            <a:off x="658368" y="4178808"/>
            <a:ext cx="475488" cy="4663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2" name="Text 20"/>
          <p:cNvSpPr txBox="1"/>
          <p:nvPr/>
        </p:nvSpPr>
        <p:spPr>
          <a:xfrm>
            <a:off x="1325880" y="4160520"/>
            <a:ext cx="91440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61738A"/>
                </a:solidFill>
                <a:latin typeface="Aptos" pitchFamily="34" charset="0"/>
                <a:ea typeface="Aptos" pitchFamily="34" charset="-122"/>
                <a:cs typeface="Aptos" pitchFamily="34" charset="-120"/>
              </a:rPr>
              <a:t>Brief</a:t>
            </a:r>
            <a:endParaRPr lang="en-US" sz="1000" dirty="0"/>
          </a:p>
        </p:txBody>
      </p:sp>
      <p:sp>
        <p:nvSpPr>
          <p:cNvPr id="23" name="Text 21"/>
          <p:cNvSpPr txBox="1"/>
          <p:nvPr/>
        </p:nvSpPr>
        <p:spPr>
          <a:xfrm>
            <a:off x="2212848" y="4142232"/>
            <a:ext cx="5943600" cy="256032"/>
          </a:xfrm>
          <a:prstGeom prst="rect">
            <a:avLst/>
          </a:prstGeom>
          <a:noFill/>
          <a:ln/>
        </p:spPr>
        <p:txBody>
          <a:bodyPr wrap="square" lIns="0" tIns="0" rIns="0" bIns="0" rtlCol="0" anchor="ctr">
            <a:normAutofit/>
          </a:bodyPr>
          <a:lstStyle/>
          <a:p>
            <a:pPr algn="l" indent="0" marL="0">
              <a:buNone/>
            </a:pPr>
            <a:r>
              <a:rPr lang="en-US" sz="1500" b="1" dirty="0">
                <a:solidFill>
                  <a:srgbClr val="0E1B2A"/>
                </a:solidFill>
                <a:latin typeface="Aptos" pitchFamily="34" charset="0"/>
                <a:ea typeface="Aptos" pitchFamily="34" charset="-122"/>
                <a:cs typeface="Aptos" pitchFamily="34" charset="-120"/>
              </a:rPr>
              <a:t>A brief written for a named audience</a:t>
            </a:r>
            <a:endParaRPr lang="en-US" sz="1500" dirty="0"/>
          </a:p>
        </p:txBody>
      </p:sp>
      <p:sp>
        <p:nvSpPr>
          <p:cNvPr id="24" name="Text 22"/>
          <p:cNvSpPr txBox="1"/>
          <p:nvPr/>
        </p:nvSpPr>
        <p:spPr>
          <a:xfrm>
            <a:off x="2212848" y="4434840"/>
            <a:ext cx="6217920" cy="201168"/>
          </a:xfrm>
          <a:prstGeom prst="rect">
            <a:avLst/>
          </a:prstGeom>
          <a:noFill/>
          <a:ln/>
        </p:spPr>
        <p:txBody>
          <a:bodyPr wrap="square" lIns="0" tIns="0" rIns="0" bIns="0" rtlCol="0" anchor="ctr">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Sarvam writes prose; every figure is checked against the findings.</a:t>
            </a:r>
            <a:endParaRPr lang="en-US" sz="1050" dirty="0"/>
          </a:p>
        </p:txBody>
      </p:sp>
      <p:sp>
        <p:nvSpPr>
          <p:cNvPr id="25" name="Shape 23"/>
          <p:cNvSpPr/>
          <p:nvPr/>
        </p:nvSpPr>
        <p:spPr>
          <a:xfrm>
            <a:off x="658368" y="4956048"/>
            <a:ext cx="475488" cy="475488"/>
          </a:xfrm>
          <a:prstGeom prst="ellipse">
            <a:avLst/>
          </a:prstGeom>
          <a:solidFill>
            <a:srgbClr val="36D6BD"/>
          </a:solidFill>
          <a:ln w="12700">
            <a:solidFill>
              <a:srgbClr val="36D6BD"/>
            </a:solidFill>
            <a:prstDash val="solid"/>
          </a:ln>
        </p:spPr>
      </p:sp>
      <p:sp>
        <p:nvSpPr>
          <p:cNvPr id="26" name="Text 24"/>
          <p:cNvSpPr txBox="1"/>
          <p:nvPr/>
        </p:nvSpPr>
        <p:spPr>
          <a:xfrm>
            <a:off x="658368" y="4965192"/>
            <a:ext cx="475488" cy="46634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05</a:t>
            </a:r>
            <a:endParaRPr lang="en-US" sz="1000" dirty="0"/>
          </a:p>
        </p:txBody>
      </p:sp>
      <p:sp>
        <p:nvSpPr>
          <p:cNvPr id="27" name="Text 25"/>
          <p:cNvSpPr txBox="1"/>
          <p:nvPr/>
        </p:nvSpPr>
        <p:spPr>
          <a:xfrm>
            <a:off x="1325880" y="4946904"/>
            <a:ext cx="914400" cy="201168"/>
          </a:xfrm>
          <a:prstGeom prst="rect">
            <a:avLst/>
          </a:prstGeom>
          <a:noFill/>
          <a:ln/>
        </p:spPr>
        <p:txBody>
          <a:bodyPr wrap="square" lIns="0" tIns="0" rIns="0" bIns="0" rtlCol="0" anchor="ctr">
            <a:normAutofit/>
          </a:bodyPr>
          <a:lstStyle/>
          <a:p>
            <a:pPr algn="l" indent="0" marL="0">
              <a:buNone/>
            </a:pPr>
            <a:r>
              <a:rPr lang="en-US" sz="1000" b="1" spc="60" kern="0" dirty="0">
                <a:solidFill>
                  <a:srgbClr val="61738A"/>
                </a:solidFill>
                <a:latin typeface="Aptos" pitchFamily="34" charset="0"/>
                <a:ea typeface="Aptos" pitchFamily="34" charset="-122"/>
                <a:cs typeface="Aptos" pitchFamily="34" charset="-120"/>
              </a:rPr>
              <a:t>Dispatch</a:t>
            </a:r>
            <a:endParaRPr lang="en-US" sz="1000" dirty="0"/>
          </a:p>
        </p:txBody>
      </p:sp>
      <p:sp>
        <p:nvSpPr>
          <p:cNvPr id="28" name="Text 26"/>
          <p:cNvSpPr txBox="1"/>
          <p:nvPr/>
        </p:nvSpPr>
        <p:spPr>
          <a:xfrm>
            <a:off x="2212848" y="4928616"/>
            <a:ext cx="5943600" cy="256032"/>
          </a:xfrm>
          <a:prstGeom prst="rect">
            <a:avLst/>
          </a:prstGeom>
          <a:noFill/>
          <a:ln/>
        </p:spPr>
        <p:txBody>
          <a:bodyPr wrap="square" lIns="0" tIns="0" rIns="0" bIns="0" rtlCol="0" anchor="ctr">
            <a:normAutofit/>
          </a:bodyPr>
          <a:lstStyle/>
          <a:p>
            <a:pPr algn="l" indent="0" marL="0">
              <a:buNone/>
            </a:pPr>
            <a:r>
              <a:rPr lang="en-US" sz="1500" b="1" dirty="0">
                <a:solidFill>
                  <a:srgbClr val="0E1B2A"/>
                </a:solidFill>
                <a:latin typeface="Aptos" pitchFamily="34" charset="0"/>
                <a:ea typeface="Aptos" pitchFamily="34" charset="-122"/>
                <a:cs typeface="Aptos" pitchFamily="34" charset="-120"/>
              </a:rPr>
              <a:t>BREACH → Slack + email, and logged</a:t>
            </a:r>
            <a:endParaRPr lang="en-US" sz="1500" dirty="0"/>
          </a:p>
        </p:txBody>
      </p:sp>
      <p:sp>
        <p:nvSpPr>
          <p:cNvPr id="29" name="Text 27"/>
          <p:cNvSpPr txBox="1"/>
          <p:nvPr/>
        </p:nvSpPr>
        <p:spPr>
          <a:xfrm>
            <a:off x="2212848" y="5221224"/>
            <a:ext cx="6217920" cy="201168"/>
          </a:xfrm>
          <a:prstGeom prst="rect">
            <a:avLst/>
          </a:prstGeom>
          <a:noFill/>
          <a:ln/>
        </p:spPr>
        <p:txBody>
          <a:bodyPr wrap="square" lIns="0" tIns="0" rIns="0" bIns="0" rtlCol="0" anchor="ctr">
            <a:normAutofit/>
          </a:bodyPr>
          <a:lstStyle/>
          <a:p>
            <a:pPr algn="l" indent="0" marL="0">
              <a:buNone/>
            </a:pPr>
            <a:r>
              <a:rPr lang="en-US" sz="1050" dirty="0">
                <a:solidFill>
                  <a:srgbClr val="61738A"/>
                </a:solidFill>
                <a:latin typeface="Aptos" pitchFamily="34" charset="0"/>
                <a:ea typeface="Aptos" pitchFamily="34" charset="-122"/>
                <a:cs typeface="Aptos" pitchFamily="34" charset="-120"/>
              </a:rPr>
              <a:t>The dispatch record carries the finding ids it was built from.</a:t>
            </a:r>
            <a:endParaRPr lang="en-US" sz="1050" dirty="0"/>
          </a:p>
        </p:txBody>
      </p:sp>
      <p:sp>
        <p:nvSpPr>
          <p:cNvPr id="30" name="Shape 28"/>
          <p:cNvSpPr/>
          <p:nvPr/>
        </p:nvSpPr>
        <p:spPr>
          <a:xfrm>
            <a:off x="8823960" y="1828800"/>
            <a:ext cx="2697480" cy="3611880"/>
          </a:xfrm>
          <a:prstGeom prst="roundRect">
            <a:avLst>
              <a:gd name="adj" fmla="val 5424"/>
            </a:avLst>
          </a:prstGeom>
          <a:solidFill>
            <a:srgbClr val="FFFFFF"/>
          </a:solidFill>
          <a:ln w="12700">
            <a:solidFill>
              <a:srgbClr val="D9E2EC"/>
            </a:solidFill>
            <a:prstDash val="solid"/>
          </a:ln>
        </p:spPr>
      </p:sp>
      <p:sp>
        <p:nvSpPr>
          <p:cNvPr id="31" name="Shape 29"/>
          <p:cNvSpPr/>
          <p:nvPr/>
        </p:nvSpPr>
        <p:spPr>
          <a:xfrm>
            <a:off x="9144000" y="2121408"/>
            <a:ext cx="1143000" cy="256032"/>
          </a:xfrm>
          <a:prstGeom prst="roundRect">
            <a:avLst>
              <a:gd name="adj" fmla="val 50000"/>
            </a:avLst>
          </a:prstGeom>
          <a:solidFill>
            <a:srgbClr val="EAF2FF"/>
          </a:solidFill>
          <a:ln w="12700">
            <a:solidFill>
              <a:srgbClr val="EAF2FF"/>
            </a:solidFill>
            <a:prstDash val="solid"/>
          </a:ln>
        </p:spPr>
      </p:sp>
      <p:sp>
        <p:nvSpPr>
          <p:cNvPr id="32" name="Text 30"/>
          <p:cNvSpPr txBox="1"/>
          <p:nvPr/>
        </p:nvSpPr>
        <p:spPr>
          <a:xfrm>
            <a:off x="9217152" y="2130552"/>
            <a:ext cx="996696" cy="219456"/>
          </a:xfrm>
          <a:prstGeom prst="rect">
            <a:avLst/>
          </a:prstGeom>
          <a:noFill/>
          <a:ln/>
        </p:spPr>
        <p:txBody>
          <a:bodyPr wrap="square" lIns="0" tIns="0" rIns="0" bIns="0" rtlCol="0" anchor="ctr">
            <a:normAutofit/>
          </a:bodyPr>
          <a:lstStyle/>
          <a:p>
            <a:pPr algn="ctr" indent="0" marL="0">
              <a:buNone/>
            </a:pPr>
            <a:r>
              <a:rPr lang="en-US" sz="900" b="1" dirty="0">
                <a:solidFill>
                  <a:srgbClr val="1769E0"/>
                </a:solidFill>
                <a:latin typeface="Aptos" pitchFamily="34" charset="0"/>
                <a:ea typeface="Aptos" pitchFamily="34" charset="-122"/>
                <a:cs typeface="Aptos" pitchFamily="34" charset="-120"/>
              </a:rPr>
              <a:t>DEPLOYED</a:t>
            </a:r>
            <a:endParaRPr lang="en-US" sz="900" dirty="0"/>
          </a:p>
        </p:txBody>
      </p:sp>
      <p:sp>
        <p:nvSpPr>
          <p:cNvPr id="33" name="Text 31"/>
          <p:cNvSpPr txBox="1"/>
          <p:nvPr/>
        </p:nvSpPr>
        <p:spPr>
          <a:xfrm>
            <a:off x="9144000" y="2633472"/>
            <a:ext cx="1965960" cy="1097280"/>
          </a:xfrm>
          <a:prstGeom prst="rect">
            <a:avLst/>
          </a:prstGeom>
          <a:noFill/>
          <a:ln/>
        </p:spPr>
        <p:txBody>
          <a:bodyPr wrap="square" lIns="0" tIns="0" rIns="0" bIns="0" rtlCol="0" anchor="t">
            <a:normAutofit/>
          </a:bodyPr>
          <a:lstStyle/>
          <a:p>
            <a:pPr algn="l" indent="0" marL="0">
              <a:buNone/>
            </a:pPr>
            <a:r>
              <a:rPr lang="en-US" sz="2700" b="1" dirty="0">
                <a:solidFill>
                  <a:srgbClr val="0E1B2A"/>
                </a:solidFill>
                <a:latin typeface="Aptos" pitchFamily="34" charset="0"/>
                <a:ea typeface="Aptos" pitchFamily="34" charset="-122"/>
                <a:cs typeface="Aptos" pitchFamily="34" charset="-120"/>
              </a:rPr>
              <a:t>Live on</a:t>
            </a:r>
            <a:endParaRPr lang="en-US" sz="2700" dirty="0"/>
          </a:p>
          <a:p>
            <a:pPr algn="l" indent="0" marL="0">
              <a:buNone/>
            </a:pPr>
            <a:r>
              <a:rPr lang="en-US" sz="2700" b="1" dirty="0">
                <a:solidFill>
                  <a:srgbClr val="0E1B2A"/>
                </a:solidFill>
                <a:latin typeface="Aptos" pitchFamily="34" charset="0"/>
                <a:ea typeface="Aptos" pitchFamily="34" charset="-122"/>
                <a:cs typeface="Aptos" pitchFamily="34" charset="-120"/>
              </a:rPr>
              <a:t>a public</a:t>
            </a:r>
            <a:endParaRPr lang="en-US" sz="2700" dirty="0"/>
          </a:p>
          <a:p>
            <a:pPr algn="l" indent="0" marL="0">
              <a:buNone/>
            </a:pPr>
            <a:r>
              <a:rPr lang="en-US" sz="2700" b="1" dirty="0">
                <a:solidFill>
                  <a:srgbClr val="0E1B2A"/>
                </a:solidFill>
                <a:latin typeface="Aptos" pitchFamily="34" charset="0"/>
                <a:ea typeface="Aptos" pitchFamily="34" charset="-122"/>
                <a:cs typeface="Aptos" pitchFamily="34" charset="-120"/>
              </a:rPr>
              <a:t>URL</a:t>
            </a:r>
            <a:endParaRPr lang="en-US" sz="2700" dirty="0"/>
          </a:p>
        </p:txBody>
      </p:sp>
      <p:sp>
        <p:nvSpPr>
          <p:cNvPr id="34" name="Text 32"/>
          <p:cNvSpPr txBox="1"/>
          <p:nvPr/>
        </p:nvSpPr>
        <p:spPr>
          <a:xfrm>
            <a:off x="9144000" y="4069080"/>
            <a:ext cx="1993392" cy="822960"/>
          </a:xfrm>
          <a:prstGeom prst="rect">
            <a:avLst/>
          </a:prstGeom>
          <a:noFill/>
          <a:ln/>
        </p:spPr>
        <p:txBody>
          <a:bodyPr wrap="square" lIns="0" tIns="0" rIns="0" bIns="0" rtlCol="0" anchor="t">
            <a:normAutofit/>
          </a:bodyPr>
          <a:lstStyle/>
          <a:p>
            <a:pPr algn="l" indent="0" marL="0">
              <a:buNone/>
            </a:pPr>
            <a:r>
              <a:rPr lang="en-US" sz="1200" dirty="0">
                <a:solidFill>
                  <a:srgbClr val="61738A"/>
                </a:solidFill>
                <a:latin typeface="Aptos" pitchFamily="34" charset="0"/>
                <a:ea typeface="Aptos" pitchFamily="34" charset="-122"/>
                <a:cs typeface="Aptos" pitchFamily="34" charset="-120"/>
              </a:rPr>
              <a:t>Render blueprint in the repo — API + console. The public URL runs the committed sample; the demo runs the full dataset.</a:t>
            </a:r>
            <a:endParaRPr lang="en-US" sz="1200" dirty="0"/>
          </a:p>
        </p:txBody>
      </p:sp>
      <p:sp>
        <p:nvSpPr>
          <p:cNvPr id="35" name="Shape 33"/>
          <p:cNvSpPr/>
          <p:nvPr/>
        </p:nvSpPr>
        <p:spPr>
          <a:xfrm>
            <a:off x="9144000" y="5074920"/>
            <a:ext cx="1645920" cy="256032"/>
          </a:xfrm>
          <a:prstGeom prst="roundRect">
            <a:avLst>
              <a:gd name="adj" fmla="val 50000"/>
            </a:avLst>
          </a:prstGeom>
          <a:solidFill>
            <a:srgbClr val="36D6BD"/>
          </a:solidFill>
          <a:ln w="12700">
            <a:solidFill>
              <a:srgbClr val="36D6BD"/>
            </a:solidFill>
            <a:prstDash val="solid"/>
          </a:ln>
        </p:spPr>
      </p:sp>
      <p:sp>
        <p:nvSpPr>
          <p:cNvPr id="36" name="Text 34"/>
          <p:cNvSpPr txBox="1"/>
          <p:nvPr/>
        </p:nvSpPr>
        <p:spPr>
          <a:xfrm>
            <a:off x="9217152" y="5084064"/>
            <a:ext cx="1499616" cy="219456"/>
          </a:xfrm>
          <a:prstGeom prst="rect">
            <a:avLst/>
          </a:prstGeom>
          <a:noFill/>
          <a:ln/>
        </p:spPr>
        <p:txBody>
          <a:bodyPr wrap="square" lIns="0" tIns="0" rIns="0" bIns="0" rtlCol="0" anchor="ctr">
            <a:normAutofit/>
          </a:bodyPr>
          <a:lstStyle/>
          <a:p>
            <a:pPr algn="ctr" indent="0" marL="0">
              <a:buNone/>
            </a:pPr>
            <a:r>
              <a:rPr lang="en-US" sz="900" b="1" dirty="0">
                <a:solidFill>
                  <a:srgbClr val="0E1B2A"/>
                </a:solidFill>
                <a:latin typeface="Aptos" pitchFamily="34" charset="0"/>
                <a:ea typeface="Aptos" pitchFamily="34" charset="-122"/>
                <a:cs typeface="Aptos" pitchFamily="34" charset="-120"/>
              </a:rPr>
              <a:t>SAME CODE</a:t>
            </a:r>
            <a:endParaRPr lang="en-US" sz="9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06 — PRODUCT EXPERIENCE</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The home screen answers: “What needs my attention today?”</a:t>
            </a:r>
            <a:endParaRPr lang="en-US" sz="2800" dirty="0"/>
          </a:p>
        </p:txBody>
      </p:sp>
      <p:pic>
        <p:nvPicPr>
          <p:cNvPr id="4" name="Image 0" descr="/mnt/data/wide_desktop_ui_screenshot_of_a_modern_saas_dashbo.png">    </p:cNvPr>
          <p:cNvPicPr>
            <a:picLocks noChangeAspect="1"/>
          </p:cNvPicPr>
          <p:nvPr/>
        </p:nvPicPr>
        <p:blipFill>
          <a:blip r:embed="rId1"/>
          <a:stretch>
            <a:fillRect/>
          </a:stretch>
        </p:blipFill>
        <p:spPr>
          <a:xfrm>
            <a:off x="3184398" y="1691640"/>
            <a:ext cx="5829300" cy="3886200"/>
          </a:xfrm>
          <a:prstGeom prst="rect">
            <a:avLst/>
          </a:prstGeom>
        </p:spPr>
      </p:pic>
      <p:sp>
        <p:nvSpPr>
          <p:cNvPr id="5" name="Shape 2"/>
          <p:cNvSpPr/>
          <p:nvPr/>
        </p:nvSpPr>
        <p:spPr>
          <a:xfrm>
            <a:off x="512064" y="1691640"/>
            <a:ext cx="11173968" cy="4526280"/>
          </a:xfrm>
          <a:prstGeom prst="rect">
            <a:avLst/>
          </a:prstGeom>
          <a:solidFill>
            <a:srgbClr val="FFFFFF">
              <a:alpha val="0"/>
            </a:srgbClr>
          </a:solidFill>
          <a:ln w="12700">
            <a:solidFill>
              <a:srgbClr val="D9E2EC"/>
            </a:solidFill>
            <a:prstDash val="solid"/>
          </a:ln>
        </p:spPr>
      </p:sp>
      <p:sp>
        <p:nvSpPr>
          <p:cNvPr id="6" name="Shape 3"/>
          <p:cNvSpPr/>
          <p:nvPr/>
        </p:nvSpPr>
        <p:spPr>
          <a:xfrm>
            <a:off x="731520" y="5715000"/>
            <a:ext cx="1325880" cy="256032"/>
          </a:xfrm>
          <a:prstGeom prst="roundRect">
            <a:avLst>
              <a:gd name="adj" fmla="val 50000"/>
            </a:avLst>
          </a:prstGeom>
          <a:solidFill>
            <a:srgbClr val="FDEBEC"/>
          </a:solidFill>
          <a:ln w="12700">
            <a:solidFill>
              <a:srgbClr val="FDEBEC"/>
            </a:solidFill>
            <a:prstDash val="solid"/>
          </a:ln>
        </p:spPr>
      </p:sp>
      <p:sp>
        <p:nvSpPr>
          <p:cNvPr id="7" name="Text 4"/>
          <p:cNvSpPr txBox="1"/>
          <p:nvPr/>
        </p:nvSpPr>
        <p:spPr>
          <a:xfrm>
            <a:off x="804672" y="5724144"/>
            <a:ext cx="1179576" cy="219456"/>
          </a:xfrm>
          <a:prstGeom prst="rect">
            <a:avLst/>
          </a:prstGeom>
          <a:noFill/>
          <a:ln/>
        </p:spPr>
        <p:txBody>
          <a:bodyPr wrap="square" lIns="0" tIns="0" rIns="0" bIns="0" rtlCol="0" anchor="ctr">
            <a:normAutofit/>
          </a:bodyPr>
          <a:lstStyle/>
          <a:p>
            <a:pPr algn="ctr" indent="0" marL="0">
              <a:buNone/>
            </a:pPr>
            <a:r>
              <a:rPr lang="en-US" sz="900" b="1" dirty="0">
                <a:solidFill>
                  <a:srgbClr val="D9343A"/>
                </a:solidFill>
                <a:latin typeface="Aptos" pitchFamily="34" charset="0"/>
                <a:ea typeface="Aptos" pitchFamily="34" charset="-122"/>
                <a:cs typeface="Aptos" pitchFamily="34" charset="-120"/>
              </a:rPr>
              <a:t>PRIORITY FIRST</a:t>
            </a:r>
            <a:endParaRPr lang="en-US" sz="900" dirty="0"/>
          </a:p>
        </p:txBody>
      </p:sp>
      <p:sp>
        <p:nvSpPr>
          <p:cNvPr id="8" name="Text 5"/>
          <p:cNvSpPr txBox="1"/>
          <p:nvPr/>
        </p:nvSpPr>
        <p:spPr>
          <a:xfrm>
            <a:off x="2212848" y="5715000"/>
            <a:ext cx="6949440" cy="256032"/>
          </a:xfrm>
          <a:prstGeom prst="rect">
            <a:avLst/>
          </a:prstGeom>
          <a:noFill/>
          <a:ln/>
        </p:spPr>
        <p:txBody>
          <a:bodyPr wrap="square" lIns="0" tIns="0" rIns="0" bIns="0" rtlCol="0" anchor="ctr">
            <a:normAutofit/>
          </a:bodyPr>
          <a:lstStyle/>
          <a:p>
            <a:pPr algn="l" indent="0" marL="0">
              <a:buNone/>
            </a:pPr>
            <a:r>
              <a:rPr lang="en-US" sz="1300" b="1" dirty="0">
                <a:solidFill>
                  <a:srgbClr val="0E1B2A"/>
                </a:solidFill>
                <a:latin typeface="Aptos" pitchFamily="34" charset="0"/>
                <a:ea typeface="Aptos" pitchFamily="34" charset="-122"/>
                <a:cs typeface="Aptos" pitchFamily="34" charset="-120"/>
              </a:rPr>
              <a:t>Four KPIs, then the actions that matter — the shipped console ranks the same way.</a:t>
            </a:r>
            <a:endParaRPr lang="en-US" sz="13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07 — A FINDING DEFENDS ITSELF</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Every number on screen carries its own SQL.</a:t>
            </a:r>
            <a:endParaRPr lang="en-US" sz="2800" dirty="0"/>
          </a:p>
        </p:txBody>
      </p:sp>
      <p:sp>
        <p:nvSpPr>
          <p:cNvPr id="4" name="Shape 2"/>
          <p:cNvSpPr/>
          <p:nvPr/>
        </p:nvSpPr>
        <p:spPr>
          <a:xfrm>
            <a:off x="548640" y="1810512"/>
            <a:ext cx="6720840" cy="4389120"/>
          </a:xfrm>
          <a:prstGeom prst="roundRect">
            <a:avLst>
              <a:gd name="adj" fmla="val 3333"/>
            </a:avLst>
          </a:prstGeom>
          <a:solidFill>
            <a:srgbClr val="FFFFFF"/>
          </a:solidFill>
          <a:ln w="12700">
            <a:solidFill>
              <a:srgbClr val="D9E2EC"/>
            </a:solidFill>
            <a:prstDash val="solid"/>
          </a:ln>
        </p:spPr>
      </p:sp>
      <p:sp>
        <p:nvSpPr>
          <p:cNvPr id="5" name="Shape 3"/>
          <p:cNvSpPr/>
          <p:nvPr/>
        </p:nvSpPr>
        <p:spPr>
          <a:xfrm>
            <a:off x="841248" y="2057400"/>
            <a:ext cx="1115568" cy="256032"/>
          </a:xfrm>
          <a:prstGeom prst="roundRect">
            <a:avLst>
              <a:gd name="adj" fmla="val 50000"/>
            </a:avLst>
          </a:prstGeom>
          <a:solidFill>
            <a:srgbClr val="FDEBEC"/>
          </a:solidFill>
          <a:ln w="12700">
            <a:solidFill>
              <a:srgbClr val="FDEBEC"/>
            </a:solidFill>
            <a:prstDash val="solid"/>
          </a:ln>
        </p:spPr>
      </p:sp>
      <p:sp>
        <p:nvSpPr>
          <p:cNvPr id="6" name="Text 4"/>
          <p:cNvSpPr txBox="1"/>
          <p:nvPr/>
        </p:nvSpPr>
        <p:spPr>
          <a:xfrm>
            <a:off x="914400" y="2066544"/>
            <a:ext cx="969264" cy="219456"/>
          </a:xfrm>
          <a:prstGeom prst="rect">
            <a:avLst/>
          </a:prstGeom>
          <a:noFill/>
          <a:ln/>
        </p:spPr>
        <p:txBody>
          <a:bodyPr wrap="square" lIns="0" tIns="0" rIns="0" bIns="0" rtlCol="0" anchor="ctr">
            <a:normAutofit/>
          </a:bodyPr>
          <a:lstStyle/>
          <a:p>
            <a:pPr algn="ctr" indent="0" marL="0">
              <a:buNone/>
            </a:pPr>
            <a:r>
              <a:rPr lang="en-US" sz="900" b="1" dirty="0">
                <a:solidFill>
                  <a:srgbClr val="D9343A"/>
                </a:solidFill>
                <a:latin typeface="Aptos" pitchFamily="34" charset="0"/>
                <a:ea typeface="Aptos" pitchFamily="34" charset="-122"/>
                <a:cs typeface="Aptos" pitchFamily="34" charset="-120"/>
              </a:rPr>
              <a:t>BREACH</a:t>
            </a:r>
            <a:endParaRPr lang="en-US" sz="900" dirty="0"/>
          </a:p>
        </p:txBody>
      </p:sp>
      <p:sp>
        <p:nvSpPr>
          <p:cNvPr id="7" name="Text 5"/>
          <p:cNvSpPr txBox="1"/>
          <p:nvPr/>
        </p:nvSpPr>
        <p:spPr>
          <a:xfrm>
            <a:off x="841248" y="2542032"/>
            <a:ext cx="4846320" cy="310896"/>
          </a:xfrm>
          <a:prstGeom prst="rect">
            <a:avLst/>
          </a:prstGeom>
          <a:noFill/>
          <a:ln/>
        </p:spPr>
        <p:txBody>
          <a:bodyPr wrap="square" lIns="0" tIns="0" rIns="0" bIns="0" rtlCol="0" anchor="ctr">
            <a:normAutofit/>
          </a:bodyPr>
          <a:lstStyle/>
          <a:p>
            <a:pPr algn="l" indent="0" marL="0">
              <a:buNone/>
            </a:pPr>
            <a:r>
              <a:rPr lang="en-US" sz="2100" b="1" dirty="0">
                <a:solidFill>
                  <a:srgbClr val="0E1B2A"/>
                </a:solidFill>
                <a:latin typeface="Aptos" pitchFamily="34" charset="0"/>
                <a:ea typeface="Aptos" pitchFamily="34" charset="-122"/>
                <a:cs typeface="Aptos" pitchFamily="34" charset="-120"/>
              </a:rPr>
              <a:t>On-time arrival, one site</a:t>
            </a:r>
            <a:endParaRPr lang="en-US" sz="2100" dirty="0"/>
          </a:p>
        </p:txBody>
      </p:sp>
      <p:sp>
        <p:nvSpPr>
          <p:cNvPr id="8" name="Text 6"/>
          <p:cNvSpPr txBox="1"/>
          <p:nvPr/>
        </p:nvSpPr>
        <p:spPr>
          <a:xfrm>
            <a:off x="841248" y="2926080"/>
            <a:ext cx="5669280" cy="320040"/>
          </a:xfrm>
          <a:prstGeom prst="rect">
            <a:avLst/>
          </a:prstGeom>
          <a:noFill/>
          <a:ln/>
        </p:spPr>
        <p:txBody>
          <a:bodyPr wrap="square" lIns="0" tIns="0" rIns="0" bIns="0" rtlCol="0" anchor="ctr">
            <a:normAutofit/>
          </a:bodyPr>
          <a:lstStyle/>
          <a:p>
            <a:pPr algn="l" indent="0" marL="0">
              <a:buNone/>
            </a:pPr>
            <a:r>
              <a:rPr lang="en-US" sz="1200" dirty="0">
                <a:solidFill>
                  <a:srgbClr val="61738A"/>
                </a:solidFill>
                <a:latin typeface="Aptos" pitchFamily="34" charset="0"/>
                <a:ea typeface="Aptos" pitchFamily="34" charset="-122"/>
                <a:cs typeface="Aptos" pitchFamily="34" charset="-120"/>
              </a:rPr>
              <a:t>Below its own 4-week average and behind its peer median for the window — a ranked BREACH, not an isolated reading.</a:t>
            </a:r>
            <a:endParaRPr lang="en-US" sz="1200" dirty="0"/>
          </a:p>
        </p:txBody>
      </p:sp>
      <p:sp>
        <p:nvSpPr>
          <p:cNvPr id="9" name="Shape 7"/>
          <p:cNvSpPr/>
          <p:nvPr/>
        </p:nvSpPr>
        <p:spPr>
          <a:xfrm>
            <a:off x="841248" y="3438144"/>
            <a:ext cx="6044184" cy="0"/>
          </a:xfrm>
          <a:prstGeom prst="line">
            <a:avLst/>
          </a:prstGeom>
          <a:noFill/>
          <a:ln w="12700">
            <a:solidFill>
              <a:srgbClr val="D9E2EC"/>
            </a:solidFill>
            <a:prstDash val="solid"/>
            <a:headEnd type="none"/>
            <a:tailEnd type="none"/>
          </a:ln>
        </p:spPr>
      </p:sp>
      <p:sp>
        <p:nvSpPr>
          <p:cNvPr id="10" name="Text 8"/>
          <p:cNvSpPr txBox="1"/>
          <p:nvPr/>
        </p:nvSpPr>
        <p:spPr>
          <a:xfrm>
            <a:off x="841248" y="3675888"/>
            <a:ext cx="82296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WHY</a:t>
            </a:r>
            <a:endParaRPr lang="en-US" sz="900" dirty="0"/>
          </a:p>
        </p:txBody>
      </p:sp>
      <p:sp>
        <p:nvSpPr>
          <p:cNvPr id="11" name="Text 9"/>
          <p:cNvSpPr txBox="1"/>
          <p:nvPr/>
        </p:nvSpPr>
        <p:spPr>
          <a:xfrm>
            <a:off x="841248" y="3931920"/>
            <a:ext cx="2377440" cy="237744"/>
          </a:xfrm>
          <a:prstGeom prst="rect">
            <a:avLst/>
          </a:prstGeom>
          <a:noFill/>
          <a:ln/>
        </p:spPr>
        <p:txBody>
          <a:bodyPr wrap="square" lIns="0" tIns="0" rIns="0" bIns="0" rtlCol="0" anchor="ctr">
            <a:normAutofit/>
          </a:bodyPr>
          <a:lstStyle/>
          <a:p>
            <a:pPr algn="l" indent="0" marL="0">
              <a:buNone/>
            </a:pPr>
            <a:r>
              <a:rPr lang="en-US" sz="1300" b="1" dirty="0">
                <a:solidFill>
                  <a:srgbClr val="0E1B2A"/>
                </a:solidFill>
                <a:latin typeface="Aptos" pitchFamily="34" charset="0"/>
                <a:ea typeface="Aptos" pitchFamily="34" charset="-122"/>
                <a:cs typeface="Aptos" pitchFamily="34" charset="-120"/>
              </a:rPr>
              <a:t>PEER_LAGGARD</a:t>
            </a:r>
            <a:endParaRPr lang="en-US" sz="1300" dirty="0"/>
          </a:p>
        </p:txBody>
      </p:sp>
      <p:sp>
        <p:nvSpPr>
          <p:cNvPr id="12" name="Text 10"/>
          <p:cNvSpPr txBox="1"/>
          <p:nvPr/>
        </p:nvSpPr>
        <p:spPr>
          <a:xfrm>
            <a:off x="841248" y="4233672"/>
            <a:ext cx="2286000" cy="201168"/>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cause, assigned by rule</a:t>
            </a:r>
            <a:endParaRPr lang="en-US" sz="1000" dirty="0"/>
          </a:p>
        </p:txBody>
      </p:sp>
      <p:sp>
        <p:nvSpPr>
          <p:cNvPr id="13" name="Text 11"/>
          <p:cNvSpPr txBox="1"/>
          <p:nvPr/>
        </p:nvSpPr>
        <p:spPr>
          <a:xfrm>
            <a:off x="3337560" y="3675888"/>
            <a:ext cx="82296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RANK</a:t>
            </a:r>
            <a:endParaRPr lang="en-US" sz="900" dirty="0"/>
          </a:p>
        </p:txBody>
      </p:sp>
      <p:sp>
        <p:nvSpPr>
          <p:cNvPr id="14" name="Text 12"/>
          <p:cNvSpPr txBox="1"/>
          <p:nvPr/>
        </p:nvSpPr>
        <p:spPr>
          <a:xfrm>
            <a:off x="3337560" y="3931920"/>
            <a:ext cx="2103120" cy="237744"/>
          </a:xfrm>
          <a:prstGeom prst="rect">
            <a:avLst/>
          </a:prstGeom>
          <a:noFill/>
          <a:ln/>
        </p:spPr>
        <p:txBody>
          <a:bodyPr wrap="square" lIns="0" tIns="0" rIns="0" bIns="0" rtlCol="0" anchor="ctr">
            <a:normAutofit/>
          </a:bodyPr>
          <a:lstStyle/>
          <a:p>
            <a:pPr algn="l" indent="0" marL="0">
              <a:buNone/>
            </a:pPr>
            <a:r>
              <a:rPr lang="en-US" sz="1300" b="1" dirty="0">
                <a:solidFill>
                  <a:srgbClr val="0E1B2A"/>
                </a:solidFill>
                <a:latin typeface="Aptos" pitchFamily="34" charset="0"/>
                <a:ea typeface="Aptos" pitchFamily="34" charset="-122"/>
                <a:cs typeface="Aptos" pitchFamily="34" charset="-120"/>
              </a:rPr>
              <a:t>Tier, then gap</a:t>
            </a:r>
            <a:endParaRPr lang="en-US" sz="1300" dirty="0"/>
          </a:p>
        </p:txBody>
      </p:sp>
      <p:sp>
        <p:nvSpPr>
          <p:cNvPr id="15" name="Text 13"/>
          <p:cNvSpPr txBox="1"/>
          <p:nvPr/>
        </p:nvSpPr>
        <p:spPr>
          <a:xfrm>
            <a:off x="3337560" y="4233672"/>
            <a:ext cx="1920240" cy="201168"/>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ordinal, never summed</a:t>
            </a:r>
            <a:endParaRPr lang="en-US" sz="1000" dirty="0"/>
          </a:p>
        </p:txBody>
      </p:sp>
      <p:sp>
        <p:nvSpPr>
          <p:cNvPr id="16" name="Text 14"/>
          <p:cNvSpPr txBox="1"/>
          <p:nvPr/>
        </p:nvSpPr>
        <p:spPr>
          <a:xfrm>
            <a:off x="5486400" y="3675888"/>
            <a:ext cx="82296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ACTION</a:t>
            </a:r>
            <a:endParaRPr lang="en-US" sz="900" dirty="0"/>
          </a:p>
        </p:txBody>
      </p:sp>
      <p:sp>
        <p:nvSpPr>
          <p:cNvPr id="17" name="Text 15"/>
          <p:cNvSpPr txBox="1"/>
          <p:nvPr/>
        </p:nvSpPr>
        <p:spPr>
          <a:xfrm>
            <a:off x="5486400" y="3931920"/>
            <a:ext cx="1325880" cy="457200"/>
          </a:xfrm>
          <a:prstGeom prst="rect">
            <a:avLst/>
          </a:prstGeom>
          <a:noFill/>
          <a:ln/>
        </p:spPr>
        <p:txBody>
          <a:bodyPr wrap="square" lIns="0" tIns="0" rIns="0" bIns="0" rtlCol="0" anchor="t">
            <a:normAutofit/>
          </a:bodyPr>
          <a:lstStyle/>
          <a:p>
            <a:pPr algn="l" indent="0" marL="0">
              <a:buNone/>
            </a:pPr>
            <a:r>
              <a:rPr lang="en-US" sz="1100" b="1" dirty="0">
                <a:solidFill>
                  <a:srgbClr val="0E1B2A"/>
                </a:solidFill>
                <a:latin typeface="Aptos" pitchFamily="34" charset="0"/>
                <a:ea typeface="Aptos" pitchFamily="34" charset="-122"/>
                <a:cs typeface="Aptos" pitchFamily="34" charset="-120"/>
              </a:rPr>
              <a:t>Sent to TM + Facilities</a:t>
            </a:r>
            <a:endParaRPr lang="en-US" sz="1100" dirty="0"/>
          </a:p>
        </p:txBody>
      </p:sp>
      <p:sp>
        <p:nvSpPr>
          <p:cNvPr id="18" name="Shape 16"/>
          <p:cNvSpPr/>
          <p:nvPr/>
        </p:nvSpPr>
        <p:spPr>
          <a:xfrm>
            <a:off x="841248" y="4892040"/>
            <a:ext cx="1143000" cy="256032"/>
          </a:xfrm>
          <a:prstGeom prst="roundRect">
            <a:avLst>
              <a:gd name="adj" fmla="val 50000"/>
            </a:avLst>
          </a:prstGeom>
          <a:solidFill>
            <a:srgbClr val="1769E0"/>
          </a:solidFill>
          <a:ln w="12700">
            <a:solidFill>
              <a:srgbClr val="1769E0"/>
            </a:solidFill>
            <a:prstDash val="solid"/>
          </a:ln>
        </p:spPr>
      </p:sp>
      <p:sp>
        <p:nvSpPr>
          <p:cNvPr id="19" name="Text 17"/>
          <p:cNvSpPr txBox="1"/>
          <p:nvPr/>
        </p:nvSpPr>
        <p:spPr>
          <a:xfrm>
            <a:off x="914400" y="4901184"/>
            <a:ext cx="996696" cy="219456"/>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EVIDENCE SQL</a:t>
            </a:r>
            <a:endParaRPr lang="en-US" sz="900" dirty="0"/>
          </a:p>
        </p:txBody>
      </p:sp>
      <p:sp>
        <p:nvSpPr>
          <p:cNvPr id="20" name="Shape 18"/>
          <p:cNvSpPr/>
          <p:nvPr/>
        </p:nvSpPr>
        <p:spPr>
          <a:xfrm>
            <a:off x="2121408" y="4892040"/>
            <a:ext cx="914400" cy="256032"/>
          </a:xfrm>
          <a:prstGeom prst="roundRect">
            <a:avLst>
              <a:gd name="adj" fmla="val 50000"/>
            </a:avLst>
          </a:prstGeom>
          <a:solidFill>
            <a:srgbClr val="EAF2FF"/>
          </a:solidFill>
          <a:ln w="12700">
            <a:solidFill>
              <a:srgbClr val="EAF2FF"/>
            </a:solidFill>
            <a:prstDash val="solid"/>
          </a:ln>
        </p:spPr>
      </p:sp>
      <p:sp>
        <p:nvSpPr>
          <p:cNvPr id="21" name="Text 19"/>
          <p:cNvSpPr txBox="1"/>
          <p:nvPr/>
        </p:nvSpPr>
        <p:spPr>
          <a:xfrm>
            <a:off x="2194560" y="4901184"/>
            <a:ext cx="768096" cy="219456"/>
          </a:xfrm>
          <a:prstGeom prst="rect">
            <a:avLst/>
          </a:prstGeom>
          <a:noFill/>
          <a:ln/>
        </p:spPr>
        <p:txBody>
          <a:bodyPr wrap="square" lIns="0" tIns="0" rIns="0" bIns="0" rtlCol="0" anchor="ctr">
            <a:normAutofit/>
          </a:bodyPr>
          <a:lstStyle/>
          <a:p>
            <a:pPr algn="ctr" indent="0" marL="0">
              <a:buNone/>
            </a:pPr>
            <a:r>
              <a:rPr lang="en-US" sz="900" b="1" dirty="0">
                <a:solidFill>
                  <a:srgbClr val="1769E0"/>
                </a:solidFill>
                <a:latin typeface="Aptos" pitchFamily="34" charset="0"/>
                <a:ea typeface="Aptos" pitchFamily="34" charset="-122"/>
                <a:cs typeface="Aptos" pitchFamily="34" charset="-120"/>
              </a:rPr>
              <a:t>TREND</a:t>
            </a:r>
            <a:endParaRPr lang="en-US" sz="900" dirty="0"/>
          </a:p>
        </p:txBody>
      </p:sp>
      <p:sp>
        <p:nvSpPr>
          <p:cNvPr id="22" name="Shape 20"/>
          <p:cNvSpPr/>
          <p:nvPr/>
        </p:nvSpPr>
        <p:spPr>
          <a:xfrm>
            <a:off x="3182112" y="4892040"/>
            <a:ext cx="841248" cy="256032"/>
          </a:xfrm>
          <a:prstGeom prst="roundRect">
            <a:avLst>
              <a:gd name="adj" fmla="val 50000"/>
            </a:avLst>
          </a:prstGeom>
          <a:solidFill>
            <a:srgbClr val="EEF2F6"/>
          </a:solidFill>
          <a:ln w="12700">
            <a:solidFill>
              <a:srgbClr val="EEF2F6"/>
            </a:solidFill>
            <a:prstDash val="solid"/>
          </a:ln>
        </p:spPr>
      </p:sp>
      <p:sp>
        <p:nvSpPr>
          <p:cNvPr id="23" name="Text 21"/>
          <p:cNvSpPr txBox="1"/>
          <p:nvPr/>
        </p:nvSpPr>
        <p:spPr>
          <a:xfrm>
            <a:off x="3255264" y="4901184"/>
            <a:ext cx="694944" cy="219456"/>
          </a:xfrm>
          <a:prstGeom prst="rect">
            <a:avLst/>
          </a:prstGeom>
          <a:noFill/>
          <a:ln/>
        </p:spPr>
        <p:txBody>
          <a:bodyPr wrap="square" lIns="0" tIns="0" rIns="0" bIns="0" rtlCol="0" anchor="ctr">
            <a:normAutofit/>
          </a:bodyPr>
          <a:lstStyle/>
          <a:p>
            <a:pPr algn="ctr" indent="0" marL="0">
              <a:buNone/>
            </a:pPr>
            <a:r>
              <a:rPr lang="en-US" sz="900" b="1" dirty="0">
                <a:solidFill>
                  <a:srgbClr val="61738A"/>
                </a:solidFill>
                <a:latin typeface="Aptos" pitchFamily="34" charset="0"/>
                <a:ea typeface="Aptos" pitchFamily="34" charset="-122"/>
                <a:cs typeface="Aptos" pitchFamily="34" charset="-120"/>
              </a:rPr>
              <a:t>PEERS</a:t>
            </a:r>
            <a:endParaRPr lang="en-US" sz="900" dirty="0"/>
          </a:p>
        </p:txBody>
      </p:sp>
      <p:sp>
        <p:nvSpPr>
          <p:cNvPr id="24" name="Shape 22"/>
          <p:cNvSpPr/>
          <p:nvPr/>
        </p:nvSpPr>
        <p:spPr>
          <a:xfrm>
            <a:off x="7543800" y="1810512"/>
            <a:ext cx="4114800" cy="4389120"/>
          </a:xfrm>
          <a:prstGeom prst="roundRect">
            <a:avLst>
              <a:gd name="adj" fmla="val 3556"/>
            </a:avLst>
          </a:prstGeom>
          <a:solidFill>
            <a:srgbClr val="0E1B2A"/>
          </a:solidFill>
          <a:ln w="12700">
            <a:solidFill>
              <a:srgbClr val="0E1B2A"/>
            </a:solidFill>
            <a:prstDash val="solid"/>
          </a:ln>
        </p:spPr>
      </p:sp>
      <p:sp>
        <p:nvSpPr>
          <p:cNvPr id="25" name="Text 23"/>
          <p:cNvSpPr txBox="1"/>
          <p:nvPr/>
        </p:nvSpPr>
        <p:spPr>
          <a:xfrm>
            <a:off x="7882128" y="2148840"/>
            <a:ext cx="3200400" cy="731520"/>
          </a:xfrm>
          <a:prstGeom prst="rect">
            <a:avLst/>
          </a:prstGeom>
          <a:noFill/>
          <a:ln/>
        </p:spPr>
        <p:txBody>
          <a:bodyPr wrap="square" lIns="0" tIns="0" rIns="0" bIns="0" rtlCol="0" anchor="t">
            <a:normAutofit/>
          </a:bodyPr>
          <a:lstStyle/>
          <a:p>
            <a:pPr algn="l" indent="0" marL="0">
              <a:buNone/>
            </a:pPr>
            <a:r>
              <a:rPr lang="en-US" sz="2400" b="1" dirty="0">
                <a:solidFill>
                  <a:srgbClr val="FFFFFF"/>
                </a:solidFill>
                <a:latin typeface="Aptos" pitchFamily="34" charset="0"/>
                <a:ea typeface="Aptos" pitchFamily="34" charset="-122"/>
                <a:cs typeface="Aptos" pitchFamily="34" charset="-120"/>
              </a:rPr>
              <a:t>Why you can</a:t>
            </a:r>
            <a:endParaRPr lang="en-US" sz="2400" dirty="0"/>
          </a:p>
          <a:p>
            <a:pPr algn="l" indent="0" marL="0">
              <a:buNone/>
            </a:pPr>
            <a:r>
              <a:rPr lang="en-US" sz="2400" b="1" dirty="0">
                <a:solidFill>
                  <a:srgbClr val="FFFFFF"/>
                </a:solidFill>
                <a:latin typeface="Aptos" pitchFamily="34" charset="0"/>
                <a:ea typeface="Aptos" pitchFamily="34" charset="-122"/>
                <a:cs typeface="Aptos" pitchFamily="34" charset="-120"/>
              </a:rPr>
              <a:t>trust the number</a:t>
            </a:r>
            <a:endParaRPr lang="en-US" sz="2400" dirty="0"/>
          </a:p>
        </p:txBody>
      </p:sp>
      <p:sp>
        <p:nvSpPr>
          <p:cNvPr id="26" name="Shape 24"/>
          <p:cNvSpPr/>
          <p:nvPr/>
        </p:nvSpPr>
        <p:spPr>
          <a:xfrm>
            <a:off x="7900416" y="3154680"/>
            <a:ext cx="256032" cy="256032"/>
          </a:xfrm>
          <a:prstGeom prst="ellipse">
            <a:avLst/>
          </a:prstGeom>
          <a:solidFill>
            <a:srgbClr val="1769E0"/>
          </a:solidFill>
          <a:ln w="12700">
            <a:solidFill>
              <a:srgbClr val="1769E0"/>
            </a:solidFill>
            <a:prstDash val="solid"/>
          </a:ln>
        </p:spPr>
      </p:sp>
      <p:sp>
        <p:nvSpPr>
          <p:cNvPr id="27" name="Text 25"/>
          <p:cNvSpPr txBox="1"/>
          <p:nvPr/>
        </p:nvSpPr>
        <p:spPr>
          <a:xfrm>
            <a:off x="7900416" y="3163824"/>
            <a:ext cx="256032" cy="24688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28" name="Text 26"/>
          <p:cNvSpPr txBox="1"/>
          <p:nvPr/>
        </p:nvSpPr>
        <p:spPr>
          <a:xfrm>
            <a:off x="8275320" y="3118104"/>
            <a:ext cx="960120" cy="182880"/>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Counted</a:t>
            </a:r>
            <a:endParaRPr lang="en-US" sz="1150" dirty="0"/>
          </a:p>
        </p:txBody>
      </p:sp>
      <p:sp>
        <p:nvSpPr>
          <p:cNvPr id="29" name="Text 27"/>
          <p:cNvSpPr txBox="1"/>
          <p:nvPr/>
        </p:nvSpPr>
        <p:spPr>
          <a:xfrm>
            <a:off x="9253728" y="3118104"/>
            <a:ext cx="1920240" cy="182880"/>
          </a:xfrm>
          <a:prstGeom prst="rect">
            <a:avLst/>
          </a:prstGeom>
          <a:noFill/>
          <a:ln/>
        </p:spPr>
        <p:txBody>
          <a:bodyPr wrap="square" lIns="0" tIns="0" rIns="0" bIns="0" rtlCol="0" anchor="ctr">
            <a:normAutofit/>
          </a:bodyPr>
          <a:lstStyle/>
          <a:p>
            <a:pPr algn="l" indent="0" marL="0">
              <a:buNone/>
            </a:pPr>
            <a:r>
              <a:rPr lang="en-US" sz="1050" dirty="0">
                <a:solidFill>
                  <a:srgbClr val="B9CDE0"/>
                </a:solidFill>
                <a:latin typeface="Aptos" pitchFamily="34" charset="0"/>
                <a:ea typeface="Aptos" pitchFamily="34" charset="-122"/>
                <a:cs typeface="Aptos" pitchFamily="34" charset="-120"/>
              </a:rPr>
              <a:t>rejects quarantined, not lost</a:t>
            </a:r>
            <a:endParaRPr lang="en-US" sz="1050" dirty="0"/>
          </a:p>
        </p:txBody>
      </p:sp>
      <p:sp>
        <p:nvSpPr>
          <p:cNvPr id="30" name="Shape 28"/>
          <p:cNvSpPr/>
          <p:nvPr/>
        </p:nvSpPr>
        <p:spPr>
          <a:xfrm>
            <a:off x="7900416" y="3685032"/>
            <a:ext cx="256032" cy="256032"/>
          </a:xfrm>
          <a:prstGeom prst="ellipse">
            <a:avLst/>
          </a:prstGeom>
          <a:solidFill>
            <a:srgbClr val="1769E0"/>
          </a:solidFill>
          <a:ln w="12700">
            <a:solidFill>
              <a:srgbClr val="1769E0"/>
            </a:solidFill>
            <a:prstDash val="solid"/>
          </a:ln>
        </p:spPr>
      </p:sp>
      <p:sp>
        <p:nvSpPr>
          <p:cNvPr id="31" name="Text 29"/>
          <p:cNvSpPr txBox="1"/>
          <p:nvPr/>
        </p:nvSpPr>
        <p:spPr>
          <a:xfrm>
            <a:off x="7900416" y="3694176"/>
            <a:ext cx="256032" cy="24688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
        <p:nvSpPr>
          <p:cNvPr id="32" name="Text 30"/>
          <p:cNvSpPr txBox="1"/>
          <p:nvPr/>
        </p:nvSpPr>
        <p:spPr>
          <a:xfrm>
            <a:off x="8275320" y="3648456"/>
            <a:ext cx="960120" cy="182880"/>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Capped</a:t>
            </a:r>
            <a:endParaRPr lang="en-US" sz="1150" dirty="0"/>
          </a:p>
        </p:txBody>
      </p:sp>
      <p:sp>
        <p:nvSpPr>
          <p:cNvPr id="33" name="Text 31"/>
          <p:cNvSpPr txBox="1"/>
          <p:nvPr/>
        </p:nvSpPr>
        <p:spPr>
          <a:xfrm>
            <a:off x="9253728" y="3648456"/>
            <a:ext cx="1920240" cy="182880"/>
          </a:xfrm>
          <a:prstGeom prst="rect">
            <a:avLst/>
          </a:prstGeom>
          <a:noFill/>
          <a:ln/>
        </p:spPr>
        <p:txBody>
          <a:bodyPr wrap="square" lIns="0" tIns="0" rIns="0" bIns="0" rtlCol="0" anchor="ctr">
            <a:normAutofit/>
          </a:bodyPr>
          <a:lstStyle/>
          <a:p>
            <a:pPr algn="l" indent="0" marL="0">
              <a:buNone/>
            </a:pPr>
            <a:r>
              <a:rPr lang="en-US" sz="1050" dirty="0">
                <a:solidFill>
                  <a:srgbClr val="B9CDE0"/>
                </a:solidFill>
                <a:latin typeface="Aptos" pitchFamily="34" charset="0"/>
                <a:ea typeface="Aptos" pitchFamily="34" charset="-122"/>
                <a:cs typeface="Aptos" pitchFamily="34" charset="-120"/>
              </a:rPr>
              <a:t>low confidence caps severity</a:t>
            </a:r>
            <a:endParaRPr lang="en-US" sz="1050" dirty="0"/>
          </a:p>
        </p:txBody>
      </p:sp>
      <p:sp>
        <p:nvSpPr>
          <p:cNvPr id="34" name="Shape 32"/>
          <p:cNvSpPr/>
          <p:nvPr/>
        </p:nvSpPr>
        <p:spPr>
          <a:xfrm>
            <a:off x="7900416" y="4215384"/>
            <a:ext cx="256032" cy="256032"/>
          </a:xfrm>
          <a:prstGeom prst="ellipse">
            <a:avLst/>
          </a:prstGeom>
          <a:solidFill>
            <a:srgbClr val="1769E0"/>
          </a:solidFill>
          <a:ln w="12700">
            <a:solidFill>
              <a:srgbClr val="1769E0"/>
            </a:solidFill>
            <a:prstDash val="solid"/>
          </a:ln>
        </p:spPr>
      </p:sp>
      <p:sp>
        <p:nvSpPr>
          <p:cNvPr id="35" name="Text 33"/>
          <p:cNvSpPr txBox="1"/>
          <p:nvPr/>
        </p:nvSpPr>
        <p:spPr>
          <a:xfrm>
            <a:off x="7900416" y="4224528"/>
            <a:ext cx="256032" cy="24688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36" name="Text 34"/>
          <p:cNvSpPr txBox="1"/>
          <p:nvPr/>
        </p:nvSpPr>
        <p:spPr>
          <a:xfrm>
            <a:off x="8275320" y="4178808"/>
            <a:ext cx="960120" cy="182880"/>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Anchored</a:t>
            </a:r>
            <a:endParaRPr lang="en-US" sz="1150" dirty="0"/>
          </a:p>
        </p:txBody>
      </p:sp>
      <p:sp>
        <p:nvSpPr>
          <p:cNvPr id="37" name="Text 35"/>
          <p:cNvSpPr txBox="1"/>
          <p:nvPr/>
        </p:nvSpPr>
        <p:spPr>
          <a:xfrm>
            <a:off x="9253728" y="4178808"/>
            <a:ext cx="1920240" cy="182880"/>
          </a:xfrm>
          <a:prstGeom prst="rect">
            <a:avLst/>
          </a:prstGeom>
          <a:noFill/>
          <a:ln/>
        </p:spPr>
        <p:txBody>
          <a:bodyPr wrap="square" lIns="0" tIns="0" rIns="0" bIns="0" rtlCol="0" anchor="ctr">
            <a:normAutofit/>
          </a:bodyPr>
          <a:lstStyle/>
          <a:p>
            <a:pPr algn="l" indent="0" marL="0">
              <a:buNone/>
            </a:pPr>
            <a:r>
              <a:rPr lang="en-US" sz="1050" dirty="0">
                <a:solidFill>
                  <a:srgbClr val="B9CDE0"/>
                </a:solidFill>
                <a:latin typeface="Aptos" pitchFamily="34" charset="0"/>
                <a:ea typeface="Aptos" pitchFamily="34" charset="-122"/>
                <a:cs typeface="Aptos" pitchFamily="34" charset="-120"/>
              </a:rPr>
              <a:t>no metric is shown alone</a:t>
            </a:r>
            <a:endParaRPr lang="en-US" sz="1050" dirty="0"/>
          </a:p>
        </p:txBody>
      </p:sp>
      <p:sp>
        <p:nvSpPr>
          <p:cNvPr id="38" name="Shape 36"/>
          <p:cNvSpPr/>
          <p:nvPr/>
        </p:nvSpPr>
        <p:spPr>
          <a:xfrm>
            <a:off x="7900416" y="4745736"/>
            <a:ext cx="256032" cy="256032"/>
          </a:xfrm>
          <a:prstGeom prst="ellipse">
            <a:avLst/>
          </a:prstGeom>
          <a:solidFill>
            <a:srgbClr val="1769E0"/>
          </a:solidFill>
          <a:ln w="12700">
            <a:solidFill>
              <a:srgbClr val="1769E0"/>
            </a:solidFill>
            <a:prstDash val="solid"/>
          </a:ln>
        </p:spPr>
      </p:sp>
      <p:sp>
        <p:nvSpPr>
          <p:cNvPr id="39" name="Text 37"/>
          <p:cNvSpPr txBox="1"/>
          <p:nvPr/>
        </p:nvSpPr>
        <p:spPr>
          <a:xfrm>
            <a:off x="7900416" y="4754880"/>
            <a:ext cx="256032" cy="24688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4</a:t>
            </a:r>
            <a:endParaRPr lang="en-US" sz="800" dirty="0"/>
          </a:p>
        </p:txBody>
      </p:sp>
      <p:sp>
        <p:nvSpPr>
          <p:cNvPr id="40" name="Text 38"/>
          <p:cNvSpPr txBox="1"/>
          <p:nvPr/>
        </p:nvSpPr>
        <p:spPr>
          <a:xfrm>
            <a:off x="8275320" y="4709160"/>
            <a:ext cx="960120" cy="182880"/>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Ordinal</a:t>
            </a:r>
            <a:endParaRPr lang="en-US" sz="1150" dirty="0"/>
          </a:p>
        </p:txBody>
      </p:sp>
      <p:sp>
        <p:nvSpPr>
          <p:cNvPr id="41" name="Text 39"/>
          <p:cNvSpPr txBox="1"/>
          <p:nvPr/>
        </p:nvSpPr>
        <p:spPr>
          <a:xfrm>
            <a:off x="9253728" y="4709160"/>
            <a:ext cx="1920240" cy="182880"/>
          </a:xfrm>
          <a:prstGeom prst="rect">
            <a:avLst/>
          </a:prstGeom>
          <a:noFill/>
          <a:ln/>
        </p:spPr>
        <p:txBody>
          <a:bodyPr wrap="square" lIns="0" tIns="0" rIns="0" bIns="0" rtlCol="0" anchor="ctr">
            <a:normAutofit/>
          </a:bodyPr>
          <a:lstStyle/>
          <a:p>
            <a:pPr algn="l" indent="0" marL="0">
              <a:buNone/>
            </a:pPr>
            <a:r>
              <a:rPr lang="en-US" sz="1050" dirty="0">
                <a:solidFill>
                  <a:srgbClr val="B9CDE0"/>
                </a:solidFill>
                <a:latin typeface="Aptos" pitchFamily="34" charset="0"/>
                <a:ea typeface="Aptos" pitchFamily="34" charset="-122"/>
                <a:cs typeface="Aptos" pitchFamily="34" charset="-120"/>
              </a:rPr>
              <a:t>a WATCH never beats a BREACH</a:t>
            </a:r>
            <a:endParaRPr lang="en-US" sz="1050" dirty="0"/>
          </a:p>
        </p:txBody>
      </p:sp>
      <p:sp>
        <p:nvSpPr>
          <p:cNvPr id="42" name="Shape 40"/>
          <p:cNvSpPr/>
          <p:nvPr/>
        </p:nvSpPr>
        <p:spPr>
          <a:xfrm>
            <a:off x="7900416" y="5276088"/>
            <a:ext cx="256032" cy="256032"/>
          </a:xfrm>
          <a:prstGeom prst="ellipse">
            <a:avLst/>
          </a:prstGeom>
          <a:solidFill>
            <a:srgbClr val="36D6BD"/>
          </a:solidFill>
          <a:ln w="12700">
            <a:solidFill>
              <a:srgbClr val="36D6BD"/>
            </a:solidFill>
            <a:prstDash val="solid"/>
          </a:ln>
        </p:spPr>
      </p:sp>
      <p:sp>
        <p:nvSpPr>
          <p:cNvPr id="43" name="Text 41"/>
          <p:cNvSpPr txBox="1"/>
          <p:nvPr/>
        </p:nvSpPr>
        <p:spPr>
          <a:xfrm>
            <a:off x="7900416" y="5285232"/>
            <a:ext cx="256032" cy="24688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5</a:t>
            </a:r>
            <a:endParaRPr lang="en-US" sz="800" dirty="0"/>
          </a:p>
        </p:txBody>
      </p:sp>
      <p:sp>
        <p:nvSpPr>
          <p:cNvPr id="44" name="Text 42"/>
          <p:cNvSpPr txBox="1"/>
          <p:nvPr/>
        </p:nvSpPr>
        <p:spPr>
          <a:xfrm>
            <a:off x="8275320" y="5239512"/>
            <a:ext cx="960120" cy="182880"/>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ptos" pitchFamily="34" charset="0"/>
                <a:ea typeface="Aptos" pitchFamily="34" charset="-122"/>
                <a:cs typeface="Aptos" pitchFamily="34" charset="-120"/>
              </a:rPr>
              <a:t>Checked</a:t>
            </a:r>
            <a:endParaRPr lang="en-US" sz="1150" dirty="0"/>
          </a:p>
        </p:txBody>
      </p:sp>
      <p:sp>
        <p:nvSpPr>
          <p:cNvPr id="45" name="Text 43"/>
          <p:cNvSpPr txBox="1"/>
          <p:nvPr/>
        </p:nvSpPr>
        <p:spPr>
          <a:xfrm>
            <a:off x="9253728" y="5239512"/>
            <a:ext cx="1920240" cy="182880"/>
          </a:xfrm>
          <a:prstGeom prst="rect">
            <a:avLst/>
          </a:prstGeom>
          <a:noFill/>
          <a:ln/>
        </p:spPr>
        <p:txBody>
          <a:bodyPr wrap="square" lIns="0" tIns="0" rIns="0" bIns="0" rtlCol="0" anchor="ctr">
            <a:normAutofit/>
          </a:bodyPr>
          <a:lstStyle/>
          <a:p>
            <a:pPr algn="l" indent="0" marL="0">
              <a:buNone/>
            </a:pPr>
            <a:r>
              <a:rPr lang="en-US" sz="1050" dirty="0">
                <a:solidFill>
                  <a:srgbClr val="B9CDE0"/>
                </a:solidFill>
                <a:latin typeface="Aptos" pitchFamily="34" charset="0"/>
                <a:ea typeface="Aptos" pitchFamily="34" charset="-122"/>
                <a:cs typeface="Aptos" pitchFamily="34" charset="-120"/>
              </a:rPr>
              <a:t>unknown figure → template</a:t>
            </a:r>
            <a:endParaRPr lang="en-US" sz="105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8</a:t>
            </a:fld>
            <a:endParaRPr lang="en-US"/>
          </a:p>
        </p:txBody>
      </p:sp>
      <p:sp>
        <p:nvSpPr>
          <p:cNvPr id="1501" name="SQL Label"/>
          <p:cNvSpPr txBox="1"/>
          <p:nvPr/>
        </p:nvSpPr>
        <p:spPr>
          <a:xfrm>
            <a:off x="841248" y="5440680"/>
            <a:ext cx="2194560" cy="182880"/>
          </a:xfrm>
          <a:prstGeom prst="rect">
            <a:avLst/>
          </a:prstGeom>
          <a:noFill/>
          <a:ln/>
        </p:spPr>
        <p:txBody>
          <a:bodyPr wrap="square" lIns="0" tIns="0" rIns="0" bIns="0" rtlCol="0" anchor="ctr">
            <a:normAutofit/>
          </a:bodyPr>
          <a:lstStyle/>
          <a:p>
            <a:pPr algn="l" indent="0" marL="0">
              <a:buNone/>
            </a:pPr>
            <a:r>
              <a:rPr lang="en-US" sz="900" b="1" dirty="0">
                <a:solidFill>
                  <a:srgbClr val="61738A"/>
                </a:solidFill>
                <a:latin typeface="Aptos" pitchFamily="34" charset="0"/>
                <a:ea typeface="Aptos" pitchFamily="34" charset="-122"/>
                <a:cs typeface="Aptos" pitchFamily="34" charset="-120"/>
              </a:rPr>
              <a:t>EVIDENCE SQL, VERBATIM</a:t>
            </a:r>
            <a:endParaRPr lang="en-US" sz="900" dirty="0"/>
          </a:p>
        </p:txBody>
      </p:sp>
      <p:sp>
        <p:nvSpPr>
          <p:cNvPr id="1502" name="SQL Snippet"/>
          <p:cNvSpPr txBox="1"/>
          <p:nvPr/>
        </p:nvSpPr>
        <p:spPr>
          <a:xfrm>
            <a:off x="841248" y="5650992"/>
            <a:ext cx="5852160" cy="219456"/>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SELECT 100.0 * sum(on_time) / nullif(count(*), 0) FROM trips</a:t>
            </a:r>
            <a:endParaRPr lang="en-US" sz="1000" dirty="0"/>
          </a:p>
        </p:txBody>
      </p:sp>
      <p:sp>
        <p:nvSpPr>
          <p:cNvPr id="1599" name="SQL Snippet 2"/>
          <p:cNvSpPr txBox="1"/>
          <p:nvPr/>
        </p:nvSpPr>
        <p:spPr>
          <a:xfrm>
            <a:off x="841248" y="5870448"/>
            <a:ext cx="5852160" cy="219456"/>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WHERE scheduled_at &gt;= ? AND scheduled_at &lt; ? AND site_id = ?</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08 — RIGHT MESSAGE, RIGHT PERSON</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One sweep. Each audience gets only what it can act on.</a:t>
            </a:r>
            <a:endParaRPr lang="en-US" sz="2800" dirty="0"/>
          </a:p>
        </p:txBody>
      </p:sp>
      <p:sp>
        <p:nvSpPr>
          <p:cNvPr id="4" name="Shape 2"/>
          <p:cNvSpPr/>
          <p:nvPr/>
        </p:nvSpPr>
        <p:spPr>
          <a:xfrm>
            <a:off x="594360" y="2240280"/>
            <a:ext cx="10972800" cy="1143000"/>
          </a:xfrm>
          <a:prstGeom prst="roundRect">
            <a:avLst>
              <a:gd name="adj" fmla="val 12800"/>
            </a:avLst>
          </a:prstGeom>
          <a:solidFill>
            <a:srgbClr val="FFFFFF"/>
          </a:solidFill>
          <a:ln w="12700">
            <a:solidFill>
              <a:srgbClr val="D9E2EC"/>
            </a:solidFill>
            <a:prstDash val="solid"/>
          </a:ln>
        </p:spPr>
      </p:sp>
      <p:sp>
        <p:nvSpPr>
          <p:cNvPr id="5" name="Shape 3"/>
          <p:cNvSpPr/>
          <p:nvPr/>
        </p:nvSpPr>
        <p:spPr>
          <a:xfrm>
            <a:off x="841248" y="2441448"/>
            <a:ext cx="1645920" cy="256032"/>
          </a:xfrm>
          <a:prstGeom prst="roundRect">
            <a:avLst>
              <a:gd name="adj" fmla="val 50000"/>
            </a:avLst>
          </a:prstGeom>
          <a:solidFill>
            <a:srgbClr val="1769E0"/>
          </a:solidFill>
          <a:ln w="12700">
            <a:solidFill>
              <a:srgbClr val="1769E0"/>
            </a:solidFill>
            <a:prstDash val="solid"/>
          </a:ln>
        </p:spPr>
      </p:sp>
      <p:sp>
        <p:nvSpPr>
          <p:cNvPr id="6" name="Text 4"/>
          <p:cNvSpPr txBox="1"/>
          <p:nvPr/>
        </p:nvSpPr>
        <p:spPr>
          <a:xfrm>
            <a:off x="914400" y="2450592"/>
            <a:ext cx="1499616" cy="219456"/>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TRANSPORT MANAGER</a:t>
            </a:r>
            <a:endParaRPr lang="en-US" sz="850" dirty="0"/>
          </a:p>
        </p:txBody>
      </p:sp>
      <p:sp>
        <p:nvSpPr>
          <p:cNvPr id="7" name="Text 5"/>
          <p:cNvSpPr txBox="1"/>
          <p:nvPr/>
        </p:nvSpPr>
        <p:spPr>
          <a:xfrm>
            <a:off x="2761488" y="2414016"/>
            <a:ext cx="2560320" cy="201168"/>
          </a:xfrm>
          <a:prstGeom prst="rect">
            <a:avLst/>
          </a:prstGeom>
          <a:noFill/>
          <a:ln/>
        </p:spPr>
        <p:txBody>
          <a:bodyPr wrap="square" lIns="0" tIns="0" rIns="0" bIns="0" rtlCol="0" anchor="ctr">
            <a:normAutofit/>
          </a:bodyPr>
          <a:lstStyle/>
          <a:p>
            <a:pPr algn="l" indent="0" marL="0">
              <a:buNone/>
            </a:pPr>
            <a:r>
              <a:rPr lang="en-US" sz="1100" b="1" dirty="0">
                <a:solidFill>
                  <a:srgbClr val="0E1B2A"/>
                </a:solidFill>
                <a:latin typeface="Aptos" pitchFamily="34" charset="0"/>
                <a:ea typeface="Aptos" pitchFamily="34" charset="-122"/>
                <a:cs typeface="Aptos" pitchFamily="34" charset="-120"/>
              </a:rPr>
              <a:t>What do I need to do?</a:t>
            </a:r>
            <a:endParaRPr lang="en-US" sz="1100" dirty="0"/>
          </a:p>
        </p:txBody>
      </p:sp>
      <p:sp>
        <p:nvSpPr>
          <p:cNvPr id="8" name="Text 6"/>
          <p:cNvSpPr txBox="1"/>
          <p:nvPr/>
        </p:nvSpPr>
        <p:spPr>
          <a:xfrm>
            <a:off x="2761488" y="2715768"/>
            <a:ext cx="7132320" cy="402336"/>
          </a:xfrm>
          <a:prstGeom prst="rect">
            <a:avLst/>
          </a:prstGeom>
          <a:noFill/>
          <a:ln/>
        </p:spPr>
        <p:txBody>
          <a:bodyPr wrap="square" lIns="0" tIns="0" rIns="0" bIns="0" rtlCol="0" anchor="t">
            <a:normAutofit/>
          </a:bodyPr>
          <a:lstStyle/>
          <a:p>
            <a:pPr algn="l" indent="0" marL="0">
              <a:buNone/>
            </a:pPr>
            <a:r>
              <a:rPr lang="en-US" sz="1200" dirty="0">
                <a:solidFill>
                  <a:srgbClr val="61738A"/>
                </a:solidFill>
                <a:latin typeface="Aptos" pitchFamily="34" charset="0"/>
                <a:ea typeface="Aptos" pitchFamily="34" charset="-122"/>
                <a:cs typeface="Aptos" pitchFamily="34" charset="-120"/>
              </a:rPr>
              <a:t>The vendor and site behind the week’s worst on-time gap, with the corrective action to take before tomorrow’s peak. Slack and email.</a:t>
            </a:r>
            <a:endParaRPr lang="en-US" sz="1200" dirty="0"/>
          </a:p>
        </p:txBody>
      </p:sp>
      <p:sp>
        <p:nvSpPr>
          <p:cNvPr id="9" name="Shape 7"/>
          <p:cNvSpPr/>
          <p:nvPr/>
        </p:nvSpPr>
        <p:spPr>
          <a:xfrm>
            <a:off x="10058400" y="2633472"/>
            <a:ext cx="1097280" cy="256032"/>
          </a:xfrm>
          <a:prstGeom prst="roundRect">
            <a:avLst>
              <a:gd name="adj" fmla="val 50000"/>
            </a:avLst>
          </a:prstGeom>
          <a:solidFill>
            <a:srgbClr val="EEF2F6"/>
          </a:solidFill>
          <a:ln w="12700">
            <a:solidFill>
              <a:srgbClr val="EEF2F6"/>
            </a:solidFill>
            <a:prstDash val="solid"/>
          </a:ln>
        </p:spPr>
      </p:sp>
      <p:sp>
        <p:nvSpPr>
          <p:cNvPr id="10" name="Text 8"/>
          <p:cNvSpPr txBox="1"/>
          <p:nvPr/>
        </p:nvSpPr>
        <p:spPr>
          <a:xfrm>
            <a:off x="10131552" y="2642616"/>
            <a:ext cx="950976" cy="219456"/>
          </a:xfrm>
          <a:prstGeom prst="rect">
            <a:avLst/>
          </a:prstGeom>
          <a:noFill/>
          <a:ln/>
        </p:spPr>
        <p:txBody>
          <a:bodyPr wrap="square" lIns="0" tIns="0" rIns="0" bIns="0" rtlCol="0" anchor="ctr">
            <a:normAutofit/>
          </a:bodyPr>
          <a:lstStyle/>
          <a:p>
            <a:pPr algn="ctr" indent="0" marL="0">
              <a:buNone/>
            </a:pPr>
            <a:r>
              <a:rPr lang="en-US" sz="800" b="1" dirty="0">
                <a:solidFill>
                  <a:srgbClr val="61738A"/>
                </a:solidFill>
                <a:latin typeface="Aptos" pitchFamily="34" charset="0"/>
                <a:ea typeface="Aptos" pitchFamily="34" charset="-122"/>
                <a:cs typeface="Aptos" pitchFamily="34" charset="-120"/>
              </a:rPr>
              <a:t>ONE SWEEP</a:t>
            </a:r>
            <a:endParaRPr lang="en-US" sz="800" dirty="0"/>
          </a:p>
        </p:txBody>
      </p:sp>
      <p:sp>
        <p:nvSpPr>
          <p:cNvPr id="11" name="Shape 9"/>
          <p:cNvSpPr/>
          <p:nvPr/>
        </p:nvSpPr>
        <p:spPr>
          <a:xfrm>
            <a:off x="594360" y="3794760"/>
            <a:ext cx="10972800" cy="1143000"/>
          </a:xfrm>
          <a:prstGeom prst="roundRect">
            <a:avLst>
              <a:gd name="adj" fmla="val 12800"/>
            </a:avLst>
          </a:prstGeom>
          <a:solidFill>
            <a:srgbClr val="FFFFFF"/>
          </a:solidFill>
          <a:ln w="12700">
            <a:solidFill>
              <a:srgbClr val="D9E2EC"/>
            </a:solidFill>
            <a:prstDash val="solid"/>
          </a:ln>
        </p:spPr>
      </p:sp>
      <p:sp>
        <p:nvSpPr>
          <p:cNvPr id="12" name="Shape 10"/>
          <p:cNvSpPr/>
          <p:nvPr/>
        </p:nvSpPr>
        <p:spPr>
          <a:xfrm>
            <a:off x="841248" y="3995928"/>
            <a:ext cx="1645920" cy="256032"/>
          </a:xfrm>
          <a:prstGeom prst="roundRect">
            <a:avLst>
              <a:gd name="adj" fmla="val 50000"/>
            </a:avLst>
          </a:prstGeom>
          <a:solidFill>
            <a:srgbClr val="36D6BD"/>
          </a:solidFill>
          <a:ln w="12700">
            <a:solidFill>
              <a:srgbClr val="36D6BD"/>
            </a:solidFill>
            <a:prstDash val="solid"/>
          </a:ln>
        </p:spPr>
      </p:sp>
      <p:sp>
        <p:nvSpPr>
          <p:cNvPr id="13" name="Text 11"/>
          <p:cNvSpPr txBox="1"/>
          <p:nvPr/>
        </p:nvSpPr>
        <p:spPr>
          <a:xfrm>
            <a:off x="914400" y="4005072"/>
            <a:ext cx="1499616" cy="219456"/>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FACILITIES HEAD</a:t>
            </a:r>
            <a:endParaRPr lang="en-US" sz="850" dirty="0"/>
          </a:p>
        </p:txBody>
      </p:sp>
      <p:sp>
        <p:nvSpPr>
          <p:cNvPr id="14" name="Text 12"/>
          <p:cNvSpPr txBox="1"/>
          <p:nvPr/>
        </p:nvSpPr>
        <p:spPr>
          <a:xfrm>
            <a:off x="2761488" y="3968496"/>
            <a:ext cx="2560320" cy="201168"/>
          </a:xfrm>
          <a:prstGeom prst="rect">
            <a:avLst/>
          </a:prstGeom>
          <a:noFill/>
          <a:ln/>
        </p:spPr>
        <p:txBody>
          <a:bodyPr wrap="square" lIns="0" tIns="0" rIns="0" bIns="0" rtlCol="0" anchor="ctr">
            <a:normAutofit/>
          </a:bodyPr>
          <a:lstStyle/>
          <a:p>
            <a:pPr algn="l" indent="0" marL="0">
              <a:buNone/>
            </a:pPr>
            <a:r>
              <a:rPr lang="en-US" sz="1100" b="1" dirty="0">
                <a:solidFill>
                  <a:srgbClr val="0E1B2A"/>
                </a:solidFill>
                <a:latin typeface="Aptos" pitchFamily="34" charset="0"/>
                <a:ea typeface="Aptos" pitchFamily="34" charset="-122"/>
                <a:cs typeface="Aptos" pitchFamily="34" charset="-120"/>
              </a:rPr>
              <a:t>What does this mean for the business?</a:t>
            </a:r>
            <a:endParaRPr lang="en-US" sz="1100" dirty="0"/>
          </a:p>
        </p:txBody>
      </p:sp>
      <p:sp>
        <p:nvSpPr>
          <p:cNvPr id="15" name="Text 13"/>
          <p:cNvSpPr txBox="1"/>
          <p:nvPr/>
        </p:nvSpPr>
        <p:spPr>
          <a:xfrm>
            <a:off x="2761488" y="4270248"/>
            <a:ext cx="7132320" cy="402336"/>
          </a:xfrm>
          <a:prstGeom prst="rect">
            <a:avLst/>
          </a:prstGeom>
          <a:noFill/>
          <a:ln/>
        </p:spPr>
        <p:txBody>
          <a:bodyPr wrap="square" lIns="0" tIns="0" rIns="0" bIns="0" rtlCol="0" anchor="t">
            <a:normAutofit/>
          </a:bodyPr>
          <a:lstStyle/>
          <a:p>
            <a:pPr algn="l" indent="0" marL="0">
              <a:buNone/>
            </a:pPr>
            <a:r>
              <a:rPr lang="en-US" sz="1200" dirty="0">
                <a:solidFill>
                  <a:srgbClr val="61738A"/>
                </a:solidFill>
                <a:latin typeface="Aptos" pitchFamily="34" charset="0"/>
                <a:ea typeface="Aptos" pitchFamily="34" charset="-122"/>
                <a:cs typeface="Aptos" pitchFamily="34" charset="-120"/>
              </a:rPr>
              <a:t>On-time, no-show, cost per km and marshal compliance — each against its own 4-week trend and its peers.</a:t>
            </a:r>
            <a:endParaRPr lang="en-US" sz="1200" dirty="0"/>
          </a:p>
        </p:txBody>
      </p:sp>
      <p:sp>
        <p:nvSpPr>
          <p:cNvPr id="16" name="Shape 14"/>
          <p:cNvSpPr/>
          <p:nvPr/>
        </p:nvSpPr>
        <p:spPr>
          <a:xfrm>
            <a:off x="10058400" y="4187952"/>
            <a:ext cx="1097280" cy="256032"/>
          </a:xfrm>
          <a:prstGeom prst="roundRect">
            <a:avLst>
              <a:gd name="adj" fmla="val 50000"/>
            </a:avLst>
          </a:prstGeom>
          <a:solidFill>
            <a:srgbClr val="EEF2F6"/>
          </a:solidFill>
          <a:ln w="12700">
            <a:solidFill>
              <a:srgbClr val="EEF2F6"/>
            </a:solidFill>
            <a:prstDash val="solid"/>
          </a:ln>
        </p:spPr>
      </p:sp>
      <p:sp>
        <p:nvSpPr>
          <p:cNvPr id="17" name="Text 15"/>
          <p:cNvSpPr txBox="1"/>
          <p:nvPr/>
        </p:nvSpPr>
        <p:spPr>
          <a:xfrm>
            <a:off x="10131552" y="4197096"/>
            <a:ext cx="950976" cy="219456"/>
          </a:xfrm>
          <a:prstGeom prst="rect">
            <a:avLst/>
          </a:prstGeom>
          <a:noFill/>
          <a:ln/>
        </p:spPr>
        <p:txBody>
          <a:bodyPr wrap="square" lIns="0" tIns="0" rIns="0" bIns="0" rtlCol="0" anchor="ctr">
            <a:normAutofit/>
          </a:bodyPr>
          <a:lstStyle/>
          <a:p>
            <a:pPr algn="ctr" indent="0" marL="0">
              <a:buNone/>
            </a:pPr>
            <a:r>
              <a:rPr lang="en-US" sz="800" b="1" dirty="0">
                <a:solidFill>
                  <a:srgbClr val="61738A"/>
                </a:solidFill>
                <a:latin typeface="Aptos" pitchFamily="34" charset="0"/>
                <a:ea typeface="Aptos" pitchFamily="34" charset="-122"/>
                <a:cs typeface="Aptos" pitchFamily="34" charset="-120"/>
              </a:rPr>
              <a:t>ONE SWEEP</a:t>
            </a:r>
            <a:endParaRPr lang="en-US" sz="8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9</a:t>
            </a:fld>
            <a:endParaRPr lang="en-US"/>
          </a:p>
        </p:txBody>
      </p:sp>
      <p:sp>
        <p:nvSpPr>
          <p:cNvPr id="1503" name="Route Bar"/>
          <p:cNvSpPr/>
          <p:nvPr/>
        </p:nvSpPr>
        <p:spPr>
          <a:xfrm>
            <a:off x="594360" y="5349240"/>
            <a:ext cx="10972800" cy="594360"/>
          </a:xfrm>
          <a:prstGeom prst="roundRect">
            <a:avLst>
              <a:gd name="adj" fmla="val 24615"/>
            </a:avLst>
          </a:prstGeom>
          <a:solidFill>
            <a:srgbClr val="0E1B2A"/>
          </a:solidFill>
          <a:ln w="12700">
            <a:solidFill>
              <a:srgbClr val="0E1B2A"/>
            </a:solidFill>
            <a:prstDash val="solid"/>
          </a:ln>
        </p:spPr>
        <p:txBody>
          <a:bodyPr/>
          <a:p/>
        </p:txBody>
      </p:sp>
      <p:sp>
        <p:nvSpPr>
          <p:cNvPr id="1504" name="Route Label"/>
          <p:cNvSpPr txBox="1"/>
          <p:nvPr/>
        </p:nvSpPr>
        <p:spPr>
          <a:xfrm>
            <a:off x="822960" y="5513832"/>
            <a:ext cx="1554480" cy="164592"/>
          </a:xfrm>
          <a:prstGeom prst="rect">
            <a:avLst/>
          </a:prstGeom>
          <a:noFill/>
          <a:ln/>
        </p:spPr>
        <p:txBody>
          <a:bodyPr wrap="square" lIns="0" tIns="0" rIns="0" bIns="0" rtlCol="0" anchor="ctr">
            <a:normAutofit/>
          </a:bodyPr>
          <a:lstStyle/>
          <a:p>
            <a:pPr algn="l" indent="0" marL="0">
              <a:buNone/>
            </a:pPr>
            <a:r>
              <a:rPr lang="en-US" sz="1000" b="1" dirty="0">
                <a:solidFill>
                  <a:srgbClr val="36D6BD"/>
                </a:solidFill>
                <a:latin typeface="Aptos" pitchFamily="34" charset="0"/>
                <a:ea typeface="Aptos" pitchFamily="34" charset="-122"/>
                <a:cs typeface="Aptos" pitchFamily="34" charset="-120"/>
              </a:rPr>
              <a:t>How it routes:</a:t>
            </a:r>
            <a:endParaRPr lang="en-US" sz="1000" dirty="0"/>
          </a:p>
        </p:txBody>
      </p:sp>
      <p:sp>
        <p:nvSpPr>
          <p:cNvPr id="1505" name="Route Text"/>
          <p:cNvSpPr txBox="1"/>
          <p:nvPr/>
        </p:nvSpPr>
        <p:spPr>
          <a:xfrm>
            <a:off x="2258568" y="5477256"/>
            <a:ext cx="8778240" cy="2286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BREACH and CONCERN go to Slack and email · WATCH to Slack · PASS is not sent at all.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09 — COST &amp; SCALE</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Cost is flat in data volume, by construction.</a:t>
            </a:r>
            <a:endParaRPr lang="en-US" sz="2800" dirty="0"/>
          </a:p>
        </p:txBody>
      </p:sp>
      <p:sp>
        <p:nvSpPr>
          <p:cNvPr id="4" name="Text 2"/>
          <p:cNvSpPr txBox="1"/>
          <p:nvPr/>
        </p:nvSpPr>
        <p:spPr>
          <a:xfrm>
            <a:off x="594360" y="1874520"/>
            <a:ext cx="2560320" cy="201168"/>
          </a:xfrm>
          <a:prstGeom prst="rect">
            <a:avLst/>
          </a:prstGeom>
          <a:noFill/>
          <a:ln/>
        </p:spPr>
        <p:txBody>
          <a:bodyPr wrap="square" lIns="0" tIns="0" rIns="0" bIns="0" rtlCol="0" anchor="ctr">
            <a:normAutofit/>
          </a:bodyPr>
          <a:lstStyle/>
          <a:p>
            <a:pPr algn="l" indent="0" marL="0">
              <a:buNone/>
            </a:pPr>
            <a:r>
              <a:rPr lang="en-US" sz="900" b="1" spc="110" kern="0" dirty="0">
                <a:solidFill>
                  <a:srgbClr val="1769E0"/>
                </a:solidFill>
                <a:latin typeface="Aptos" pitchFamily="34" charset="0"/>
                <a:ea typeface="Aptos" pitchFamily="34" charset="-122"/>
                <a:cs typeface="Aptos" pitchFamily="34" charset="-120"/>
              </a:rPr>
              <a:t>ONE SWEEP, STEP BY STEP</a:t>
            </a:r>
            <a:endParaRPr lang="en-US" sz="900" dirty="0"/>
          </a:p>
        </p:txBody>
      </p:sp>
      <p:sp>
        <p:nvSpPr>
          <p:cNvPr id="5" name="Shape 3"/>
          <p:cNvSpPr/>
          <p:nvPr/>
        </p:nvSpPr>
        <p:spPr>
          <a:xfrm>
            <a:off x="594360" y="2304288"/>
            <a:ext cx="914400" cy="1874520"/>
          </a:xfrm>
          <a:prstGeom prst="roundRect">
            <a:avLst>
              <a:gd name="adj" fmla="val 16000"/>
            </a:avLst>
          </a:prstGeom>
          <a:solidFill>
            <a:srgbClr val="FFFFFF"/>
          </a:solidFill>
          <a:ln w="12700">
            <a:solidFill>
              <a:srgbClr val="D9E2EC"/>
            </a:solidFill>
            <a:prstDash val="solid"/>
          </a:ln>
        </p:spPr>
      </p:sp>
      <p:sp>
        <p:nvSpPr>
          <p:cNvPr id="6" name="Shape 4"/>
          <p:cNvSpPr/>
          <p:nvPr/>
        </p:nvSpPr>
        <p:spPr>
          <a:xfrm>
            <a:off x="740664" y="2487168"/>
            <a:ext cx="411480" cy="256032"/>
          </a:xfrm>
          <a:prstGeom prst="roundRect">
            <a:avLst>
              <a:gd name="adj" fmla="val 50000"/>
            </a:avLst>
          </a:prstGeom>
          <a:solidFill>
            <a:srgbClr val="D9343A"/>
          </a:solidFill>
          <a:ln w="12700">
            <a:solidFill>
              <a:srgbClr val="D9343A"/>
            </a:solidFill>
            <a:prstDash val="solid"/>
          </a:ln>
        </p:spPr>
      </p:sp>
      <p:sp>
        <p:nvSpPr>
          <p:cNvPr id="7" name="Text 5"/>
          <p:cNvSpPr txBox="1"/>
          <p:nvPr/>
        </p:nvSpPr>
        <p:spPr>
          <a:xfrm>
            <a:off x="813816" y="2496312"/>
            <a:ext cx="265176"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01</a:t>
            </a:r>
            <a:endParaRPr lang="en-US" sz="800" dirty="0"/>
          </a:p>
        </p:txBody>
      </p:sp>
      <p:sp>
        <p:nvSpPr>
          <p:cNvPr id="8" name="Text 6"/>
          <p:cNvSpPr txBox="1"/>
          <p:nvPr/>
        </p:nvSpPr>
        <p:spPr>
          <a:xfrm>
            <a:off x="685800" y="2907792"/>
            <a:ext cx="731520" cy="228600"/>
          </a:xfrm>
          <a:prstGeom prst="rect">
            <a:avLst/>
          </a:prstGeom>
          <a:noFill/>
          <a:ln/>
        </p:spPr>
        <p:txBody>
          <a:bodyPr wrap="square" lIns="0" tIns="0" rIns="0" bIns="0" rtlCol="0" anchor="ctr">
            <a:normAutofit/>
          </a:bodyPr>
          <a:lstStyle/>
          <a:p>
            <a:pPr algn="ctr" indent="0" marL="0">
              <a:buNone/>
            </a:pPr>
            <a:r>
              <a:rPr lang="en-US" sz="1050" b="1" dirty="0">
                <a:solidFill>
                  <a:srgbClr val="0E1B2A"/>
                </a:solidFill>
                <a:latin typeface="Aptos" pitchFamily="34" charset="0"/>
                <a:ea typeface="Aptos" pitchFamily="34" charset="-122"/>
                <a:cs typeface="Aptos" pitchFamily="34" charset="-120"/>
              </a:rPr>
              <a:t>Load</a:t>
            </a:r>
            <a:endParaRPr lang="en-US" sz="1050" dirty="0"/>
          </a:p>
        </p:txBody>
      </p:sp>
      <p:sp>
        <p:nvSpPr>
          <p:cNvPr id="9" name="Text 7"/>
          <p:cNvSpPr txBox="1"/>
          <p:nvPr/>
        </p:nvSpPr>
        <p:spPr>
          <a:xfrm>
            <a:off x="685800" y="3310128"/>
            <a:ext cx="731520" cy="658368"/>
          </a:xfrm>
          <a:prstGeom prst="rect">
            <a:avLst/>
          </a:prstGeom>
          <a:noFill/>
          <a:ln/>
        </p:spPr>
        <p:txBody>
          <a:bodyPr wrap="square" lIns="0" tIns="0" rIns="0" bIns="0" rtlCol="0" anchor="t">
            <a:normAutofit/>
          </a:bodyPr>
          <a:lstStyle/>
          <a:p>
            <a:pPr algn="ctr" indent="0" marL="0">
              <a:buNone/>
            </a:pPr>
            <a:r>
              <a:rPr lang="en-US" sz="830" dirty="0">
                <a:solidFill>
                  <a:srgbClr val="61738A"/>
                </a:solidFill>
                <a:latin typeface="Aptos" pitchFamily="34" charset="0"/>
                <a:ea typeface="Aptos" pitchFamily="34" charset="-122"/>
                <a:cs typeface="Aptos" pitchFamily="34" charset="-120"/>
              </a:rPr>
              <a:t>the feeds land in DuckDB</a:t>
            </a:r>
            <a:endParaRPr lang="en-US" sz="830" dirty="0"/>
          </a:p>
        </p:txBody>
      </p:sp>
      <p:sp>
        <p:nvSpPr>
          <p:cNvPr id="10" name="Text 8"/>
          <p:cNvSpPr txBox="1"/>
          <p:nvPr/>
        </p:nvSpPr>
        <p:spPr>
          <a:xfrm>
            <a:off x="1517904" y="3044952"/>
            <a:ext cx="219456" cy="219456"/>
          </a:xfrm>
          <a:prstGeom prst="rect">
            <a:avLst/>
          </a:prstGeom>
          <a:noFill/>
          <a:ln/>
        </p:spPr>
        <p:txBody>
          <a:bodyPr wrap="square" lIns="0" tIns="0" rIns="0" bIns="0" rtlCol="0" anchor="ctr">
            <a:normAutofit/>
          </a:bodyPr>
          <a:lstStyle/>
          <a:p>
            <a:pPr algn="ctr" indent="0" marL="0">
              <a:buNone/>
            </a:pPr>
            <a:r>
              <a:rPr lang="en-US" sz="1600" b="1" dirty="0">
                <a:solidFill>
                  <a:srgbClr val="61738A"/>
                </a:solidFill>
                <a:latin typeface="Aptos" pitchFamily="34" charset="0"/>
                <a:ea typeface="Aptos" pitchFamily="34" charset="-122"/>
                <a:cs typeface="Aptos" pitchFamily="34" charset="-120"/>
              </a:rPr>
              <a:t>→</a:t>
            </a:r>
            <a:endParaRPr lang="en-US" sz="1600" dirty="0"/>
          </a:p>
        </p:txBody>
      </p:sp>
      <p:sp>
        <p:nvSpPr>
          <p:cNvPr id="11" name="Shape 9"/>
          <p:cNvSpPr/>
          <p:nvPr/>
        </p:nvSpPr>
        <p:spPr>
          <a:xfrm>
            <a:off x="1673352" y="2304288"/>
            <a:ext cx="914400" cy="1874520"/>
          </a:xfrm>
          <a:prstGeom prst="roundRect">
            <a:avLst>
              <a:gd name="adj" fmla="val 16000"/>
            </a:avLst>
          </a:prstGeom>
          <a:solidFill>
            <a:srgbClr val="FFFFFF"/>
          </a:solidFill>
          <a:ln w="12700">
            <a:solidFill>
              <a:srgbClr val="D9E2EC"/>
            </a:solidFill>
            <a:prstDash val="solid"/>
          </a:ln>
        </p:spPr>
      </p:sp>
      <p:sp>
        <p:nvSpPr>
          <p:cNvPr id="12" name="Shape 10"/>
          <p:cNvSpPr/>
          <p:nvPr/>
        </p:nvSpPr>
        <p:spPr>
          <a:xfrm>
            <a:off x="1819656" y="2487168"/>
            <a:ext cx="411480" cy="256032"/>
          </a:xfrm>
          <a:prstGeom prst="roundRect">
            <a:avLst>
              <a:gd name="adj" fmla="val 50000"/>
            </a:avLst>
          </a:prstGeom>
          <a:solidFill>
            <a:srgbClr val="1769E0"/>
          </a:solidFill>
          <a:ln w="12700">
            <a:solidFill>
              <a:srgbClr val="1769E0"/>
            </a:solidFill>
            <a:prstDash val="solid"/>
          </a:ln>
        </p:spPr>
      </p:sp>
      <p:sp>
        <p:nvSpPr>
          <p:cNvPr id="13" name="Text 11"/>
          <p:cNvSpPr txBox="1"/>
          <p:nvPr/>
        </p:nvSpPr>
        <p:spPr>
          <a:xfrm>
            <a:off x="1892808" y="2496312"/>
            <a:ext cx="265176"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02</a:t>
            </a:r>
            <a:endParaRPr lang="en-US" sz="800" dirty="0"/>
          </a:p>
        </p:txBody>
      </p:sp>
      <p:sp>
        <p:nvSpPr>
          <p:cNvPr id="14" name="Text 12"/>
          <p:cNvSpPr txBox="1"/>
          <p:nvPr/>
        </p:nvSpPr>
        <p:spPr>
          <a:xfrm>
            <a:off x="1764792" y="2907792"/>
            <a:ext cx="731520" cy="228600"/>
          </a:xfrm>
          <a:prstGeom prst="rect">
            <a:avLst/>
          </a:prstGeom>
          <a:noFill/>
          <a:ln/>
        </p:spPr>
        <p:txBody>
          <a:bodyPr wrap="square" lIns="0" tIns="0" rIns="0" bIns="0" rtlCol="0" anchor="ctr">
            <a:normAutofit/>
          </a:bodyPr>
          <a:lstStyle/>
          <a:p>
            <a:pPr algn="ctr" indent="0" marL="0">
              <a:buNone/>
            </a:pPr>
            <a:r>
              <a:rPr lang="en-US" sz="1050" b="1" dirty="0">
                <a:solidFill>
                  <a:srgbClr val="0E1B2A"/>
                </a:solidFill>
                <a:latin typeface="Aptos" pitchFamily="34" charset="0"/>
                <a:ea typeface="Aptos" pitchFamily="34" charset="-122"/>
                <a:cs typeface="Aptos" pitchFamily="34" charset="-120"/>
              </a:rPr>
              <a:t>Measure</a:t>
            </a:r>
            <a:endParaRPr lang="en-US" sz="1050" dirty="0"/>
          </a:p>
        </p:txBody>
      </p:sp>
      <p:sp>
        <p:nvSpPr>
          <p:cNvPr id="15" name="Text 13"/>
          <p:cNvSpPr txBox="1"/>
          <p:nvPr/>
        </p:nvSpPr>
        <p:spPr>
          <a:xfrm>
            <a:off x="1764792" y="3310128"/>
            <a:ext cx="731520" cy="658368"/>
          </a:xfrm>
          <a:prstGeom prst="rect">
            <a:avLst/>
          </a:prstGeom>
          <a:noFill/>
          <a:ln/>
        </p:spPr>
        <p:txBody>
          <a:bodyPr wrap="square" lIns="0" tIns="0" rIns="0" bIns="0" rtlCol="0" anchor="t">
            <a:normAutofit/>
          </a:bodyPr>
          <a:lstStyle/>
          <a:p>
            <a:pPr algn="ctr" indent="0" marL="0">
              <a:buNone/>
            </a:pPr>
            <a:r>
              <a:rPr lang="en-US" sz="830" dirty="0">
                <a:solidFill>
                  <a:srgbClr val="61738A"/>
                </a:solidFill>
                <a:latin typeface="Aptos" pitchFamily="34" charset="0"/>
                <a:ea typeface="Aptos" pitchFamily="34" charset="-122"/>
                <a:cs typeface="Aptos" pitchFamily="34" charset="-120"/>
              </a:rPr>
              <a:t>every metric, every slice</a:t>
            </a:r>
            <a:endParaRPr lang="en-US" sz="830" dirty="0"/>
          </a:p>
        </p:txBody>
      </p:sp>
      <p:sp>
        <p:nvSpPr>
          <p:cNvPr id="16" name="Text 14"/>
          <p:cNvSpPr txBox="1"/>
          <p:nvPr/>
        </p:nvSpPr>
        <p:spPr>
          <a:xfrm>
            <a:off x="2596896" y="3044952"/>
            <a:ext cx="219456" cy="219456"/>
          </a:xfrm>
          <a:prstGeom prst="rect">
            <a:avLst/>
          </a:prstGeom>
          <a:noFill/>
          <a:ln/>
        </p:spPr>
        <p:txBody>
          <a:bodyPr wrap="square" lIns="0" tIns="0" rIns="0" bIns="0" rtlCol="0" anchor="ctr">
            <a:normAutofit/>
          </a:bodyPr>
          <a:lstStyle/>
          <a:p>
            <a:pPr algn="ctr" indent="0" marL="0">
              <a:buNone/>
            </a:pPr>
            <a:r>
              <a:rPr lang="en-US" sz="1600" b="1" dirty="0">
                <a:solidFill>
                  <a:srgbClr val="61738A"/>
                </a:solidFill>
                <a:latin typeface="Aptos" pitchFamily="34" charset="0"/>
                <a:ea typeface="Aptos" pitchFamily="34" charset="-122"/>
                <a:cs typeface="Aptos" pitchFamily="34" charset="-120"/>
              </a:rPr>
              <a:t>→</a:t>
            </a:r>
            <a:endParaRPr lang="en-US" sz="1600" dirty="0"/>
          </a:p>
        </p:txBody>
      </p:sp>
      <p:sp>
        <p:nvSpPr>
          <p:cNvPr id="17" name="Shape 15"/>
          <p:cNvSpPr/>
          <p:nvPr/>
        </p:nvSpPr>
        <p:spPr>
          <a:xfrm>
            <a:off x="2752344" y="2304288"/>
            <a:ext cx="914400" cy="1874520"/>
          </a:xfrm>
          <a:prstGeom prst="roundRect">
            <a:avLst>
              <a:gd name="adj" fmla="val 16000"/>
            </a:avLst>
          </a:prstGeom>
          <a:solidFill>
            <a:srgbClr val="E9F7F3"/>
          </a:solidFill>
          <a:ln w="12700">
            <a:solidFill>
              <a:srgbClr val="36D6BD"/>
            </a:solidFill>
            <a:prstDash val="solid"/>
          </a:ln>
        </p:spPr>
      </p:sp>
      <p:sp>
        <p:nvSpPr>
          <p:cNvPr id="18" name="Shape 16"/>
          <p:cNvSpPr/>
          <p:nvPr/>
        </p:nvSpPr>
        <p:spPr>
          <a:xfrm>
            <a:off x="2898648" y="2487168"/>
            <a:ext cx="411480" cy="256032"/>
          </a:xfrm>
          <a:prstGeom prst="roundRect">
            <a:avLst>
              <a:gd name="adj" fmla="val 50000"/>
            </a:avLst>
          </a:prstGeom>
          <a:solidFill>
            <a:srgbClr val="36D6BD"/>
          </a:solidFill>
          <a:ln w="12700">
            <a:solidFill>
              <a:srgbClr val="36D6BD"/>
            </a:solidFill>
            <a:prstDash val="solid"/>
          </a:ln>
        </p:spPr>
      </p:sp>
      <p:sp>
        <p:nvSpPr>
          <p:cNvPr id="19" name="Text 17"/>
          <p:cNvSpPr txBox="1"/>
          <p:nvPr/>
        </p:nvSpPr>
        <p:spPr>
          <a:xfrm>
            <a:off x="2971800" y="2496312"/>
            <a:ext cx="265176"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20" name="Text 18"/>
          <p:cNvSpPr txBox="1"/>
          <p:nvPr/>
        </p:nvSpPr>
        <p:spPr>
          <a:xfrm>
            <a:off x="2843784" y="2907792"/>
            <a:ext cx="731520" cy="228600"/>
          </a:xfrm>
          <a:prstGeom prst="rect">
            <a:avLst/>
          </a:prstGeom>
          <a:noFill/>
          <a:ln/>
        </p:spPr>
        <p:txBody>
          <a:bodyPr wrap="square" lIns="0" tIns="0" rIns="0" bIns="0" rtlCol="0" anchor="ctr">
            <a:normAutofit/>
          </a:bodyPr>
          <a:lstStyle/>
          <a:p>
            <a:pPr algn="ctr" indent="0" marL="0">
              <a:buNone/>
            </a:pPr>
            <a:r>
              <a:rPr lang="en-US" sz="1050" b="1" dirty="0">
                <a:solidFill>
                  <a:srgbClr val="0E1B2A"/>
                </a:solidFill>
                <a:latin typeface="Aptos" pitchFamily="34" charset="0"/>
                <a:ea typeface="Aptos" pitchFamily="34" charset="-122"/>
                <a:cs typeface="Aptos" pitchFamily="34" charset="-120"/>
              </a:rPr>
              <a:t>Reference</a:t>
            </a:r>
            <a:endParaRPr lang="en-US" sz="1050" dirty="0"/>
          </a:p>
        </p:txBody>
      </p:sp>
      <p:sp>
        <p:nvSpPr>
          <p:cNvPr id="21" name="Text 19"/>
          <p:cNvSpPr txBox="1"/>
          <p:nvPr/>
        </p:nvSpPr>
        <p:spPr>
          <a:xfrm>
            <a:off x="2843784" y="3310128"/>
            <a:ext cx="731520" cy="658368"/>
          </a:xfrm>
          <a:prstGeom prst="rect">
            <a:avLst/>
          </a:prstGeom>
          <a:noFill/>
          <a:ln/>
        </p:spPr>
        <p:txBody>
          <a:bodyPr wrap="square" lIns="0" tIns="0" rIns="0" bIns="0" rtlCol="0" anchor="t">
            <a:normAutofit/>
          </a:bodyPr>
          <a:lstStyle/>
          <a:p>
            <a:pPr algn="ctr" indent="0" marL="0">
              <a:buNone/>
            </a:pPr>
            <a:r>
              <a:rPr lang="en-US" sz="830" dirty="0">
                <a:solidFill>
                  <a:srgbClr val="61738A"/>
                </a:solidFill>
                <a:latin typeface="Aptos" pitchFamily="34" charset="0"/>
                <a:ea typeface="Aptos" pitchFamily="34" charset="-122"/>
                <a:cs typeface="Aptos" pitchFamily="34" charset="-120"/>
              </a:rPr>
              <a:t>4-week trend + peer median</a:t>
            </a:r>
            <a:endParaRPr lang="en-US" sz="830" dirty="0"/>
          </a:p>
        </p:txBody>
      </p:sp>
      <p:sp>
        <p:nvSpPr>
          <p:cNvPr id="22" name="Text 20"/>
          <p:cNvSpPr txBox="1"/>
          <p:nvPr/>
        </p:nvSpPr>
        <p:spPr>
          <a:xfrm>
            <a:off x="3675888" y="3044952"/>
            <a:ext cx="219456" cy="219456"/>
          </a:xfrm>
          <a:prstGeom prst="rect">
            <a:avLst/>
          </a:prstGeom>
          <a:noFill/>
          <a:ln/>
        </p:spPr>
        <p:txBody>
          <a:bodyPr wrap="square" lIns="0" tIns="0" rIns="0" bIns="0" rtlCol="0" anchor="ctr">
            <a:normAutofit/>
          </a:bodyPr>
          <a:lstStyle/>
          <a:p>
            <a:pPr algn="ctr" indent="0" marL="0">
              <a:buNone/>
            </a:pPr>
            <a:r>
              <a:rPr lang="en-US" sz="1600" b="1" dirty="0">
                <a:solidFill>
                  <a:srgbClr val="61738A"/>
                </a:solidFill>
                <a:latin typeface="Aptos" pitchFamily="34" charset="0"/>
                <a:ea typeface="Aptos" pitchFamily="34" charset="-122"/>
                <a:cs typeface="Aptos" pitchFamily="34" charset="-120"/>
              </a:rPr>
              <a:t>→</a:t>
            </a:r>
            <a:endParaRPr lang="en-US" sz="1600" dirty="0"/>
          </a:p>
        </p:txBody>
      </p:sp>
      <p:sp>
        <p:nvSpPr>
          <p:cNvPr id="23" name="Shape 21"/>
          <p:cNvSpPr/>
          <p:nvPr/>
        </p:nvSpPr>
        <p:spPr>
          <a:xfrm>
            <a:off x="3831336" y="2304288"/>
            <a:ext cx="914400" cy="1874520"/>
          </a:xfrm>
          <a:prstGeom prst="roundRect">
            <a:avLst>
              <a:gd name="adj" fmla="val 16000"/>
            </a:avLst>
          </a:prstGeom>
          <a:solidFill>
            <a:srgbClr val="FFFFFF"/>
          </a:solidFill>
          <a:ln w="12700">
            <a:solidFill>
              <a:srgbClr val="D9E2EC"/>
            </a:solidFill>
            <a:prstDash val="solid"/>
          </a:ln>
        </p:spPr>
      </p:sp>
      <p:sp>
        <p:nvSpPr>
          <p:cNvPr id="24" name="Shape 22"/>
          <p:cNvSpPr/>
          <p:nvPr/>
        </p:nvSpPr>
        <p:spPr>
          <a:xfrm>
            <a:off x="3977640" y="2487168"/>
            <a:ext cx="411480" cy="256032"/>
          </a:xfrm>
          <a:prstGeom prst="roundRect">
            <a:avLst>
              <a:gd name="adj" fmla="val 50000"/>
            </a:avLst>
          </a:prstGeom>
          <a:solidFill>
            <a:srgbClr val="16A568"/>
          </a:solidFill>
          <a:ln w="12700">
            <a:solidFill>
              <a:srgbClr val="16A568"/>
            </a:solidFill>
            <a:prstDash val="solid"/>
          </a:ln>
        </p:spPr>
      </p:sp>
      <p:sp>
        <p:nvSpPr>
          <p:cNvPr id="25" name="Text 23"/>
          <p:cNvSpPr txBox="1"/>
          <p:nvPr/>
        </p:nvSpPr>
        <p:spPr>
          <a:xfrm>
            <a:off x="4050792" y="2496312"/>
            <a:ext cx="265176"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04</a:t>
            </a:r>
            <a:endParaRPr lang="en-US" sz="800" dirty="0"/>
          </a:p>
        </p:txBody>
      </p:sp>
      <p:sp>
        <p:nvSpPr>
          <p:cNvPr id="26" name="Text 24"/>
          <p:cNvSpPr txBox="1"/>
          <p:nvPr/>
        </p:nvSpPr>
        <p:spPr>
          <a:xfrm>
            <a:off x="3922776" y="2907792"/>
            <a:ext cx="731520" cy="228600"/>
          </a:xfrm>
          <a:prstGeom prst="rect">
            <a:avLst/>
          </a:prstGeom>
          <a:noFill/>
          <a:ln/>
        </p:spPr>
        <p:txBody>
          <a:bodyPr wrap="square" lIns="0" tIns="0" rIns="0" bIns="0" rtlCol="0" anchor="ctr">
            <a:normAutofit/>
          </a:bodyPr>
          <a:lstStyle/>
          <a:p>
            <a:pPr algn="ctr" indent="0" marL="0">
              <a:buNone/>
            </a:pPr>
            <a:r>
              <a:rPr lang="en-US" sz="1050" b="1" dirty="0">
                <a:solidFill>
                  <a:srgbClr val="0E1B2A"/>
                </a:solidFill>
                <a:latin typeface="Aptos" pitchFamily="34" charset="0"/>
                <a:ea typeface="Aptos" pitchFamily="34" charset="-122"/>
                <a:cs typeface="Aptos" pitchFamily="34" charset="-120"/>
              </a:rPr>
              <a:t>Rank</a:t>
            </a:r>
            <a:endParaRPr lang="en-US" sz="1050" dirty="0"/>
          </a:p>
        </p:txBody>
      </p:sp>
      <p:sp>
        <p:nvSpPr>
          <p:cNvPr id="27" name="Text 25"/>
          <p:cNvSpPr txBox="1"/>
          <p:nvPr/>
        </p:nvSpPr>
        <p:spPr>
          <a:xfrm>
            <a:off x="3922776" y="3310128"/>
            <a:ext cx="731520" cy="658368"/>
          </a:xfrm>
          <a:prstGeom prst="rect">
            <a:avLst/>
          </a:prstGeom>
          <a:noFill/>
          <a:ln/>
        </p:spPr>
        <p:txBody>
          <a:bodyPr wrap="square" lIns="0" tIns="0" rIns="0" bIns="0" rtlCol="0" anchor="t">
            <a:normAutofit/>
          </a:bodyPr>
          <a:lstStyle/>
          <a:p>
            <a:pPr algn="ctr" indent="0" marL="0">
              <a:buNone/>
            </a:pPr>
            <a:r>
              <a:rPr lang="en-US" sz="830" dirty="0">
                <a:solidFill>
                  <a:srgbClr val="61738A"/>
                </a:solidFill>
                <a:latin typeface="Aptos" pitchFamily="34" charset="0"/>
                <a:ea typeface="Aptos" pitchFamily="34" charset="-122"/>
                <a:cs typeface="Aptos" pitchFamily="34" charset="-120"/>
              </a:rPr>
              <a:t>4 tiers, lexicographic</a:t>
            </a:r>
            <a:endParaRPr lang="en-US" sz="830" dirty="0"/>
          </a:p>
        </p:txBody>
      </p:sp>
      <p:sp>
        <p:nvSpPr>
          <p:cNvPr id="28" name="Text 26"/>
          <p:cNvSpPr txBox="1"/>
          <p:nvPr/>
        </p:nvSpPr>
        <p:spPr>
          <a:xfrm>
            <a:off x="4754880" y="3044952"/>
            <a:ext cx="219456" cy="219456"/>
          </a:xfrm>
          <a:prstGeom prst="rect">
            <a:avLst/>
          </a:prstGeom>
          <a:noFill/>
          <a:ln/>
        </p:spPr>
        <p:txBody>
          <a:bodyPr wrap="square" lIns="0" tIns="0" rIns="0" bIns="0" rtlCol="0" anchor="ctr">
            <a:normAutofit/>
          </a:bodyPr>
          <a:lstStyle/>
          <a:p>
            <a:pPr algn="ctr" indent="0" marL="0">
              <a:buNone/>
            </a:pPr>
            <a:r>
              <a:rPr lang="en-US" sz="1600" b="1" dirty="0">
                <a:solidFill>
                  <a:srgbClr val="61738A"/>
                </a:solidFill>
                <a:latin typeface="Aptos" pitchFamily="34" charset="0"/>
                <a:ea typeface="Aptos" pitchFamily="34" charset="-122"/>
                <a:cs typeface="Aptos" pitchFamily="34" charset="-120"/>
              </a:rPr>
              <a:t>→</a:t>
            </a:r>
            <a:endParaRPr lang="en-US" sz="1600" dirty="0"/>
          </a:p>
        </p:txBody>
      </p:sp>
      <p:sp>
        <p:nvSpPr>
          <p:cNvPr id="29" name="Shape 27"/>
          <p:cNvSpPr/>
          <p:nvPr/>
        </p:nvSpPr>
        <p:spPr>
          <a:xfrm>
            <a:off x="4910328" y="2304288"/>
            <a:ext cx="914400" cy="1874520"/>
          </a:xfrm>
          <a:prstGeom prst="roundRect">
            <a:avLst>
              <a:gd name="adj" fmla="val 16000"/>
            </a:avLst>
          </a:prstGeom>
          <a:solidFill>
            <a:srgbClr val="FFFFFF"/>
          </a:solidFill>
          <a:ln w="12700">
            <a:solidFill>
              <a:srgbClr val="D9E2EC"/>
            </a:solidFill>
            <a:prstDash val="solid"/>
          </a:ln>
        </p:spPr>
      </p:sp>
      <p:sp>
        <p:nvSpPr>
          <p:cNvPr id="30" name="Shape 28"/>
          <p:cNvSpPr/>
          <p:nvPr/>
        </p:nvSpPr>
        <p:spPr>
          <a:xfrm>
            <a:off x="5056632" y="2487168"/>
            <a:ext cx="411480" cy="256032"/>
          </a:xfrm>
          <a:prstGeom prst="roundRect">
            <a:avLst>
              <a:gd name="adj" fmla="val 50000"/>
            </a:avLst>
          </a:prstGeom>
          <a:solidFill>
            <a:srgbClr val="6C4CE6"/>
          </a:solidFill>
          <a:ln w="12700">
            <a:solidFill>
              <a:srgbClr val="6C4CE6"/>
            </a:solidFill>
            <a:prstDash val="solid"/>
          </a:ln>
        </p:spPr>
      </p:sp>
      <p:sp>
        <p:nvSpPr>
          <p:cNvPr id="31" name="Text 29"/>
          <p:cNvSpPr txBox="1"/>
          <p:nvPr/>
        </p:nvSpPr>
        <p:spPr>
          <a:xfrm>
            <a:off x="5129784" y="2496312"/>
            <a:ext cx="265176" cy="21945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05</a:t>
            </a:r>
            <a:endParaRPr lang="en-US" sz="800" dirty="0"/>
          </a:p>
        </p:txBody>
      </p:sp>
      <p:sp>
        <p:nvSpPr>
          <p:cNvPr id="32" name="Text 30"/>
          <p:cNvSpPr txBox="1"/>
          <p:nvPr/>
        </p:nvSpPr>
        <p:spPr>
          <a:xfrm>
            <a:off x="5001768" y="2907792"/>
            <a:ext cx="731520" cy="228600"/>
          </a:xfrm>
          <a:prstGeom prst="rect">
            <a:avLst/>
          </a:prstGeom>
          <a:noFill/>
          <a:ln/>
        </p:spPr>
        <p:txBody>
          <a:bodyPr wrap="square" lIns="0" tIns="0" rIns="0" bIns="0" rtlCol="0" anchor="ctr">
            <a:normAutofit/>
          </a:bodyPr>
          <a:lstStyle/>
          <a:p>
            <a:pPr algn="ctr" indent="0" marL="0">
              <a:buNone/>
            </a:pPr>
            <a:r>
              <a:rPr lang="en-US" sz="1050" b="1" dirty="0">
                <a:solidFill>
                  <a:srgbClr val="0E1B2A"/>
                </a:solidFill>
                <a:latin typeface="Aptos" pitchFamily="34" charset="0"/>
                <a:ea typeface="Aptos" pitchFamily="34" charset="-122"/>
                <a:cs typeface="Aptos" pitchFamily="34" charset="-120"/>
              </a:rPr>
              <a:t>Compose</a:t>
            </a:r>
            <a:endParaRPr lang="en-US" sz="1050" dirty="0"/>
          </a:p>
        </p:txBody>
      </p:sp>
      <p:sp>
        <p:nvSpPr>
          <p:cNvPr id="33" name="Text 31"/>
          <p:cNvSpPr txBox="1"/>
          <p:nvPr/>
        </p:nvSpPr>
        <p:spPr>
          <a:xfrm>
            <a:off x="5001768" y="3310128"/>
            <a:ext cx="731520" cy="658368"/>
          </a:xfrm>
          <a:prstGeom prst="rect">
            <a:avLst/>
          </a:prstGeom>
          <a:noFill/>
          <a:ln/>
        </p:spPr>
        <p:txBody>
          <a:bodyPr wrap="square" lIns="0" tIns="0" rIns="0" bIns="0" rtlCol="0" anchor="t">
            <a:normAutofit/>
          </a:bodyPr>
          <a:lstStyle/>
          <a:p>
            <a:pPr algn="ctr" indent="0" marL="0">
              <a:buNone/>
            </a:pPr>
            <a:r>
              <a:rPr lang="en-US" sz="830" dirty="0">
                <a:solidFill>
                  <a:srgbClr val="61738A"/>
                </a:solidFill>
                <a:latin typeface="Aptos" pitchFamily="34" charset="0"/>
                <a:ea typeface="Aptos" pitchFamily="34" charset="-122"/>
                <a:cs typeface="Aptos" pitchFamily="34" charset="-120"/>
              </a:rPr>
              <a:t>one model call per brief</a:t>
            </a:r>
            <a:endParaRPr lang="en-US" sz="830" dirty="0"/>
          </a:p>
        </p:txBody>
      </p:sp>
      <p:sp>
        <p:nvSpPr>
          <p:cNvPr id="34" name="Shape 32"/>
          <p:cNvSpPr/>
          <p:nvPr/>
        </p:nvSpPr>
        <p:spPr>
          <a:xfrm>
            <a:off x="594360" y="4526280"/>
            <a:ext cx="5532120" cy="1234440"/>
          </a:xfrm>
          <a:prstGeom prst="roundRect">
            <a:avLst>
              <a:gd name="adj" fmla="val 11852"/>
            </a:avLst>
          </a:prstGeom>
          <a:solidFill>
            <a:srgbClr val="0E1B2A"/>
          </a:solidFill>
          <a:ln w="12700">
            <a:solidFill>
              <a:srgbClr val="0E1B2A"/>
            </a:solidFill>
            <a:prstDash val="solid"/>
          </a:ln>
        </p:spPr>
      </p:sp>
      <p:sp>
        <p:nvSpPr>
          <p:cNvPr id="35" name="Text 33"/>
          <p:cNvSpPr txBox="1"/>
          <p:nvPr/>
        </p:nvSpPr>
        <p:spPr>
          <a:xfrm>
            <a:off x="868680" y="4800600"/>
            <a:ext cx="1005840" cy="201168"/>
          </a:xfrm>
          <a:prstGeom prst="rect">
            <a:avLst/>
          </a:prstGeom>
          <a:noFill/>
          <a:ln/>
        </p:spPr>
        <p:txBody>
          <a:bodyPr wrap="square" lIns="0" tIns="0" rIns="0" bIns="0" rtlCol="0" anchor="ctr">
            <a:normAutofit/>
          </a:bodyPr>
          <a:lstStyle/>
          <a:p>
            <a:pPr algn="l" indent="0" marL="0">
              <a:buNone/>
            </a:pPr>
            <a:r>
              <a:rPr lang="en-US" sz="1000" b="1" dirty="0">
                <a:solidFill>
                  <a:srgbClr val="36D6BD"/>
                </a:solidFill>
                <a:latin typeface="Aptos" pitchFamily="34" charset="0"/>
                <a:ea typeface="Aptos" pitchFamily="34" charset="-122"/>
                <a:cs typeface="Aptos" pitchFamily="34" charset="-120"/>
              </a:rPr>
              <a:t>Flat in scale</a:t>
            </a:r>
            <a:endParaRPr lang="en-US" sz="1000" dirty="0"/>
          </a:p>
        </p:txBody>
      </p:sp>
      <p:sp>
        <p:nvSpPr>
          <p:cNvPr id="36" name="Text 34"/>
          <p:cNvSpPr txBox="1"/>
          <p:nvPr/>
        </p:nvSpPr>
        <p:spPr>
          <a:xfrm>
            <a:off x="1874520" y="4736592"/>
            <a:ext cx="3794760" cy="475488"/>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The model sees findings, never rows — never the data itself.</a:t>
            </a:r>
            <a:endParaRPr lang="en-US" sz="1400" dirty="0"/>
          </a:p>
        </p:txBody>
      </p:sp>
      <p:sp>
        <p:nvSpPr>
          <p:cNvPr id="37" name="Shape 35"/>
          <p:cNvSpPr/>
          <p:nvPr/>
        </p:nvSpPr>
        <p:spPr>
          <a:xfrm>
            <a:off x="6446520" y="1874520"/>
            <a:ext cx="5120640" cy="4297680"/>
          </a:xfrm>
          <a:prstGeom prst="roundRect">
            <a:avLst>
              <a:gd name="adj" fmla="val 3404"/>
            </a:avLst>
          </a:prstGeom>
          <a:solidFill>
            <a:srgbClr val="0E1B2A"/>
          </a:solidFill>
          <a:ln w="12700">
            <a:solidFill>
              <a:srgbClr val="0E1B2A"/>
            </a:solidFill>
            <a:prstDash val="solid"/>
          </a:ln>
        </p:spPr>
      </p:sp>
      <p:sp>
        <p:nvSpPr>
          <p:cNvPr id="38" name="Shape 36"/>
          <p:cNvSpPr/>
          <p:nvPr/>
        </p:nvSpPr>
        <p:spPr>
          <a:xfrm>
            <a:off x="6784848" y="2185416"/>
            <a:ext cx="868680" cy="256032"/>
          </a:xfrm>
          <a:prstGeom prst="roundRect">
            <a:avLst>
              <a:gd name="adj" fmla="val 50000"/>
            </a:avLst>
          </a:prstGeom>
          <a:solidFill>
            <a:srgbClr val="36D6BD"/>
          </a:solidFill>
          <a:ln w="12700">
            <a:solidFill>
              <a:srgbClr val="36D6BD"/>
            </a:solidFill>
            <a:prstDash val="solid"/>
          </a:ln>
        </p:spPr>
      </p:sp>
      <p:sp>
        <p:nvSpPr>
          <p:cNvPr id="39" name="Text 37"/>
          <p:cNvSpPr txBox="1"/>
          <p:nvPr/>
        </p:nvSpPr>
        <p:spPr>
          <a:xfrm>
            <a:off x="6858000" y="2194560"/>
            <a:ext cx="722376" cy="219456"/>
          </a:xfrm>
          <a:prstGeom prst="rect">
            <a:avLst/>
          </a:prstGeom>
          <a:noFill/>
          <a:ln/>
        </p:spPr>
        <p:txBody>
          <a:bodyPr wrap="square" lIns="0" tIns="0" rIns="0" bIns="0" rtlCol="0" anchor="ctr">
            <a:normAutofit/>
          </a:bodyPr>
          <a:lstStyle/>
          <a:p>
            <a:pPr algn="ctr" indent="0" marL="0">
              <a:buNone/>
            </a:pPr>
            <a:r>
              <a:rPr lang="en-US" sz="900" b="1" dirty="0">
                <a:solidFill>
                  <a:srgbClr val="0E1B2A"/>
                </a:solidFill>
                <a:latin typeface="Aptos" pitchFamily="34" charset="0"/>
                <a:ea typeface="Aptos" pitchFamily="34" charset="-122"/>
                <a:cs typeface="Aptos" pitchFamily="34" charset="-120"/>
              </a:rPr>
              <a:t>BY DESIGN</a:t>
            </a:r>
            <a:endParaRPr lang="en-US" sz="900" dirty="0"/>
          </a:p>
        </p:txBody>
      </p:sp>
      <p:sp>
        <p:nvSpPr>
          <p:cNvPr id="40" name="Text 38"/>
          <p:cNvSpPr txBox="1"/>
          <p:nvPr/>
        </p:nvSpPr>
        <p:spPr>
          <a:xfrm>
            <a:off x="6784848" y="2596896"/>
            <a:ext cx="3931920" cy="274320"/>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Aptos" pitchFamily="34" charset="0"/>
                <a:ea typeface="Aptos" pitchFamily="34" charset="-122"/>
                <a:cs typeface="Aptos" pitchFamily="34" charset="-120"/>
              </a:rPr>
              <a:t>Cost does not grow with the data</a:t>
            </a:r>
            <a:endParaRPr lang="en-US" sz="2100" dirty="0"/>
          </a:p>
        </p:txBody>
      </p:sp>
      <p:sp>
        <p:nvSpPr>
          <p:cNvPr id="41" name="Text 39"/>
          <p:cNvSpPr txBox="1"/>
          <p:nvPr/>
        </p:nvSpPr>
        <p:spPr>
          <a:xfrm>
            <a:off x="6784848" y="3026664"/>
            <a:ext cx="4023360" cy="228600"/>
          </a:xfrm>
          <a:prstGeom prst="rect">
            <a:avLst/>
          </a:prstGeom>
          <a:noFill/>
          <a:ln/>
        </p:spPr>
        <p:txBody>
          <a:bodyPr wrap="square" lIns="0" tIns="0" rIns="0" bIns="0" rtlCol="0" anchor="ctr">
            <a:normAutofit/>
          </a:bodyPr>
          <a:lstStyle/>
          <a:p>
            <a:pPr algn="l" indent="0" marL="0">
              <a:buNone/>
            </a:pPr>
            <a:r>
              <a:rPr lang="en-US" sz="1200" dirty="0">
                <a:solidFill>
                  <a:srgbClr val="C5D8E8"/>
                </a:solidFill>
                <a:latin typeface="Aptos" pitchFamily="34" charset="0"/>
                <a:ea typeface="Aptos" pitchFamily="34" charset="-122"/>
                <a:cs typeface="Aptos" pitchFamily="34" charset="-120"/>
              </a:rPr>
              <a:t>One model call per brief, taken over settled findings.</a:t>
            </a:r>
            <a:endParaRPr lang="en-US" sz="1200" dirty="0"/>
          </a:p>
        </p:txBody>
      </p:sp>
      <p:sp>
        <p:nvSpPr>
          <p:cNvPr id="42" name="Shape 40"/>
          <p:cNvSpPr/>
          <p:nvPr/>
        </p:nvSpPr>
        <p:spPr>
          <a:xfrm>
            <a:off x="6784848" y="3493008"/>
            <a:ext cx="4325112" cy="0"/>
          </a:xfrm>
          <a:prstGeom prst="line">
            <a:avLst/>
          </a:prstGeom>
          <a:noFill/>
          <a:ln w="12700">
            <a:solidFill>
              <a:srgbClr val="D9E2EC"/>
            </a:solidFill>
            <a:prstDash val="solid"/>
            <a:headEnd type="none"/>
            <a:tailEnd type="none"/>
          </a:ln>
        </p:spPr>
      </p:sp>
      <p:sp>
        <p:nvSpPr>
          <p:cNvPr id="43" name="Text 41"/>
          <p:cNvSpPr txBox="1"/>
          <p:nvPr/>
        </p:nvSpPr>
        <p:spPr>
          <a:xfrm>
            <a:off x="6784848" y="3794760"/>
            <a:ext cx="1737360" cy="164592"/>
          </a:xfrm>
          <a:prstGeom prst="rect">
            <a:avLst/>
          </a:prstGeom>
          <a:noFill/>
          <a:ln/>
        </p:spPr>
        <p:txBody>
          <a:bodyPr wrap="square" lIns="0" tIns="0" rIns="0" bIns="0" rtlCol="0" anchor="ctr">
            <a:normAutofit/>
          </a:bodyPr>
          <a:lstStyle/>
          <a:p>
            <a:pPr algn="l" indent="0" marL="0">
              <a:buNone/>
            </a:pPr>
            <a:r>
              <a:rPr lang="en-US" sz="900" b="1" dirty="0">
                <a:solidFill>
                  <a:srgbClr val="9FB4C9"/>
                </a:solidFill>
                <a:latin typeface="Aptos" pitchFamily="34" charset="0"/>
                <a:ea typeface="Aptos" pitchFamily="34" charset="-122"/>
                <a:cs typeface="Aptos" pitchFamily="34" charset="-120"/>
              </a:rPr>
              <a:t>THE MODEL NEVER SEES</a:t>
            </a:r>
            <a:endParaRPr lang="en-US" sz="900" dirty="0"/>
          </a:p>
        </p:txBody>
      </p:sp>
      <p:sp>
        <p:nvSpPr>
          <p:cNvPr id="44" name="Text 42"/>
          <p:cNvSpPr txBox="1"/>
          <p:nvPr/>
        </p:nvSpPr>
        <p:spPr>
          <a:xfrm>
            <a:off x="6784848" y="4041648"/>
            <a:ext cx="1828800" cy="274320"/>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Rows</a:t>
            </a:r>
            <a:endParaRPr lang="en-US" sz="1700" dirty="0"/>
          </a:p>
        </p:txBody>
      </p:sp>
      <p:sp>
        <p:nvSpPr>
          <p:cNvPr id="45" name="Text 43"/>
          <p:cNvSpPr txBox="1"/>
          <p:nvPr/>
        </p:nvSpPr>
        <p:spPr>
          <a:xfrm>
            <a:off x="8915400" y="3794760"/>
            <a:ext cx="1645920" cy="164592"/>
          </a:xfrm>
          <a:prstGeom prst="rect">
            <a:avLst/>
          </a:prstGeom>
          <a:noFill/>
          <a:ln/>
        </p:spPr>
        <p:txBody>
          <a:bodyPr wrap="square" lIns="0" tIns="0" rIns="0" bIns="0" rtlCol="0" anchor="ctr">
            <a:normAutofit/>
          </a:bodyPr>
          <a:lstStyle/>
          <a:p>
            <a:pPr algn="l" indent="0" marL="0">
              <a:buNone/>
            </a:pPr>
            <a:r>
              <a:rPr lang="en-US" sz="900" b="1" dirty="0">
                <a:solidFill>
                  <a:srgbClr val="9FB4C9"/>
                </a:solidFill>
                <a:latin typeface="Aptos" pitchFamily="34" charset="0"/>
                <a:ea typeface="Aptos" pitchFamily="34" charset="-122"/>
                <a:cs typeface="Aptos" pitchFamily="34" charset="-120"/>
              </a:rPr>
              <a:t>THE MODEL SEES</a:t>
            </a:r>
            <a:endParaRPr lang="en-US" sz="900" dirty="0"/>
          </a:p>
        </p:txBody>
      </p:sp>
      <p:sp>
        <p:nvSpPr>
          <p:cNvPr id="46" name="Text 44"/>
          <p:cNvSpPr txBox="1"/>
          <p:nvPr/>
        </p:nvSpPr>
        <p:spPr>
          <a:xfrm>
            <a:off x="8915400" y="4041648"/>
            <a:ext cx="1554480" cy="274320"/>
          </a:xfrm>
          <a:prstGeom prst="rect">
            <a:avLst/>
          </a:prstGeom>
          <a:noFill/>
          <a:ln/>
        </p:spPr>
        <p:txBody>
          <a:bodyPr wrap="square" lIns="0" tIns="0" rIns="0" bIns="0" rtlCol="0" anchor="ctr">
            <a:normAutofit/>
          </a:bodyPr>
          <a:lstStyle/>
          <a:p>
            <a:pPr algn="l" indent="0" marL="0">
              <a:buNone/>
            </a:pPr>
            <a:r>
              <a:rPr lang="en-US" sz="1700" b="1" dirty="0">
                <a:solidFill>
                  <a:srgbClr val="36D6BD"/>
                </a:solidFill>
                <a:latin typeface="Aptos" pitchFamily="34" charset="0"/>
                <a:ea typeface="Aptos" pitchFamily="34" charset="-122"/>
                <a:cs typeface="Aptos" pitchFamily="34" charset="-120"/>
              </a:rPr>
              <a:t>Findings</a:t>
            </a:r>
            <a:endParaRPr lang="en-US" sz="1700" dirty="0"/>
          </a:p>
        </p:txBody>
      </p:sp>
      <p:sp>
        <p:nvSpPr>
          <p:cNvPr id="47" name="Text 45"/>
          <p:cNvSpPr txBox="1"/>
          <p:nvPr/>
        </p:nvSpPr>
        <p:spPr>
          <a:xfrm>
            <a:off x="6784848" y="4690872"/>
            <a:ext cx="4069080" cy="822960"/>
          </a:xfrm>
          <a:prstGeom prst="rect">
            <a:avLst/>
          </a:prstGeom>
          <a:noFill/>
          <a:ln/>
        </p:spPr>
        <p:txBody>
          <a:bodyPr wrap="square" lIns="0" tIns="0" rIns="0" bIns="0" rtlCol="0" anchor="t">
            <a:normAutofit/>
          </a:bodyPr>
          <a:lstStyle/>
          <a:p>
            <a:pPr algn="l" indent="0" marL="0">
              <a:buNone/>
            </a:pPr>
            <a:r>
              <a:rPr lang="en-US" sz="1200" dirty="0">
                <a:solidFill>
                  <a:srgbClr val="C5D8E8"/>
                </a:solidFill>
                <a:latin typeface="Aptos" pitchFamily="34" charset="0"/>
                <a:ea typeface="Aptos" pitchFamily="34" charset="-122"/>
                <a:cs typeface="Aptos" pitchFamily="34" charset="-120"/>
              </a:rPr>
              <a:t>The prompt carries a handful of settled findings and no data. That is why the bill does not move when the client does — and why no figure in the brief can be invented.</a:t>
            </a:r>
            <a:endParaRPr lang="en-US" sz="12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10896"/>
            <a:ext cx="4114800" cy="237744"/>
          </a:xfrm>
          <a:prstGeom prst="rect">
            <a:avLst/>
          </a:prstGeom>
          <a:noFill/>
          <a:ln/>
        </p:spPr>
        <p:txBody>
          <a:bodyPr wrap="square" lIns="0" tIns="0" rIns="0" bIns="0" rtlCol="0" anchor="ctr">
            <a:normAutofit/>
          </a:bodyPr>
          <a:lstStyle/>
          <a:p>
            <a:pPr algn="l" indent="0" marL="0">
              <a:buNone/>
            </a:pPr>
            <a:r>
              <a:rPr lang="en-US" sz="900" b="1" spc="150" kern="0" dirty="0">
                <a:solidFill>
                  <a:srgbClr val="1769E0"/>
                </a:solidFill>
                <a:latin typeface="Aptos" pitchFamily="34" charset="0"/>
                <a:ea typeface="Aptos" pitchFamily="34" charset="-122"/>
                <a:cs typeface="Aptos" pitchFamily="34" charset="-120"/>
              </a:rPr>
              <a:t>10 — BUSINESS IMPACT</a:t>
            </a:r>
            <a:endParaRPr lang="en-US" sz="900" dirty="0"/>
          </a:p>
        </p:txBody>
      </p:sp>
      <p:sp>
        <p:nvSpPr>
          <p:cNvPr id="3" name="Text 1"/>
          <p:cNvSpPr txBox="1"/>
          <p:nvPr/>
        </p:nvSpPr>
        <p:spPr>
          <a:xfrm>
            <a:off x="502920" y="658368"/>
            <a:ext cx="11018520" cy="530352"/>
          </a:xfrm>
          <a:prstGeom prst="rect">
            <a:avLst/>
          </a:prstGeom>
          <a:noFill/>
          <a:ln/>
        </p:spPr>
        <p:txBody>
          <a:bodyPr wrap="square" lIns="0" tIns="0" rIns="0" bIns="0" rtlCol="0" anchor="ctr">
            <a:normAutofit/>
          </a:bodyPr>
          <a:lstStyle/>
          <a:p>
            <a:pPr algn="l" indent="0" marL="0">
              <a:buNone/>
            </a:pPr>
            <a:r>
              <a:rPr lang="en-US" sz="2800" b="1" dirty="0">
                <a:solidFill>
                  <a:srgbClr val="0E1B2A"/>
                </a:solidFill>
                <a:latin typeface="Aptos" pitchFamily="34" charset="0"/>
                <a:ea typeface="Aptos" pitchFamily="34" charset="-122"/>
                <a:cs typeface="Aptos" pitchFamily="34" charset="-120"/>
              </a:rPr>
              <a:t>The value case is measurable: less manual work, less leakage, better service.</a:t>
            </a:r>
            <a:endParaRPr lang="en-US" sz="2800" dirty="0"/>
          </a:p>
        </p:txBody>
      </p:sp>
      <p:sp>
        <p:nvSpPr>
          <p:cNvPr id="4" name="Shape 2"/>
          <p:cNvSpPr/>
          <p:nvPr/>
        </p:nvSpPr>
        <p:spPr>
          <a:xfrm>
            <a:off x="594360" y="1828800"/>
            <a:ext cx="2606040" cy="1051560"/>
          </a:xfrm>
          <a:prstGeom prst="roundRect">
            <a:avLst>
              <a:gd name="adj" fmla="val 13913"/>
            </a:avLst>
          </a:prstGeom>
          <a:solidFill>
            <a:srgbClr val="FFFFFF"/>
          </a:solidFill>
          <a:ln w="12700">
            <a:solidFill>
              <a:srgbClr val="D9E2EC"/>
            </a:solidFill>
            <a:prstDash val="solid"/>
          </a:ln>
        </p:spPr>
      </p:sp>
      <p:sp>
        <p:nvSpPr>
          <p:cNvPr id="5" name="Shape 3"/>
          <p:cNvSpPr/>
          <p:nvPr/>
        </p:nvSpPr>
        <p:spPr>
          <a:xfrm>
            <a:off x="758952" y="1993392"/>
            <a:ext cx="438912" cy="438912"/>
          </a:xfrm>
          <a:prstGeom prst="ellipse">
            <a:avLst/>
          </a:prstGeom>
          <a:solidFill>
            <a:srgbClr val="EAF2FF"/>
          </a:solidFill>
          <a:ln w="12700">
            <a:solidFill>
              <a:srgbClr val="EAF2FF"/>
            </a:solidFill>
            <a:prstDash val="solid"/>
          </a:ln>
        </p:spPr>
      </p:sp>
      <p:sp>
        <p:nvSpPr>
          <p:cNvPr id="6" name="Text 4"/>
          <p:cNvSpPr txBox="1"/>
          <p:nvPr/>
        </p:nvSpPr>
        <p:spPr>
          <a:xfrm>
            <a:off x="758952" y="2002536"/>
            <a:ext cx="438912" cy="429768"/>
          </a:xfrm>
          <a:prstGeom prst="rect">
            <a:avLst/>
          </a:prstGeom>
          <a:noFill/>
          <a:ln/>
        </p:spPr>
        <p:txBody>
          <a:bodyPr wrap="square" lIns="0" tIns="0" rIns="0" bIns="0" rtlCol="0" anchor="ctr">
            <a:normAutofit/>
          </a:bodyPr>
          <a:lstStyle/>
          <a:p>
            <a:pPr algn="ctr" indent="0" marL="0">
              <a:buNone/>
            </a:pPr>
            <a:r>
              <a:rPr lang="en-US" sz="1500" b="1" dirty="0">
                <a:solidFill>
                  <a:srgbClr val="1769E0"/>
                </a:solidFill>
                <a:latin typeface="Aptos" pitchFamily="34" charset="0"/>
                <a:ea typeface="Aptos" pitchFamily="34" charset="-122"/>
                <a:cs typeface="Aptos" pitchFamily="34" charset="-120"/>
              </a:rPr>
              <a:t>•</a:t>
            </a:r>
            <a:endParaRPr lang="en-US" sz="1500" dirty="0"/>
          </a:p>
        </p:txBody>
      </p:sp>
      <p:sp>
        <p:nvSpPr>
          <p:cNvPr id="7" name="Text 5"/>
          <p:cNvSpPr txBox="1"/>
          <p:nvPr/>
        </p:nvSpPr>
        <p:spPr>
          <a:xfrm>
            <a:off x="1307592" y="1975104"/>
            <a:ext cx="1737360" cy="182880"/>
          </a:xfrm>
          <a:prstGeom prst="rect">
            <a:avLst/>
          </a:prstGeom>
          <a:noFill/>
          <a:ln/>
        </p:spPr>
        <p:txBody>
          <a:bodyPr wrap="square" lIns="0" tIns="0" rIns="0" bIns="0" rtlCol="0" anchor="ctr">
            <a:normAutofit/>
          </a:bodyPr>
          <a:lstStyle/>
          <a:p>
            <a:pPr algn="l" indent="0" marL="0">
              <a:buNone/>
            </a:pPr>
            <a:r>
              <a:rPr lang="en-US" sz="1000" b="1" dirty="0">
                <a:solidFill>
                  <a:srgbClr val="61738A"/>
                </a:solidFill>
                <a:latin typeface="Aptos" pitchFamily="34" charset="0"/>
                <a:ea typeface="Aptos" pitchFamily="34" charset="-122"/>
                <a:cs typeface="Aptos" pitchFamily="34" charset="-120"/>
              </a:rPr>
              <a:t>MANAGER TIME</a:t>
            </a:r>
            <a:endParaRPr lang="en-US" sz="1000" dirty="0"/>
          </a:p>
        </p:txBody>
      </p:sp>
      <p:sp>
        <p:nvSpPr>
          <p:cNvPr id="8" name="Text 6"/>
          <p:cNvSpPr txBox="1"/>
          <p:nvPr/>
        </p:nvSpPr>
        <p:spPr>
          <a:xfrm>
            <a:off x="1307592" y="2212848"/>
            <a:ext cx="1691640" cy="384048"/>
          </a:xfrm>
          <a:prstGeom prst="rect">
            <a:avLst/>
          </a:prstGeom>
          <a:noFill/>
          <a:ln/>
        </p:spPr>
        <p:txBody>
          <a:bodyPr wrap="square" lIns="0" tIns="0" rIns="0" bIns="0" rtlCol="0" anchor="ctr">
            <a:normAutofit/>
          </a:bodyPr>
          <a:lstStyle/>
          <a:p>
            <a:pPr algn="l" indent="0" marL="0">
              <a:buNone/>
            </a:pPr>
            <a:r>
              <a:rPr lang="en-US" sz="2300" b="1" dirty="0">
                <a:solidFill>
                  <a:srgbClr val="0E1B2A"/>
                </a:solidFill>
                <a:latin typeface="Aptos" pitchFamily="34" charset="0"/>
                <a:ea typeface="Aptos" pitchFamily="34" charset="-122"/>
                <a:cs typeface="Aptos" pitchFamily="34" charset="-120"/>
              </a:rPr>
              <a:t>2–3 hrs/day</a:t>
            </a:r>
            <a:endParaRPr lang="en-US" sz="2300" dirty="0"/>
          </a:p>
        </p:txBody>
      </p:sp>
      <p:sp>
        <p:nvSpPr>
          <p:cNvPr id="9" name="Text 7"/>
          <p:cNvSpPr txBox="1"/>
          <p:nvPr/>
        </p:nvSpPr>
        <p:spPr>
          <a:xfrm>
            <a:off x="1307592" y="2633472"/>
            <a:ext cx="1691640" cy="164592"/>
          </a:xfrm>
          <a:prstGeom prst="rect">
            <a:avLst/>
          </a:prstGeom>
          <a:noFill/>
          <a:ln/>
        </p:spPr>
        <p:txBody>
          <a:bodyPr wrap="square" lIns="0" tIns="0" rIns="0" bIns="0" rtlCol="0" anchor="ctr">
            <a:normAutofit/>
          </a:bodyPr>
          <a:lstStyle/>
          <a:p>
            <a:pPr algn="l" indent="0" marL="0">
              <a:buNone/>
            </a:pPr>
            <a:r>
              <a:rPr lang="en-US" sz="950" b="1" dirty="0">
                <a:solidFill>
                  <a:srgbClr val="1769E0"/>
                </a:solidFill>
                <a:latin typeface="Aptos" pitchFamily="34" charset="0"/>
                <a:ea typeface="Aptos" pitchFamily="34" charset="-122"/>
                <a:cs typeface="Aptos" pitchFamily="34" charset="-120"/>
              </a:rPr>
              <a:t>Potential time recovered per manager</a:t>
            </a:r>
            <a:endParaRPr lang="en-US" sz="950" dirty="0"/>
          </a:p>
        </p:txBody>
      </p:sp>
      <p:sp>
        <p:nvSpPr>
          <p:cNvPr id="10" name="Shape 8"/>
          <p:cNvSpPr/>
          <p:nvPr/>
        </p:nvSpPr>
        <p:spPr>
          <a:xfrm>
            <a:off x="3383280" y="1828800"/>
            <a:ext cx="2606040" cy="1051560"/>
          </a:xfrm>
          <a:prstGeom prst="roundRect">
            <a:avLst>
              <a:gd name="adj" fmla="val 13913"/>
            </a:avLst>
          </a:prstGeom>
          <a:solidFill>
            <a:srgbClr val="FFFFFF"/>
          </a:solidFill>
          <a:ln w="12700">
            <a:solidFill>
              <a:srgbClr val="D9E2EC"/>
            </a:solidFill>
            <a:prstDash val="solid"/>
          </a:ln>
        </p:spPr>
      </p:sp>
      <p:sp>
        <p:nvSpPr>
          <p:cNvPr id="11" name="Shape 9"/>
          <p:cNvSpPr/>
          <p:nvPr/>
        </p:nvSpPr>
        <p:spPr>
          <a:xfrm>
            <a:off x="3547872" y="1993392"/>
            <a:ext cx="438912" cy="438912"/>
          </a:xfrm>
          <a:prstGeom prst="ellipse">
            <a:avLst/>
          </a:prstGeom>
          <a:solidFill>
            <a:srgbClr val="E8F7F0"/>
          </a:solidFill>
          <a:ln w="12700">
            <a:solidFill>
              <a:srgbClr val="E8F7F0"/>
            </a:solidFill>
            <a:prstDash val="solid"/>
          </a:ln>
        </p:spPr>
      </p:sp>
      <p:sp>
        <p:nvSpPr>
          <p:cNvPr id="12" name="Text 10"/>
          <p:cNvSpPr txBox="1"/>
          <p:nvPr/>
        </p:nvSpPr>
        <p:spPr>
          <a:xfrm>
            <a:off x="3547872" y="2002536"/>
            <a:ext cx="438912" cy="429768"/>
          </a:xfrm>
          <a:prstGeom prst="rect">
            <a:avLst/>
          </a:prstGeom>
          <a:noFill/>
          <a:ln/>
        </p:spPr>
        <p:txBody>
          <a:bodyPr wrap="square" lIns="0" tIns="0" rIns="0" bIns="0" rtlCol="0" anchor="ctr">
            <a:normAutofit/>
          </a:bodyPr>
          <a:lstStyle/>
          <a:p>
            <a:pPr algn="ctr" indent="0" marL="0">
              <a:buNone/>
            </a:pPr>
            <a:r>
              <a:rPr lang="en-US" sz="1500" b="1" dirty="0">
                <a:solidFill>
                  <a:srgbClr val="36D6BD"/>
                </a:solidFill>
                <a:latin typeface="Aptos" pitchFamily="34" charset="0"/>
                <a:ea typeface="Aptos" pitchFamily="34" charset="-122"/>
                <a:cs typeface="Aptos" pitchFamily="34" charset="-120"/>
              </a:rPr>
              <a:t>•</a:t>
            </a:r>
            <a:endParaRPr lang="en-US" sz="1500" dirty="0"/>
          </a:p>
        </p:txBody>
      </p:sp>
      <p:sp>
        <p:nvSpPr>
          <p:cNvPr id="13" name="Text 11"/>
          <p:cNvSpPr txBox="1"/>
          <p:nvPr/>
        </p:nvSpPr>
        <p:spPr>
          <a:xfrm>
            <a:off x="4096512" y="1975104"/>
            <a:ext cx="1737360" cy="182880"/>
          </a:xfrm>
          <a:prstGeom prst="rect">
            <a:avLst/>
          </a:prstGeom>
          <a:noFill/>
          <a:ln/>
        </p:spPr>
        <p:txBody>
          <a:bodyPr wrap="square" lIns="0" tIns="0" rIns="0" bIns="0" rtlCol="0" anchor="ctr">
            <a:normAutofit/>
          </a:bodyPr>
          <a:lstStyle/>
          <a:p>
            <a:pPr algn="l" indent="0" marL="0">
              <a:buNone/>
            </a:pPr>
            <a:r>
              <a:rPr lang="en-US" sz="1000" b="1" dirty="0">
                <a:solidFill>
                  <a:srgbClr val="61738A"/>
                </a:solidFill>
                <a:latin typeface="Aptos" pitchFamily="34" charset="0"/>
                <a:ea typeface="Aptos" pitchFamily="34" charset="-122"/>
                <a:cs typeface="Aptos" pitchFamily="34" charset="-120"/>
              </a:rPr>
              <a:t>COST OPPORTUNITY</a:t>
            </a:r>
            <a:endParaRPr lang="en-US" sz="1000" dirty="0"/>
          </a:p>
        </p:txBody>
      </p:sp>
      <p:sp>
        <p:nvSpPr>
          <p:cNvPr id="14" name="Text 12"/>
          <p:cNvSpPr txBox="1"/>
          <p:nvPr/>
        </p:nvSpPr>
        <p:spPr>
          <a:xfrm>
            <a:off x="4096512" y="2212848"/>
            <a:ext cx="1691640" cy="384048"/>
          </a:xfrm>
          <a:prstGeom prst="rect">
            <a:avLst/>
          </a:prstGeom>
          <a:noFill/>
          <a:ln/>
        </p:spPr>
        <p:txBody>
          <a:bodyPr wrap="square" lIns="0" tIns="0" rIns="0" bIns="0" rtlCol="0" anchor="ctr">
            <a:normAutofit/>
          </a:bodyPr>
          <a:lstStyle/>
          <a:p>
            <a:pPr algn="l" indent="0" marL="0">
              <a:buNone/>
            </a:pPr>
            <a:r>
              <a:rPr lang="en-US" sz="2300" b="1" dirty="0">
                <a:solidFill>
                  <a:srgbClr val="0E1B2A"/>
                </a:solidFill>
                <a:latin typeface="Aptos" pitchFamily="34" charset="0"/>
                <a:ea typeface="Aptos" pitchFamily="34" charset="-122"/>
                <a:cs typeface="Aptos" pitchFamily="34" charset="-120"/>
              </a:rPr>
              <a:t>2–5%</a:t>
            </a:r>
            <a:endParaRPr lang="en-US" sz="2300" dirty="0"/>
          </a:p>
        </p:txBody>
      </p:sp>
      <p:sp>
        <p:nvSpPr>
          <p:cNvPr id="15" name="Text 13"/>
          <p:cNvSpPr txBox="1"/>
          <p:nvPr/>
        </p:nvSpPr>
        <p:spPr>
          <a:xfrm>
            <a:off x="4096512" y="2633472"/>
            <a:ext cx="1691640" cy="164592"/>
          </a:xfrm>
          <a:prstGeom prst="rect">
            <a:avLst/>
          </a:prstGeom>
          <a:noFill/>
          <a:ln/>
        </p:spPr>
        <p:txBody>
          <a:bodyPr wrap="square" lIns="0" tIns="0" rIns="0" bIns="0" rtlCol="0" anchor="ctr">
            <a:normAutofit/>
          </a:bodyPr>
          <a:lstStyle/>
          <a:p>
            <a:pPr algn="l" indent="0" marL="0">
              <a:buNone/>
            </a:pPr>
            <a:r>
              <a:rPr lang="en-US" sz="950" b="1" dirty="0">
                <a:solidFill>
                  <a:srgbClr val="36D6BD"/>
                </a:solidFill>
                <a:latin typeface="Aptos" pitchFamily="34" charset="0"/>
                <a:ea typeface="Aptos" pitchFamily="34" charset="-122"/>
                <a:cs typeface="Aptos" pitchFamily="34" charset="-120"/>
              </a:rPr>
              <a:t>Illustrative mobility optimization range</a:t>
            </a:r>
            <a:endParaRPr lang="en-US" sz="950" dirty="0"/>
          </a:p>
        </p:txBody>
      </p:sp>
      <p:sp>
        <p:nvSpPr>
          <p:cNvPr id="16" name="Shape 14"/>
          <p:cNvSpPr/>
          <p:nvPr/>
        </p:nvSpPr>
        <p:spPr>
          <a:xfrm>
            <a:off x="6172200" y="1828800"/>
            <a:ext cx="2606040" cy="1051560"/>
          </a:xfrm>
          <a:prstGeom prst="roundRect">
            <a:avLst>
              <a:gd name="adj" fmla="val 13913"/>
            </a:avLst>
          </a:prstGeom>
          <a:solidFill>
            <a:srgbClr val="FFFFFF"/>
          </a:solidFill>
          <a:ln w="12700">
            <a:solidFill>
              <a:srgbClr val="D9E2EC"/>
            </a:solidFill>
            <a:prstDash val="solid"/>
          </a:ln>
        </p:spPr>
      </p:sp>
      <p:sp>
        <p:nvSpPr>
          <p:cNvPr id="17" name="Shape 15"/>
          <p:cNvSpPr/>
          <p:nvPr/>
        </p:nvSpPr>
        <p:spPr>
          <a:xfrm>
            <a:off x="6336792" y="1993392"/>
            <a:ext cx="438912" cy="438912"/>
          </a:xfrm>
          <a:prstGeom prst="ellipse">
            <a:avLst/>
          </a:prstGeom>
          <a:solidFill>
            <a:srgbClr val="E8F7F0"/>
          </a:solidFill>
          <a:ln w="12700">
            <a:solidFill>
              <a:srgbClr val="E8F7F0"/>
            </a:solidFill>
            <a:prstDash val="solid"/>
          </a:ln>
        </p:spPr>
      </p:sp>
      <p:sp>
        <p:nvSpPr>
          <p:cNvPr id="18" name="Text 16"/>
          <p:cNvSpPr txBox="1"/>
          <p:nvPr/>
        </p:nvSpPr>
        <p:spPr>
          <a:xfrm>
            <a:off x="6336792" y="2002536"/>
            <a:ext cx="438912" cy="429768"/>
          </a:xfrm>
          <a:prstGeom prst="rect">
            <a:avLst/>
          </a:prstGeom>
          <a:noFill/>
          <a:ln/>
        </p:spPr>
        <p:txBody>
          <a:bodyPr wrap="square" lIns="0" tIns="0" rIns="0" bIns="0" rtlCol="0" anchor="ctr">
            <a:normAutofit/>
          </a:bodyPr>
          <a:lstStyle/>
          <a:p>
            <a:pPr algn="ctr" indent="0" marL="0">
              <a:buNone/>
            </a:pPr>
            <a:r>
              <a:rPr lang="en-US" sz="1500" b="1" dirty="0">
                <a:solidFill>
                  <a:srgbClr val="16A568"/>
                </a:solidFill>
                <a:latin typeface="Aptos" pitchFamily="34" charset="0"/>
                <a:ea typeface="Aptos" pitchFamily="34" charset="-122"/>
                <a:cs typeface="Aptos" pitchFamily="34" charset="-120"/>
              </a:rPr>
              <a:t>•</a:t>
            </a:r>
            <a:endParaRPr lang="en-US" sz="1500" dirty="0"/>
          </a:p>
        </p:txBody>
      </p:sp>
      <p:sp>
        <p:nvSpPr>
          <p:cNvPr id="19" name="Text 17"/>
          <p:cNvSpPr txBox="1"/>
          <p:nvPr/>
        </p:nvSpPr>
        <p:spPr>
          <a:xfrm>
            <a:off x="6885432" y="1975104"/>
            <a:ext cx="1737360" cy="182880"/>
          </a:xfrm>
          <a:prstGeom prst="rect">
            <a:avLst/>
          </a:prstGeom>
          <a:noFill/>
          <a:ln/>
        </p:spPr>
        <p:txBody>
          <a:bodyPr wrap="square" lIns="0" tIns="0" rIns="0" bIns="0" rtlCol="0" anchor="ctr">
            <a:normAutofit/>
          </a:bodyPr>
          <a:lstStyle/>
          <a:p>
            <a:pPr algn="l" indent="0" marL="0">
              <a:buNone/>
            </a:pPr>
            <a:r>
              <a:rPr lang="en-US" sz="1000" b="1" dirty="0">
                <a:solidFill>
                  <a:srgbClr val="61738A"/>
                </a:solidFill>
                <a:latin typeface="Aptos" pitchFamily="34" charset="0"/>
                <a:ea typeface="Aptos" pitchFamily="34" charset="-122"/>
                <a:cs typeface="Aptos" pitchFamily="34" charset="-120"/>
              </a:rPr>
              <a:t>SLA IMPROVEMENT</a:t>
            </a:r>
            <a:endParaRPr lang="en-US" sz="1000" dirty="0"/>
          </a:p>
        </p:txBody>
      </p:sp>
      <p:sp>
        <p:nvSpPr>
          <p:cNvPr id="20" name="Text 18"/>
          <p:cNvSpPr txBox="1"/>
          <p:nvPr/>
        </p:nvSpPr>
        <p:spPr>
          <a:xfrm>
            <a:off x="6885432" y="2212848"/>
            <a:ext cx="1691640" cy="384048"/>
          </a:xfrm>
          <a:prstGeom prst="rect">
            <a:avLst/>
          </a:prstGeom>
          <a:noFill/>
          <a:ln/>
        </p:spPr>
        <p:txBody>
          <a:bodyPr wrap="square" lIns="0" tIns="0" rIns="0" bIns="0" rtlCol="0" anchor="ctr">
            <a:normAutofit/>
          </a:bodyPr>
          <a:lstStyle/>
          <a:p>
            <a:pPr algn="l" indent="0" marL="0">
              <a:buNone/>
            </a:pPr>
            <a:r>
              <a:rPr lang="en-US" sz="2300" b="1" dirty="0">
                <a:solidFill>
                  <a:srgbClr val="0E1B2A"/>
                </a:solidFill>
                <a:latin typeface="Aptos" pitchFamily="34" charset="0"/>
                <a:ea typeface="Aptos" pitchFamily="34" charset="-122"/>
                <a:cs typeface="Aptos" pitchFamily="34" charset="-120"/>
              </a:rPr>
              <a:t>↑</a:t>
            </a:r>
            <a:endParaRPr lang="en-US" sz="2300" dirty="0"/>
          </a:p>
        </p:txBody>
      </p:sp>
      <p:sp>
        <p:nvSpPr>
          <p:cNvPr id="21" name="Text 19"/>
          <p:cNvSpPr txBox="1"/>
          <p:nvPr/>
        </p:nvSpPr>
        <p:spPr>
          <a:xfrm>
            <a:off x="6885432" y="2633472"/>
            <a:ext cx="1691640" cy="164592"/>
          </a:xfrm>
          <a:prstGeom prst="rect">
            <a:avLst/>
          </a:prstGeom>
          <a:noFill/>
          <a:ln/>
        </p:spPr>
        <p:txBody>
          <a:bodyPr wrap="square" lIns="0" tIns="0" rIns="0" bIns="0" rtlCol="0" anchor="ctr">
            <a:normAutofit/>
          </a:bodyPr>
          <a:lstStyle/>
          <a:p>
            <a:pPr algn="l" indent="0" marL="0">
              <a:buNone/>
            </a:pPr>
            <a:r>
              <a:rPr lang="en-US" sz="950" b="1" dirty="0">
                <a:solidFill>
                  <a:srgbClr val="16A568"/>
                </a:solidFill>
                <a:latin typeface="Aptos" pitchFamily="34" charset="0"/>
                <a:ea typeface="Aptos" pitchFamily="34" charset="-122"/>
                <a:cs typeface="Aptos" pitchFamily="34" charset="-120"/>
              </a:rPr>
              <a:t>Earlier intervention before breach</a:t>
            </a:r>
            <a:endParaRPr lang="en-US" sz="950" dirty="0"/>
          </a:p>
        </p:txBody>
      </p:sp>
      <p:sp>
        <p:nvSpPr>
          <p:cNvPr id="22" name="Shape 20"/>
          <p:cNvSpPr/>
          <p:nvPr/>
        </p:nvSpPr>
        <p:spPr>
          <a:xfrm>
            <a:off x="8961120" y="1828800"/>
            <a:ext cx="2606040" cy="1051560"/>
          </a:xfrm>
          <a:prstGeom prst="roundRect">
            <a:avLst>
              <a:gd name="adj" fmla="val 13913"/>
            </a:avLst>
          </a:prstGeom>
          <a:solidFill>
            <a:srgbClr val="FFFFFF"/>
          </a:solidFill>
          <a:ln w="12700">
            <a:solidFill>
              <a:srgbClr val="D9E2EC"/>
            </a:solidFill>
            <a:prstDash val="solid"/>
          </a:ln>
        </p:spPr>
      </p:sp>
      <p:sp>
        <p:nvSpPr>
          <p:cNvPr id="23" name="Shape 21"/>
          <p:cNvSpPr/>
          <p:nvPr/>
        </p:nvSpPr>
        <p:spPr>
          <a:xfrm>
            <a:off x="9125712" y="1993392"/>
            <a:ext cx="438912" cy="438912"/>
          </a:xfrm>
          <a:prstGeom prst="ellipse">
            <a:avLst/>
          </a:prstGeom>
          <a:solidFill>
            <a:srgbClr val="F1EEFF"/>
          </a:solidFill>
          <a:ln w="12700">
            <a:solidFill>
              <a:srgbClr val="F1EEFF"/>
            </a:solidFill>
            <a:prstDash val="solid"/>
          </a:ln>
        </p:spPr>
      </p:sp>
      <p:sp>
        <p:nvSpPr>
          <p:cNvPr id="24" name="Text 22"/>
          <p:cNvSpPr txBox="1"/>
          <p:nvPr/>
        </p:nvSpPr>
        <p:spPr>
          <a:xfrm>
            <a:off x="9125712" y="2002536"/>
            <a:ext cx="438912" cy="429768"/>
          </a:xfrm>
          <a:prstGeom prst="rect">
            <a:avLst/>
          </a:prstGeom>
          <a:noFill/>
          <a:ln/>
        </p:spPr>
        <p:txBody>
          <a:bodyPr wrap="square" lIns="0" tIns="0" rIns="0" bIns="0" rtlCol="0" anchor="ctr">
            <a:normAutofit/>
          </a:bodyPr>
          <a:lstStyle/>
          <a:p>
            <a:pPr algn="ctr" indent="0" marL="0">
              <a:buNone/>
            </a:pPr>
            <a:r>
              <a:rPr lang="en-US" sz="1500" b="1" dirty="0">
                <a:solidFill>
                  <a:srgbClr val="6C4CE6"/>
                </a:solidFill>
                <a:latin typeface="Aptos" pitchFamily="34" charset="0"/>
                <a:ea typeface="Aptos" pitchFamily="34" charset="-122"/>
                <a:cs typeface="Aptos" pitchFamily="34" charset="-120"/>
              </a:rPr>
              <a:t>•</a:t>
            </a:r>
            <a:endParaRPr lang="en-US" sz="1500" dirty="0"/>
          </a:p>
        </p:txBody>
      </p:sp>
      <p:sp>
        <p:nvSpPr>
          <p:cNvPr id="25" name="Text 23"/>
          <p:cNvSpPr txBox="1"/>
          <p:nvPr/>
        </p:nvSpPr>
        <p:spPr>
          <a:xfrm>
            <a:off x="9674352" y="1975104"/>
            <a:ext cx="1737360" cy="182880"/>
          </a:xfrm>
          <a:prstGeom prst="rect">
            <a:avLst/>
          </a:prstGeom>
          <a:noFill/>
          <a:ln/>
        </p:spPr>
        <p:txBody>
          <a:bodyPr wrap="square" lIns="0" tIns="0" rIns="0" bIns="0" rtlCol="0" anchor="ctr">
            <a:normAutofit/>
          </a:bodyPr>
          <a:lstStyle/>
          <a:p>
            <a:pPr algn="l" indent="0" marL="0">
              <a:buNone/>
            </a:pPr>
            <a:r>
              <a:rPr lang="en-US" sz="1000" b="1" dirty="0">
                <a:solidFill>
                  <a:srgbClr val="61738A"/>
                </a:solidFill>
                <a:latin typeface="Aptos" pitchFamily="34" charset="0"/>
                <a:ea typeface="Aptos" pitchFamily="34" charset="-122"/>
                <a:cs typeface="Aptos" pitchFamily="34" charset="-120"/>
              </a:rPr>
              <a:t>EMPLOYEE IMPACT</a:t>
            </a:r>
            <a:endParaRPr lang="en-US" sz="1000" dirty="0"/>
          </a:p>
        </p:txBody>
      </p:sp>
      <p:sp>
        <p:nvSpPr>
          <p:cNvPr id="26" name="Text 24"/>
          <p:cNvSpPr txBox="1"/>
          <p:nvPr/>
        </p:nvSpPr>
        <p:spPr>
          <a:xfrm>
            <a:off x="9674352" y="2212848"/>
            <a:ext cx="1691640" cy="384048"/>
          </a:xfrm>
          <a:prstGeom prst="rect">
            <a:avLst/>
          </a:prstGeom>
          <a:noFill/>
          <a:ln/>
        </p:spPr>
        <p:txBody>
          <a:bodyPr wrap="square" lIns="0" tIns="0" rIns="0" bIns="0" rtlCol="0" anchor="ctr">
            <a:normAutofit/>
          </a:bodyPr>
          <a:lstStyle/>
          <a:p>
            <a:pPr algn="l" indent="0" marL="0">
              <a:buNone/>
            </a:pPr>
            <a:r>
              <a:rPr lang="en-US" sz="2300" b="1" dirty="0">
                <a:solidFill>
                  <a:srgbClr val="0E1B2A"/>
                </a:solidFill>
                <a:latin typeface="Aptos" pitchFamily="34" charset="0"/>
                <a:ea typeface="Aptos" pitchFamily="34" charset="-122"/>
                <a:cs typeface="Aptos" pitchFamily="34" charset="-120"/>
              </a:rPr>
              <a:t>↓</a:t>
            </a:r>
            <a:endParaRPr lang="en-US" sz="2300" dirty="0"/>
          </a:p>
        </p:txBody>
      </p:sp>
      <p:sp>
        <p:nvSpPr>
          <p:cNvPr id="27" name="Text 25"/>
          <p:cNvSpPr txBox="1"/>
          <p:nvPr/>
        </p:nvSpPr>
        <p:spPr>
          <a:xfrm>
            <a:off x="9674352" y="2633472"/>
            <a:ext cx="1691640" cy="164592"/>
          </a:xfrm>
          <a:prstGeom prst="rect">
            <a:avLst/>
          </a:prstGeom>
          <a:noFill/>
          <a:ln/>
        </p:spPr>
        <p:txBody>
          <a:bodyPr wrap="square" lIns="0" tIns="0" rIns="0" bIns="0" rtlCol="0" anchor="ctr">
            <a:normAutofit/>
          </a:bodyPr>
          <a:lstStyle/>
          <a:p>
            <a:pPr algn="l" indent="0" marL="0">
              <a:buNone/>
            </a:pPr>
            <a:r>
              <a:rPr lang="en-US" sz="950" b="1" dirty="0">
                <a:solidFill>
                  <a:srgbClr val="6C4CE6"/>
                </a:solidFill>
                <a:latin typeface="Aptos" pitchFamily="34" charset="0"/>
                <a:ea typeface="Aptos" pitchFamily="34" charset="-122"/>
                <a:cs typeface="Aptos" pitchFamily="34" charset="-120"/>
              </a:rPr>
              <a:t>Fewer late / disrupted arrivals</a:t>
            </a:r>
            <a:endParaRPr lang="en-US" sz="950" dirty="0"/>
          </a:p>
        </p:txBody>
      </p:sp>
      <p:sp>
        <p:nvSpPr>
          <p:cNvPr id="28" name="Shape 26"/>
          <p:cNvSpPr/>
          <p:nvPr/>
        </p:nvSpPr>
        <p:spPr>
          <a:xfrm>
            <a:off x="594360" y="3246120"/>
            <a:ext cx="5349240" cy="2651760"/>
          </a:xfrm>
          <a:prstGeom prst="roundRect">
            <a:avLst>
              <a:gd name="adj" fmla="val 5517"/>
            </a:avLst>
          </a:prstGeom>
          <a:solidFill>
            <a:srgbClr val="FFFFFF"/>
          </a:solidFill>
          <a:ln w="12700">
            <a:solidFill>
              <a:srgbClr val="D9E2EC"/>
            </a:solidFill>
            <a:prstDash val="solid"/>
          </a:ln>
        </p:spPr>
      </p:sp>
      <p:sp>
        <p:nvSpPr>
          <p:cNvPr id="29" name="Text 27"/>
          <p:cNvSpPr txBox="1"/>
          <p:nvPr/>
        </p:nvSpPr>
        <p:spPr>
          <a:xfrm>
            <a:off x="841248" y="3529584"/>
            <a:ext cx="3017520" cy="201168"/>
          </a:xfrm>
          <a:prstGeom prst="rect">
            <a:avLst/>
          </a:prstGeom>
          <a:noFill/>
          <a:ln/>
        </p:spPr>
        <p:txBody>
          <a:bodyPr wrap="square" lIns="0" tIns="0" rIns="0" bIns="0" rtlCol="0" anchor="ctr">
            <a:normAutofit/>
          </a:bodyPr>
          <a:lstStyle/>
          <a:p>
            <a:pPr algn="l" indent="0" marL="0">
              <a:buNone/>
            </a:pPr>
            <a:r>
              <a:rPr lang="en-US" sz="900" b="1" spc="110" kern="0" dirty="0">
                <a:solidFill>
                  <a:srgbClr val="61738A"/>
                </a:solidFill>
                <a:latin typeface="Aptos" pitchFamily="34" charset="0"/>
                <a:ea typeface="Aptos" pitchFamily="34" charset="-122"/>
                <a:cs typeface="Aptos" pitchFamily="34" charset="-120"/>
              </a:rPr>
              <a:t>WHERE THE MONEY COMES FROM</a:t>
            </a:r>
            <a:endParaRPr lang="en-US" sz="900" dirty="0"/>
          </a:p>
        </p:txBody>
      </p:sp>
      <p:sp>
        <p:nvSpPr>
          <p:cNvPr id="30" name="Shape 28"/>
          <p:cNvSpPr/>
          <p:nvPr/>
        </p:nvSpPr>
        <p:spPr>
          <a:xfrm>
            <a:off x="859536" y="3968496"/>
            <a:ext cx="237744" cy="237744"/>
          </a:xfrm>
          <a:prstGeom prst="ellipse">
            <a:avLst/>
          </a:prstGeom>
          <a:solidFill>
            <a:srgbClr val="1769E0"/>
          </a:solidFill>
          <a:ln w="12700">
            <a:solidFill>
              <a:srgbClr val="1769E0"/>
            </a:solidFill>
            <a:prstDash val="solid"/>
          </a:ln>
        </p:spPr>
      </p:sp>
      <p:sp>
        <p:nvSpPr>
          <p:cNvPr id="31" name="Text 29"/>
          <p:cNvSpPr txBox="1"/>
          <p:nvPr/>
        </p:nvSpPr>
        <p:spPr>
          <a:xfrm>
            <a:off x="859536" y="3977640"/>
            <a:ext cx="237744" cy="22860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2" name="Text 30"/>
          <p:cNvSpPr txBox="1"/>
          <p:nvPr/>
        </p:nvSpPr>
        <p:spPr>
          <a:xfrm>
            <a:off x="1234440" y="3922776"/>
            <a:ext cx="960120" cy="192024"/>
          </a:xfrm>
          <a:prstGeom prst="rect">
            <a:avLst/>
          </a:prstGeom>
          <a:noFill/>
          <a:ln/>
        </p:spPr>
        <p:txBody>
          <a:bodyPr wrap="square" lIns="0" tIns="0" rIns="0" bIns="0" rtlCol="0" anchor="ctr">
            <a:normAutofit/>
          </a:bodyPr>
          <a:lstStyle/>
          <a:p>
            <a:pPr algn="l" indent="0" marL="0">
              <a:buNone/>
            </a:pPr>
            <a:r>
              <a:rPr lang="en-US" sz="1050" b="1" dirty="0">
                <a:solidFill>
                  <a:srgbClr val="0E1B2A"/>
                </a:solidFill>
                <a:latin typeface="Aptos" pitchFamily="34" charset="0"/>
                <a:ea typeface="Aptos" pitchFamily="34" charset="-122"/>
                <a:cs typeface="Aptos" pitchFamily="34" charset="-120"/>
              </a:rPr>
              <a:t>Productivity</a:t>
            </a:r>
            <a:endParaRPr lang="en-US" sz="1050" dirty="0"/>
          </a:p>
        </p:txBody>
      </p:sp>
      <p:sp>
        <p:nvSpPr>
          <p:cNvPr id="33" name="Text 31"/>
          <p:cNvSpPr txBox="1"/>
          <p:nvPr/>
        </p:nvSpPr>
        <p:spPr>
          <a:xfrm>
            <a:off x="2240280" y="3922776"/>
            <a:ext cx="3337560" cy="219456"/>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less report-building + manual investigation</a:t>
            </a:r>
            <a:endParaRPr lang="en-US" sz="1000" dirty="0"/>
          </a:p>
        </p:txBody>
      </p:sp>
      <p:sp>
        <p:nvSpPr>
          <p:cNvPr id="34" name="Shape 32"/>
          <p:cNvSpPr/>
          <p:nvPr/>
        </p:nvSpPr>
        <p:spPr>
          <a:xfrm>
            <a:off x="859536" y="4407408"/>
            <a:ext cx="237744" cy="237744"/>
          </a:xfrm>
          <a:prstGeom prst="ellipse">
            <a:avLst/>
          </a:prstGeom>
          <a:solidFill>
            <a:srgbClr val="36D6BD"/>
          </a:solidFill>
          <a:ln w="12700">
            <a:solidFill>
              <a:srgbClr val="36D6BD"/>
            </a:solidFill>
            <a:prstDash val="solid"/>
          </a:ln>
        </p:spPr>
      </p:sp>
      <p:sp>
        <p:nvSpPr>
          <p:cNvPr id="35" name="Text 33"/>
          <p:cNvSpPr txBox="1"/>
          <p:nvPr/>
        </p:nvSpPr>
        <p:spPr>
          <a:xfrm>
            <a:off x="859536" y="4416552"/>
            <a:ext cx="237744" cy="22860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6" name="Text 34"/>
          <p:cNvSpPr txBox="1"/>
          <p:nvPr/>
        </p:nvSpPr>
        <p:spPr>
          <a:xfrm>
            <a:off x="1234440" y="4361688"/>
            <a:ext cx="960120" cy="192024"/>
          </a:xfrm>
          <a:prstGeom prst="rect">
            <a:avLst/>
          </a:prstGeom>
          <a:noFill/>
          <a:ln/>
        </p:spPr>
        <p:txBody>
          <a:bodyPr wrap="square" lIns="0" tIns="0" rIns="0" bIns="0" rtlCol="0" anchor="ctr">
            <a:normAutofit/>
          </a:bodyPr>
          <a:lstStyle/>
          <a:p>
            <a:pPr algn="l" indent="0" marL="0">
              <a:buNone/>
            </a:pPr>
            <a:r>
              <a:rPr lang="en-US" sz="1050" b="1" dirty="0">
                <a:solidFill>
                  <a:srgbClr val="0E1B2A"/>
                </a:solidFill>
                <a:latin typeface="Aptos" pitchFamily="34" charset="0"/>
                <a:ea typeface="Aptos" pitchFamily="34" charset="-122"/>
                <a:cs typeface="Aptos" pitchFamily="34" charset="-120"/>
              </a:rPr>
              <a:t>Cost control</a:t>
            </a:r>
            <a:endParaRPr lang="en-US" sz="1050" dirty="0"/>
          </a:p>
        </p:txBody>
      </p:sp>
      <p:sp>
        <p:nvSpPr>
          <p:cNvPr id="37" name="Text 35"/>
          <p:cNvSpPr txBox="1"/>
          <p:nvPr/>
        </p:nvSpPr>
        <p:spPr>
          <a:xfrm>
            <a:off x="2240280" y="4361688"/>
            <a:ext cx="3337560" cy="219456"/>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route, vendor, and capacity inefficiency exposed</a:t>
            </a:r>
            <a:endParaRPr lang="en-US" sz="1000" dirty="0"/>
          </a:p>
        </p:txBody>
      </p:sp>
      <p:sp>
        <p:nvSpPr>
          <p:cNvPr id="38" name="Shape 36"/>
          <p:cNvSpPr/>
          <p:nvPr/>
        </p:nvSpPr>
        <p:spPr>
          <a:xfrm>
            <a:off x="859536" y="4846320"/>
            <a:ext cx="237744" cy="237744"/>
          </a:xfrm>
          <a:prstGeom prst="ellipse">
            <a:avLst/>
          </a:prstGeom>
          <a:solidFill>
            <a:srgbClr val="1769E0"/>
          </a:solidFill>
          <a:ln w="12700">
            <a:solidFill>
              <a:srgbClr val="1769E0"/>
            </a:solidFill>
            <a:prstDash val="solid"/>
          </a:ln>
        </p:spPr>
      </p:sp>
      <p:sp>
        <p:nvSpPr>
          <p:cNvPr id="39" name="Text 37"/>
          <p:cNvSpPr txBox="1"/>
          <p:nvPr/>
        </p:nvSpPr>
        <p:spPr>
          <a:xfrm>
            <a:off x="859536" y="4855464"/>
            <a:ext cx="237744" cy="22860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40" name="Text 38"/>
          <p:cNvSpPr txBox="1"/>
          <p:nvPr/>
        </p:nvSpPr>
        <p:spPr>
          <a:xfrm>
            <a:off x="1234440" y="4800600"/>
            <a:ext cx="960120" cy="192024"/>
          </a:xfrm>
          <a:prstGeom prst="rect">
            <a:avLst/>
          </a:prstGeom>
          <a:noFill/>
          <a:ln/>
        </p:spPr>
        <p:txBody>
          <a:bodyPr wrap="square" lIns="0" tIns="0" rIns="0" bIns="0" rtlCol="0" anchor="ctr">
            <a:normAutofit/>
          </a:bodyPr>
          <a:lstStyle/>
          <a:p>
            <a:pPr algn="l" indent="0" marL="0">
              <a:buNone/>
            </a:pPr>
            <a:r>
              <a:rPr lang="en-US" sz="1050" b="1" dirty="0">
                <a:solidFill>
                  <a:srgbClr val="0E1B2A"/>
                </a:solidFill>
                <a:latin typeface="Aptos" pitchFamily="34" charset="0"/>
                <a:ea typeface="Aptos" pitchFamily="34" charset="-122"/>
                <a:cs typeface="Aptos" pitchFamily="34" charset="-120"/>
              </a:rPr>
              <a:t>Risk</a:t>
            </a:r>
            <a:endParaRPr lang="en-US" sz="1050" dirty="0"/>
          </a:p>
        </p:txBody>
      </p:sp>
      <p:sp>
        <p:nvSpPr>
          <p:cNvPr id="41" name="Text 39"/>
          <p:cNvSpPr txBox="1"/>
          <p:nvPr/>
        </p:nvSpPr>
        <p:spPr>
          <a:xfrm>
            <a:off x="2240280" y="4800600"/>
            <a:ext cx="3337560" cy="219456"/>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earlier SLA / safety intervention</a:t>
            </a:r>
            <a:endParaRPr lang="en-US" sz="1000" dirty="0"/>
          </a:p>
        </p:txBody>
      </p:sp>
      <p:sp>
        <p:nvSpPr>
          <p:cNvPr id="42" name="Shape 40"/>
          <p:cNvSpPr/>
          <p:nvPr/>
        </p:nvSpPr>
        <p:spPr>
          <a:xfrm>
            <a:off x="859536" y="5285232"/>
            <a:ext cx="237744" cy="237744"/>
          </a:xfrm>
          <a:prstGeom prst="ellipse">
            <a:avLst/>
          </a:prstGeom>
          <a:solidFill>
            <a:srgbClr val="1769E0"/>
          </a:solidFill>
          <a:ln w="12700">
            <a:solidFill>
              <a:srgbClr val="1769E0"/>
            </a:solidFill>
            <a:prstDash val="solid"/>
          </a:ln>
        </p:spPr>
      </p:sp>
      <p:sp>
        <p:nvSpPr>
          <p:cNvPr id="43" name="Text 41"/>
          <p:cNvSpPr txBox="1"/>
          <p:nvPr/>
        </p:nvSpPr>
        <p:spPr>
          <a:xfrm>
            <a:off x="859536" y="5294376"/>
            <a:ext cx="237744" cy="22860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44" name="Text 42"/>
          <p:cNvSpPr txBox="1"/>
          <p:nvPr/>
        </p:nvSpPr>
        <p:spPr>
          <a:xfrm>
            <a:off x="1234440" y="5239512"/>
            <a:ext cx="960120" cy="192024"/>
          </a:xfrm>
          <a:prstGeom prst="rect">
            <a:avLst/>
          </a:prstGeom>
          <a:noFill/>
          <a:ln/>
        </p:spPr>
        <p:txBody>
          <a:bodyPr wrap="square" lIns="0" tIns="0" rIns="0" bIns="0" rtlCol="0" anchor="ctr">
            <a:normAutofit/>
          </a:bodyPr>
          <a:lstStyle/>
          <a:p>
            <a:pPr algn="l" indent="0" marL="0">
              <a:buNone/>
            </a:pPr>
            <a:r>
              <a:rPr lang="en-US" sz="1050" b="1" dirty="0">
                <a:solidFill>
                  <a:srgbClr val="0E1B2A"/>
                </a:solidFill>
                <a:latin typeface="Aptos" pitchFamily="34" charset="0"/>
                <a:ea typeface="Aptos" pitchFamily="34" charset="-122"/>
                <a:cs typeface="Aptos" pitchFamily="34" charset="-120"/>
              </a:rPr>
              <a:t>Experience</a:t>
            </a:r>
            <a:endParaRPr lang="en-US" sz="1050" dirty="0"/>
          </a:p>
        </p:txBody>
      </p:sp>
      <p:sp>
        <p:nvSpPr>
          <p:cNvPr id="45" name="Text 43"/>
          <p:cNvSpPr txBox="1"/>
          <p:nvPr/>
        </p:nvSpPr>
        <p:spPr>
          <a:xfrm>
            <a:off x="2240280" y="5239512"/>
            <a:ext cx="3337560" cy="219456"/>
          </a:xfrm>
          <a:prstGeom prst="rect">
            <a:avLst/>
          </a:prstGeom>
          <a:noFill/>
          <a:ln/>
        </p:spPr>
        <p:txBody>
          <a:bodyPr wrap="square" lIns="0" tIns="0" rIns="0" bIns="0" rtlCol="0" anchor="ctr">
            <a:normAutofit/>
          </a:bodyPr>
          <a:lstStyle/>
          <a:p>
            <a:pPr algn="l" indent="0" marL="0">
              <a:buNone/>
            </a:pPr>
            <a:r>
              <a:rPr lang="en-US" sz="1000" dirty="0">
                <a:solidFill>
                  <a:srgbClr val="61738A"/>
                </a:solidFill>
                <a:latin typeface="Aptos" pitchFamily="34" charset="0"/>
                <a:ea typeface="Aptos" pitchFamily="34" charset="-122"/>
                <a:cs typeface="Aptos" pitchFamily="34" charset="-120"/>
              </a:rPr>
              <a:t>fewer employee disruptions</a:t>
            </a:r>
            <a:endParaRPr lang="en-US" sz="1000" dirty="0"/>
          </a:p>
        </p:txBody>
      </p:sp>
      <p:sp>
        <p:nvSpPr>
          <p:cNvPr id="46" name="Shape 44"/>
          <p:cNvSpPr/>
          <p:nvPr/>
        </p:nvSpPr>
        <p:spPr>
          <a:xfrm>
            <a:off x="6199632" y="3246120"/>
            <a:ext cx="5367528" cy="2651760"/>
          </a:xfrm>
          <a:prstGeom prst="roundRect">
            <a:avLst>
              <a:gd name="adj" fmla="val 5517"/>
            </a:avLst>
          </a:prstGeom>
          <a:solidFill>
            <a:srgbClr val="0E1B2A"/>
          </a:solidFill>
          <a:ln w="12700">
            <a:solidFill>
              <a:srgbClr val="0E1B2A"/>
            </a:solidFill>
            <a:prstDash val="solid"/>
          </a:ln>
        </p:spPr>
      </p:sp>
      <p:sp>
        <p:nvSpPr>
          <p:cNvPr id="47" name="Text 45"/>
          <p:cNvSpPr txBox="1"/>
          <p:nvPr/>
        </p:nvSpPr>
        <p:spPr>
          <a:xfrm>
            <a:off x="6464808" y="3529584"/>
            <a:ext cx="2194560" cy="201168"/>
          </a:xfrm>
          <a:prstGeom prst="rect">
            <a:avLst/>
          </a:prstGeom>
          <a:noFill/>
          <a:ln/>
        </p:spPr>
        <p:txBody>
          <a:bodyPr wrap="square" lIns="0" tIns="0" rIns="0" bIns="0" rtlCol="0" anchor="ctr">
            <a:normAutofit/>
          </a:bodyPr>
          <a:lstStyle/>
          <a:p>
            <a:pPr algn="l" indent="0" marL="0">
              <a:buNone/>
            </a:pPr>
            <a:r>
              <a:rPr lang="en-US" sz="900" b="1" spc="110" kern="0" dirty="0">
                <a:solidFill>
                  <a:srgbClr val="36D6BD"/>
                </a:solidFill>
                <a:latin typeface="Aptos" pitchFamily="34" charset="0"/>
                <a:ea typeface="Aptos" pitchFamily="34" charset="-122"/>
                <a:cs typeface="Aptos" pitchFamily="34" charset="-120"/>
              </a:rPr>
              <a:t>WHO BENEFITS?</a:t>
            </a:r>
            <a:endParaRPr lang="en-US" sz="900" dirty="0"/>
          </a:p>
        </p:txBody>
      </p:sp>
      <p:sp>
        <p:nvSpPr>
          <p:cNvPr id="48" name="Text 46"/>
          <p:cNvSpPr txBox="1"/>
          <p:nvPr/>
        </p:nvSpPr>
        <p:spPr>
          <a:xfrm>
            <a:off x="6473952" y="3968496"/>
            <a:ext cx="1234440" cy="18288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Transport</a:t>
            </a:r>
            <a:endParaRPr lang="en-US" sz="1100" dirty="0"/>
          </a:p>
        </p:txBody>
      </p:sp>
      <p:sp>
        <p:nvSpPr>
          <p:cNvPr id="49" name="Text 47"/>
          <p:cNvSpPr txBox="1"/>
          <p:nvPr/>
        </p:nvSpPr>
        <p:spPr>
          <a:xfrm>
            <a:off x="7818120" y="3968496"/>
            <a:ext cx="2926080" cy="201168"/>
          </a:xfrm>
          <a:prstGeom prst="rect">
            <a:avLst/>
          </a:prstGeom>
          <a:noFill/>
          <a:ln/>
        </p:spPr>
        <p:txBody>
          <a:bodyPr wrap="square" lIns="0" tIns="0" rIns="0" bIns="0" rtlCol="0" anchor="ctr">
            <a:normAutofit/>
          </a:bodyPr>
          <a:lstStyle/>
          <a:p>
            <a:pPr algn="l" indent="0" marL="0">
              <a:buNone/>
            </a:pPr>
            <a:r>
              <a:rPr lang="en-US" sz="1050" dirty="0">
                <a:solidFill>
                  <a:srgbClr val="BCD0E1"/>
                </a:solidFill>
                <a:latin typeface="Aptos" pitchFamily="34" charset="0"/>
                <a:ea typeface="Aptos" pitchFamily="34" charset="-122"/>
                <a:cs typeface="Aptos" pitchFamily="34" charset="-120"/>
              </a:rPr>
              <a:t>less firefighting</a:t>
            </a:r>
            <a:endParaRPr lang="en-US" sz="1050" dirty="0"/>
          </a:p>
        </p:txBody>
      </p:sp>
      <p:sp>
        <p:nvSpPr>
          <p:cNvPr id="50" name="Text 48"/>
          <p:cNvSpPr txBox="1"/>
          <p:nvPr/>
        </p:nvSpPr>
        <p:spPr>
          <a:xfrm>
            <a:off x="6473952" y="4398264"/>
            <a:ext cx="1234440" cy="18288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Facilities</a:t>
            </a:r>
            <a:endParaRPr lang="en-US" sz="1100" dirty="0"/>
          </a:p>
        </p:txBody>
      </p:sp>
      <p:sp>
        <p:nvSpPr>
          <p:cNvPr id="51" name="Text 49"/>
          <p:cNvSpPr txBox="1"/>
          <p:nvPr/>
        </p:nvSpPr>
        <p:spPr>
          <a:xfrm>
            <a:off x="7818120" y="4398264"/>
            <a:ext cx="2926080" cy="201168"/>
          </a:xfrm>
          <a:prstGeom prst="rect">
            <a:avLst/>
          </a:prstGeom>
          <a:noFill/>
          <a:ln/>
        </p:spPr>
        <p:txBody>
          <a:bodyPr wrap="square" lIns="0" tIns="0" rIns="0" bIns="0" rtlCol="0" anchor="ctr">
            <a:normAutofit/>
          </a:bodyPr>
          <a:lstStyle/>
          <a:p>
            <a:pPr algn="l" indent="0" marL="0">
              <a:buNone/>
            </a:pPr>
            <a:r>
              <a:rPr lang="en-US" sz="1050" dirty="0">
                <a:solidFill>
                  <a:srgbClr val="BCD0E1"/>
                </a:solidFill>
                <a:latin typeface="Aptos" pitchFamily="34" charset="0"/>
                <a:ea typeface="Aptos" pitchFamily="34" charset="-122"/>
                <a:cs typeface="Aptos" pitchFamily="34" charset="-120"/>
              </a:rPr>
              <a:t>clearer budget + vendor story</a:t>
            </a:r>
            <a:endParaRPr lang="en-US" sz="1050" dirty="0"/>
          </a:p>
        </p:txBody>
      </p:sp>
      <p:sp>
        <p:nvSpPr>
          <p:cNvPr id="52" name="Text 50"/>
          <p:cNvSpPr txBox="1"/>
          <p:nvPr/>
        </p:nvSpPr>
        <p:spPr>
          <a:xfrm>
            <a:off x="6473952" y="4828032"/>
            <a:ext cx="1234440" cy="18288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Operations</a:t>
            </a:r>
            <a:endParaRPr lang="en-US" sz="1100" dirty="0"/>
          </a:p>
        </p:txBody>
      </p:sp>
      <p:sp>
        <p:nvSpPr>
          <p:cNvPr id="53" name="Text 51"/>
          <p:cNvSpPr txBox="1"/>
          <p:nvPr/>
        </p:nvSpPr>
        <p:spPr>
          <a:xfrm>
            <a:off x="7818120" y="4828032"/>
            <a:ext cx="2926080" cy="201168"/>
          </a:xfrm>
          <a:prstGeom prst="rect">
            <a:avLst/>
          </a:prstGeom>
          <a:noFill/>
          <a:ln/>
        </p:spPr>
        <p:txBody>
          <a:bodyPr wrap="square" lIns="0" tIns="0" rIns="0" bIns="0" rtlCol="0" anchor="ctr">
            <a:normAutofit/>
          </a:bodyPr>
          <a:lstStyle/>
          <a:p>
            <a:pPr algn="l" indent="0" marL="0">
              <a:buNone/>
            </a:pPr>
            <a:r>
              <a:rPr lang="en-US" sz="1050" dirty="0">
                <a:solidFill>
                  <a:srgbClr val="BCD0E1"/>
                </a:solidFill>
                <a:latin typeface="Aptos" pitchFamily="34" charset="0"/>
                <a:ea typeface="Aptos" pitchFamily="34" charset="-122"/>
                <a:cs typeface="Aptos" pitchFamily="34" charset="-120"/>
              </a:rPr>
              <a:t>better shift readiness</a:t>
            </a:r>
            <a:endParaRPr lang="en-US" sz="1050" dirty="0"/>
          </a:p>
        </p:txBody>
      </p:sp>
      <p:sp>
        <p:nvSpPr>
          <p:cNvPr id="54" name="Text 52"/>
          <p:cNvSpPr txBox="1"/>
          <p:nvPr/>
        </p:nvSpPr>
        <p:spPr>
          <a:xfrm>
            <a:off x="6473952" y="5257800"/>
            <a:ext cx="1234440" cy="18288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HR / Employees</a:t>
            </a:r>
            <a:endParaRPr lang="en-US" sz="1100" dirty="0"/>
          </a:p>
        </p:txBody>
      </p:sp>
      <p:sp>
        <p:nvSpPr>
          <p:cNvPr id="55" name="Text 53"/>
          <p:cNvSpPr txBox="1"/>
          <p:nvPr/>
        </p:nvSpPr>
        <p:spPr>
          <a:xfrm>
            <a:off x="7818120" y="5257800"/>
            <a:ext cx="2926080" cy="201168"/>
          </a:xfrm>
          <a:prstGeom prst="rect">
            <a:avLst/>
          </a:prstGeom>
          <a:noFill/>
          <a:ln/>
        </p:spPr>
        <p:txBody>
          <a:bodyPr wrap="square" lIns="0" tIns="0" rIns="0" bIns="0" rtlCol="0" anchor="ctr">
            <a:normAutofit/>
          </a:bodyPr>
          <a:lstStyle/>
          <a:p>
            <a:pPr algn="l" indent="0" marL="0">
              <a:buNone/>
            </a:pPr>
            <a:r>
              <a:rPr lang="en-US" sz="1050" dirty="0">
                <a:solidFill>
                  <a:srgbClr val="BCD0E1"/>
                </a:solidFill>
                <a:latin typeface="Aptos" pitchFamily="34" charset="0"/>
                <a:ea typeface="Aptos" pitchFamily="34" charset="-122"/>
                <a:cs typeface="Aptos" pitchFamily="34" charset="-120"/>
              </a:rPr>
              <a:t>better experience</a:t>
            </a:r>
            <a:endParaRPr lang="en-US" sz="1050" dirty="0"/>
          </a:p>
        </p:txBody>
      </p:sp>
      <p:sp>
        <p:nvSpPr>
          <p:cNvPr id="56" name="Text 54"/>
          <p:cNvSpPr txBox="1"/>
          <p:nvPr/>
        </p:nvSpPr>
        <p:spPr>
          <a:xfrm>
            <a:off x="640080" y="6108192"/>
            <a:ext cx="10881360" cy="210312"/>
          </a:xfrm>
          <a:prstGeom prst="rect">
            <a:avLst/>
          </a:prstGeom>
          <a:noFill/>
          <a:ln/>
        </p:spPr>
        <p:txBody>
          <a:bodyPr wrap="square" lIns="0" tIns="0" rIns="0" bIns="0" rtlCol="0" anchor="ctr">
            <a:normAutofit/>
          </a:bodyPr>
          <a:lstStyle/>
          <a:p>
            <a:pPr algn="l" indent="0" marL="0">
              <a:buNone/>
            </a:pPr>
            <a:r>
              <a:rPr lang="en-US" sz="850" i="1" dirty="0">
                <a:solidFill>
                  <a:srgbClr val="61738A"/>
                </a:solidFill>
                <a:latin typeface="Aptos" pitchFamily="34" charset="0"/>
                <a:ea typeface="Aptos" pitchFamily="34" charset="-122"/>
                <a:cs typeface="Aptos" pitchFamily="34" charset="-120"/>
              </a:rPr>
              <a:t>Assumptions are intentionally illustrative; the enterprise pilot would baseline actual savings and service improvements.</a:t>
            </a:r>
            <a:endParaRPr lang="en-US" sz="85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B2A"/>
        </a:solidFill>
      </p:bgPr>
    </p:bg>
    <p:spTree>
      <p:nvGrpSpPr>
        <p:cNvPr id="1" name=""/>
        <p:cNvGrpSpPr/>
        <p:nvPr/>
      </p:nvGrpSpPr>
      <p:grpSpPr>
        <a:xfrm>
          <a:off x="0" y="0"/>
          <a:ext cx="0" cy="0"/>
          <a:chOff x="0" y="0"/>
          <a:chExt cx="0" cy="0"/>
        </a:xfrm>
      </p:grpSpPr>
      <p:sp>
        <p:nvSpPr>
          <p:cNvPr id="2" name="Text 0"/>
          <p:cNvSpPr txBox="1"/>
          <p:nvPr/>
        </p:nvSpPr>
        <p:spPr>
          <a:xfrm>
            <a:off x="566928" y="420624"/>
            <a:ext cx="2103120" cy="228600"/>
          </a:xfrm>
          <a:prstGeom prst="rect">
            <a:avLst/>
          </a:prstGeom>
          <a:noFill/>
          <a:ln/>
        </p:spPr>
        <p:txBody>
          <a:bodyPr wrap="square" lIns="0" tIns="0" rIns="0" bIns="0" rtlCol="0" anchor="ctr">
            <a:normAutofit/>
          </a:bodyPr>
          <a:lstStyle/>
          <a:p>
            <a:pPr algn="l" indent="0" marL="0">
              <a:buNone/>
            </a:pPr>
            <a:r>
              <a:rPr lang="en-US" sz="900" b="1" spc="160" kern="0" dirty="0">
                <a:solidFill>
                  <a:srgbClr val="36D6BD"/>
                </a:solidFill>
                <a:latin typeface="Aptos" pitchFamily="34" charset="0"/>
                <a:ea typeface="Aptos" pitchFamily="34" charset="-122"/>
                <a:cs typeface="Aptos" pitchFamily="34" charset="-120"/>
              </a:rPr>
              <a:t>11 — THE CLOSE</a:t>
            </a:r>
            <a:endParaRPr lang="en-US" sz="900" dirty="0"/>
          </a:p>
        </p:txBody>
      </p:sp>
      <p:sp>
        <p:nvSpPr>
          <p:cNvPr id="3" name="Text 1"/>
          <p:cNvSpPr txBox="1"/>
          <p:nvPr/>
        </p:nvSpPr>
        <p:spPr>
          <a:xfrm>
            <a:off x="566928" y="868680"/>
            <a:ext cx="7589520" cy="1325880"/>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Aptos" pitchFamily="34" charset="0"/>
                <a:ea typeface="Aptos" pitchFamily="34" charset="-122"/>
                <a:cs typeface="Aptos" pitchFamily="34" charset="-120"/>
              </a:rPr>
              <a:t>Don’t build another dashboard.</a:t>
            </a:r>
            <a:endParaRPr lang="en-US" sz="3100" dirty="0"/>
          </a:p>
          <a:p>
            <a:pPr algn="l" indent="0" marL="0">
              <a:buNone/>
            </a:pPr>
            <a:r>
              <a:rPr lang="en-US" sz="3100" b="1" dirty="0">
                <a:solidFill>
                  <a:srgbClr val="FFFFFF"/>
                </a:solidFill>
                <a:latin typeface="Aptos" pitchFamily="34" charset="0"/>
                <a:ea typeface="Aptos" pitchFamily="34" charset="-122"/>
                <a:cs typeface="Aptos" pitchFamily="34" charset="-120"/>
              </a:rPr>
              <a:t>Build the decision layer.</a:t>
            </a:r>
            <a:endParaRPr lang="en-US" sz="3100" dirty="0"/>
          </a:p>
        </p:txBody>
      </p:sp>
      <p:sp>
        <p:nvSpPr>
          <p:cNvPr id="4" name="Text 2"/>
          <p:cNvSpPr txBox="1"/>
          <p:nvPr/>
        </p:nvSpPr>
        <p:spPr>
          <a:xfrm>
            <a:off x="594360" y="2404872"/>
            <a:ext cx="7040880" cy="822960"/>
          </a:xfrm>
          <a:prstGeom prst="rect">
            <a:avLst/>
          </a:prstGeom>
          <a:noFill/>
          <a:ln/>
        </p:spPr>
        <p:txBody>
          <a:bodyPr wrap="square" lIns="0" tIns="0" rIns="0" bIns="0" rtlCol="0" anchor="t">
            <a:normAutofit/>
          </a:bodyPr>
          <a:lstStyle/>
          <a:p>
            <a:pPr algn="l" indent="0" marL="0">
              <a:buNone/>
            </a:pPr>
            <a:r>
              <a:rPr lang="en-US" sz="1600" dirty="0">
                <a:solidFill>
                  <a:srgbClr val="CBD9E6"/>
                </a:solidFill>
                <a:latin typeface="Aptos" pitchFamily="34" charset="0"/>
                <a:ea typeface="Aptos" pitchFamily="34" charset="-122"/>
                <a:cs typeface="Aptos" pitchFamily="34" charset="-120"/>
              </a:rPr>
              <a:t>Signal Desk runs on the provided dataset today: it senses on a clock tick, reasons in rules, and every number traces to its SQL.</a:t>
            </a:r>
            <a:endParaRPr lang="en-US" sz="1600" dirty="0"/>
          </a:p>
        </p:txBody>
      </p:sp>
      <p:sp>
        <p:nvSpPr>
          <p:cNvPr id="5" name="Shape 3"/>
          <p:cNvSpPr/>
          <p:nvPr/>
        </p:nvSpPr>
        <p:spPr>
          <a:xfrm>
            <a:off x="621792" y="3657600"/>
            <a:ext cx="3154680" cy="960120"/>
          </a:xfrm>
          <a:prstGeom prst="roundRect">
            <a:avLst>
              <a:gd name="adj" fmla="val 15238"/>
            </a:avLst>
          </a:prstGeom>
          <a:solidFill>
            <a:srgbClr val="16263A"/>
          </a:solidFill>
          <a:ln w="12700">
            <a:solidFill>
              <a:srgbClr val="36506B"/>
            </a:solidFill>
            <a:prstDash val="solid"/>
          </a:ln>
        </p:spPr>
      </p:sp>
      <p:sp>
        <p:nvSpPr>
          <p:cNvPr id="6" name="Shape 4"/>
          <p:cNvSpPr/>
          <p:nvPr/>
        </p:nvSpPr>
        <p:spPr>
          <a:xfrm>
            <a:off x="804672" y="3822192"/>
            <a:ext cx="438912" cy="256032"/>
          </a:xfrm>
          <a:prstGeom prst="roundRect">
            <a:avLst>
              <a:gd name="adj" fmla="val 50000"/>
            </a:avLst>
          </a:prstGeom>
          <a:solidFill>
            <a:srgbClr val="36D6BD"/>
          </a:solidFill>
          <a:ln w="12700">
            <a:solidFill>
              <a:srgbClr val="36D6BD"/>
            </a:solidFill>
            <a:prstDash val="solid"/>
          </a:ln>
        </p:spPr>
      </p:sp>
      <p:sp>
        <p:nvSpPr>
          <p:cNvPr id="7" name="Text 5"/>
          <p:cNvSpPr txBox="1"/>
          <p:nvPr/>
        </p:nvSpPr>
        <p:spPr>
          <a:xfrm>
            <a:off x="877824" y="3831336"/>
            <a:ext cx="292608" cy="219456"/>
          </a:xfrm>
          <a:prstGeom prst="rect">
            <a:avLst/>
          </a:prstGeom>
          <a:noFill/>
          <a:ln/>
        </p:spPr>
        <p:txBody>
          <a:bodyPr wrap="square" lIns="0" tIns="0" rIns="0" bIns="0" rtlCol="0" anchor="ctr">
            <a:normAutofit/>
          </a:bodyPr>
          <a:lstStyle/>
          <a:p>
            <a:pPr algn="ctr" indent="0" marL="0">
              <a:buNone/>
            </a:pPr>
            <a:r>
              <a:rPr lang="en-US" sz="800" b="1" dirty="0">
                <a:solidFill>
                  <a:srgbClr val="0E1B2A"/>
                </a:solidFill>
                <a:latin typeface="Aptos" pitchFamily="34" charset="0"/>
                <a:ea typeface="Aptos" pitchFamily="34" charset="-122"/>
                <a:cs typeface="Aptos" pitchFamily="34" charset="-120"/>
              </a:rPr>
              <a:t>01</a:t>
            </a:r>
            <a:endParaRPr lang="en-US" sz="800" dirty="0"/>
          </a:p>
        </p:txBody>
      </p:sp>
      <p:sp>
        <p:nvSpPr>
          <p:cNvPr id="8" name="Text 6"/>
          <p:cNvSpPr txBox="1"/>
          <p:nvPr/>
        </p:nvSpPr>
        <p:spPr>
          <a:xfrm>
            <a:off x="1399032" y="3803904"/>
            <a:ext cx="2103120" cy="201168"/>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Unprompted</a:t>
            </a:r>
            <a:endParaRPr lang="en-US" sz="1250" dirty="0"/>
          </a:p>
        </p:txBody>
      </p:sp>
      <p:sp>
        <p:nvSpPr>
          <p:cNvPr id="9" name="Text 7"/>
          <p:cNvSpPr txBox="1"/>
          <p:nvPr/>
        </p:nvSpPr>
        <p:spPr>
          <a:xfrm>
            <a:off x="804672" y="4114800"/>
            <a:ext cx="2697480" cy="384048"/>
          </a:xfrm>
          <a:prstGeom prst="rect">
            <a:avLst/>
          </a:prstGeom>
          <a:noFill/>
          <a:ln/>
        </p:spPr>
        <p:txBody>
          <a:bodyPr wrap="square" lIns="0" tIns="0" rIns="0" bIns="0" rtlCol="0" anchor="t">
            <a:normAutofit/>
          </a:bodyPr>
          <a:lstStyle/>
          <a:p>
            <a:pPr algn="l" indent="0" marL="0">
              <a:buNone/>
            </a:pPr>
            <a:r>
              <a:rPr lang="en-US" sz="980" dirty="0">
                <a:solidFill>
                  <a:srgbClr val="B6CADB"/>
                </a:solidFill>
                <a:latin typeface="Aptos" pitchFamily="34" charset="0"/>
                <a:ea typeface="Aptos" pitchFamily="34" charset="-122"/>
                <a:cs typeface="Aptos" pitchFamily="34" charset="-120"/>
              </a:rPr>
              <a:t>Sweeps on a clock tick and sends without being asked.</a:t>
            </a:r>
            <a:endParaRPr lang="en-US" sz="980" dirty="0"/>
          </a:p>
        </p:txBody>
      </p:sp>
      <p:sp>
        <p:nvSpPr>
          <p:cNvPr id="10" name="Shape 8"/>
          <p:cNvSpPr/>
          <p:nvPr/>
        </p:nvSpPr>
        <p:spPr>
          <a:xfrm>
            <a:off x="3977640" y="3657600"/>
            <a:ext cx="3154680" cy="960120"/>
          </a:xfrm>
          <a:prstGeom prst="roundRect">
            <a:avLst>
              <a:gd name="adj" fmla="val 15238"/>
            </a:avLst>
          </a:prstGeom>
          <a:solidFill>
            <a:srgbClr val="16263A"/>
          </a:solidFill>
          <a:ln w="12700">
            <a:solidFill>
              <a:srgbClr val="36506B"/>
            </a:solidFill>
            <a:prstDash val="solid"/>
          </a:ln>
        </p:spPr>
      </p:sp>
      <p:sp>
        <p:nvSpPr>
          <p:cNvPr id="11" name="Shape 9"/>
          <p:cNvSpPr/>
          <p:nvPr/>
        </p:nvSpPr>
        <p:spPr>
          <a:xfrm>
            <a:off x="4160520" y="3822192"/>
            <a:ext cx="438912" cy="256032"/>
          </a:xfrm>
          <a:prstGeom prst="roundRect">
            <a:avLst>
              <a:gd name="adj" fmla="val 50000"/>
            </a:avLst>
          </a:prstGeom>
          <a:solidFill>
            <a:srgbClr val="36D6BD"/>
          </a:solidFill>
          <a:ln w="12700">
            <a:solidFill>
              <a:srgbClr val="36D6BD"/>
            </a:solidFill>
            <a:prstDash val="solid"/>
          </a:ln>
        </p:spPr>
      </p:sp>
      <p:sp>
        <p:nvSpPr>
          <p:cNvPr id="12" name="Text 10"/>
          <p:cNvSpPr txBox="1"/>
          <p:nvPr/>
        </p:nvSpPr>
        <p:spPr>
          <a:xfrm>
            <a:off x="4233672" y="3831336"/>
            <a:ext cx="292608" cy="219456"/>
          </a:xfrm>
          <a:prstGeom prst="rect">
            <a:avLst/>
          </a:prstGeom>
          <a:noFill/>
          <a:ln/>
        </p:spPr>
        <p:txBody>
          <a:bodyPr wrap="square" lIns="0" tIns="0" rIns="0" bIns="0" rtlCol="0" anchor="ctr">
            <a:normAutofit/>
          </a:bodyPr>
          <a:lstStyle/>
          <a:p>
            <a:pPr algn="ctr" indent="0" marL="0">
              <a:buNone/>
            </a:pPr>
            <a:r>
              <a:rPr lang="en-US" sz="800" b="1" dirty="0">
                <a:solidFill>
                  <a:srgbClr val="0E1B2A"/>
                </a:solidFill>
                <a:latin typeface="Aptos" pitchFamily="34" charset="0"/>
                <a:ea typeface="Aptos" pitchFamily="34" charset="-122"/>
                <a:cs typeface="Aptos" pitchFamily="34" charset="-120"/>
              </a:rPr>
              <a:t>02</a:t>
            </a:r>
            <a:endParaRPr lang="en-US" sz="800" dirty="0"/>
          </a:p>
        </p:txBody>
      </p:sp>
      <p:sp>
        <p:nvSpPr>
          <p:cNvPr id="13" name="Text 11"/>
          <p:cNvSpPr txBox="1"/>
          <p:nvPr/>
        </p:nvSpPr>
        <p:spPr>
          <a:xfrm>
            <a:off x="4754880" y="3803904"/>
            <a:ext cx="2103120" cy="201168"/>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Explainable</a:t>
            </a:r>
            <a:endParaRPr lang="en-US" sz="1250" dirty="0"/>
          </a:p>
        </p:txBody>
      </p:sp>
      <p:sp>
        <p:nvSpPr>
          <p:cNvPr id="14" name="Text 12"/>
          <p:cNvSpPr txBox="1"/>
          <p:nvPr/>
        </p:nvSpPr>
        <p:spPr>
          <a:xfrm>
            <a:off x="4160520" y="4114800"/>
            <a:ext cx="2697480" cy="384048"/>
          </a:xfrm>
          <a:prstGeom prst="rect">
            <a:avLst/>
          </a:prstGeom>
          <a:noFill/>
          <a:ln/>
        </p:spPr>
        <p:txBody>
          <a:bodyPr wrap="square" lIns="0" tIns="0" rIns="0" bIns="0" rtlCol="0" anchor="t">
            <a:normAutofit/>
          </a:bodyPr>
          <a:lstStyle/>
          <a:p>
            <a:pPr algn="l" indent="0" marL="0">
              <a:buNone/>
            </a:pPr>
            <a:r>
              <a:rPr lang="en-US" sz="980" dirty="0">
                <a:solidFill>
                  <a:srgbClr val="B6CADB"/>
                </a:solidFill>
                <a:latin typeface="Aptos" pitchFamily="34" charset="0"/>
                <a:ea typeface="Aptos" pitchFamily="34" charset="-122"/>
                <a:cs typeface="Aptos" pitchFamily="34" charset="-120"/>
              </a:rPr>
              <a:t>Every figure carries the SQL that produced it.</a:t>
            </a:r>
            <a:endParaRPr lang="en-US" sz="980" dirty="0"/>
          </a:p>
        </p:txBody>
      </p:sp>
      <p:sp>
        <p:nvSpPr>
          <p:cNvPr id="15" name="Shape 13"/>
          <p:cNvSpPr/>
          <p:nvPr/>
        </p:nvSpPr>
        <p:spPr>
          <a:xfrm>
            <a:off x="621792" y="4892040"/>
            <a:ext cx="3154680" cy="960120"/>
          </a:xfrm>
          <a:prstGeom prst="roundRect">
            <a:avLst>
              <a:gd name="adj" fmla="val 15238"/>
            </a:avLst>
          </a:prstGeom>
          <a:solidFill>
            <a:srgbClr val="16263A"/>
          </a:solidFill>
          <a:ln w="12700">
            <a:solidFill>
              <a:srgbClr val="36506B"/>
            </a:solidFill>
            <a:prstDash val="solid"/>
          </a:ln>
        </p:spPr>
      </p:sp>
      <p:sp>
        <p:nvSpPr>
          <p:cNvPr id="16" name="Shape 14"/>
          <p:cNvSpPr/>
          <p:nvPr/>
        </p:nvSpPr>
        <p:spPr>
          <a:xfrm>
            <a:off x="804672" y="5056632"/>
            <a:ext cx="438912" cy="256032"/>
          </a:xfrm>
          <a:prstGeom prst="roundRect">
            <a:avLst>
              <a:gd name="adj" fmla="val 50000"/>
            </a:avLst>
          </a:prstGeom>
          <a:solidFill>
            <a:srgbClr val="36D6BD"/>
          </a:solidFill>
          <a:ln w="12700">
            <a:solidFill>
              <a:srgbClr val="36D6BD"/>
            </a:solidFill>
            <a:prstDash val="solid"/>
          </a:ln>
        </p:spPr>
      </p:sp>
      <p:sp>
        <p:nvSpPr>
          <p:cNvPr id="17" name="Text 15"/>
          <p:cNvSpPr txBox="1"/>
          <p:nvPr/>
        </p:nvSpPr>
        <p:spPr>
          <a:xfrm>
            <a:off x="877824" y="5065776"/>
            <a:ext cx="292608" cy="219456"/>
          </a:xfrm>
          <a:prstGeom prst="rect">
            <a:avLst/>
          </a:prstGeom>
          <a:noFill/>
          <a:ln/>
        </p:spPr>
        <p:txBody>
          <a:bodyPr wrap="square" lIns="0" tIns="0" rIns="0" bIns="0" rtlCol="0" anchor="ctr">
            <a:normAutofit/>
          </a:bodyPr>
          <a:lstStyle/>
          <a:p>
            <a:pPr algn="ctr" indent="0" marL="0">
              <a:buNone/>
            </a:pPr>
            <a:r>
              <a:rPr lang="en-US" sz="800" b="1" dirty="0">
                <a:solidFill>
                  <a:srgbClr val="0E1B2A"/>
                </a:solidFill>
                <a:latin typeface="Aptos" pitchFamily="34" charset="0"/>
                <a:ea typeface="Aptos" pitchFamily="34" charset="-122"/>
                <a:cs typeface="Aptos" pitchFamily="34" charset="-120"/>
              </a:rPr>
              <a:t>03</a:t>
            </a:r>
            <a:endParaRPr lang="en-US" sz="800" dirty="0"/>
          </a:p>
        </p:txBody>
      </p:sp>
      <p:sp>
        <p:nvSpPr>
          <p:cNvPr id="18" name="Text 16"/>
          <p:cNvSpPr txBox="1"/>
          <p:nvPr/>
        </p:nvSpPr>
        <p:spPr>
          <a:xfrm>
            <a:off x="1399032" y="5038344"/>
            <a:ext cx="2103120" cy="201168"/>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Persona-aware</a:t>
            </a:r>
            <a:endParaRPr lang="en-US" sz="1250" dirty="0"/>
          </a:p>
        </p:txBody>
      </p:sp>
      <p:sp>
        <p:nvSpPr>
          <p:cNvPr id="19" name="Text 17"/>
          <p:cNvSpPr txBox="1"/>
          <p:nvPr/>
        </p:nvSpPr>
        <p:spPr>
          <a:xfrm>
            <a:off x="804672" y="5349240"/>
            <a:ext cx="2697480" cy="384048"/>
          </a:xfrm>
          <a:prstGeom prst="rect">
            <a:avLst/>
          </a:prstGeom>
          <a:noFill/>
          <a:ln/>
        </p:spPr>
        <p:txBody>
          <a:bodyPr wrap="square" lIns="0" tIns="0" rIns="0" bIns="0" rtlCol="0" anchor="t">
            <a:normAutofit/>
          </a:bodyPr>
          <a:lstStyle/>
          <a:p>
            <a:pPr algn="l" indent="0" marL="0">
              <a:buNone/>
            </a:pPr>
            <a:r>
              <a:rPr lang="en-US" sz="980" dirty="0">
                <a:solidFill>
                  <a:srgbClr val="B6CADB"/>
                </a:solidFill>
                <a:latin typeface="Aptos" pitchFamily="34" charset="0"/>
                <a:ea typeface="Aptos" pitchFamily="34" charset="-122"/>
                <a:cs typeface="Aptos" pitchFamily="34" charset="-120"/>
              </a:rPr>
              <a:t>One sweep, routed to the audience that can act.</a:t>
            </a:r>
            <a:endParaRPr lang="en-US" sz="980" dirty="0"/>
          </a:p>
        </p:txBody>
      </p:sp>
      <p:sp>
        <p:nvSpPr>
          <p:cNvPr id="20" name="Shape 18"/>
          <p:cNvSpPr/>
          <p:nvPr/>
        </p:nvSpPr>
        <p:spPr>
          <a:xfrm>
            <a:off x="3977640" y="4892040"/>
            <a:ext cx="3154680" cy="960120"/>
          </a:xfrm>
          <a:prstGeom prst="roundRect">
            <a:avLst>
              <a:gd name="adj" fmla="val 15238"/>
            </a:avLst>
          </a:prstGeom>
          <a:solidFill>
            <a:srgbClr val="16263A"/>
          </a:solidFill>
          <a:ln w="12700">
            <a:solidFill>
              <a:srgbClr val="36506B"/>
            </a:solidFill>
            <a:prstDash val="solid"/>
          </a:ln>
        </p:spPr>
      </p:sp>
      <p:sp>
        <p:nvSpPr>
          <p:cNvPr id="21" name="Shape 19"/>
          <p:cNvSpPr/>
          <p:nvPr/>
        </p:nvSpPr>
        <p:spPr>
          <a:xfrm>
            <a:off x="4160520" y="5056632"/>
            <a:ext cx="438912" cy="256032"/>
          </a:xfrm>
          <a:prstGeom prst="roundRect">
            <a:avLst>
              <a:gd name="adj" fmla="val 50000"/>
            </a:avLst>
          </a:prstGeom>
          <a:solidFill>
            <a:srgbClr val="36D6BD"/>
          </a:solidFill>
          <a:ln w="12700">
            <a:solidFill>
              <a:srgbClr val="36D6BD"/>
            </a:solidFill>
            <a:prstDash val="solid"/>
          </a:ln>
        </p:spPr>
      </p:sp>
      <p:sp>
        <p:nvSpPr>
          <p:cNvPr id="22" name="Text 20"/>
          <p:cNvSpPr txBox="1"/>
          <p:nvPr/>
        </p:nvSpPr>
        <p:spPr>
          <a:xfrm>
            <a:off x="4233672" y="5065776"/>
            <a:ext cx="292608" cy="219456"/>
          </a:xfrm>
          <a:prstGeom prst="rect">
            <a:avLst/>
          </a:prstGeom>
          <a:noFill/>
          <a:ln/>
        </p:spPr>
        <p:txBody>
          <a:bodyPr wrap="square" lIns="0" tIns="0" rIns="0" bIns="0" rtlCol="0" anchor="ctr">
            <a:normAutofit/>
          </a:bodyPr>
          <a:lstStyle/>
          <a:p>
            <a:pPr algn="ctr" indent="0" marL="0">
              <a:buNone/>
            </a:pPr>
            <a:r>
              <a:rPr lang="en-US" sz="800" b="1" dirty="0">
                <a:solidFill>
                  <a:srgbClr val="0E1B2A"/>
                </a:solidFill>
                <a:latin typeface="Aptos" pitchFamily="34" charset="0"/>
                <a:ea typeface="Aptos" pitchFamily="34" charset="-122"/>
                <a:cs typeface="Aptos" pitchFamily="34" charset="-120"/>
              </a:rPr>
              <a:t>04</a:t>
            </a:r>
            <a:endParaRPr lang="en-US" sz="800" dirty="0"/>
          </a:p>
        </p:txBody>
      </p:sp>
      <p:sp>
        <p:nvSpPr>
          <p:cNvPr id="23" name="Text 21"/>
          <p:cNvSpPr txBox="1"/>
          <p:nvPr/>
        </p:nvSpPr>
        <p:spPr>
          <a:xfrm>
            <a:off x="4754880" y="5038344"/>
            <a:ext cx="2103120" cy="201168"/>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ptos" pitchFamily="34" charset="0"/>
                <a:ea typeface="Aptos" pitchFamily="34" charset="-122"/>
                <a:cs typeface="Aptos" pitchFamily="34" charset="-120"/>
              </a:rPr>
              <a:t>Honest about cost</a:t>
            </a:r>
            <a:endParaRPr lang="en-US" sz="1250" dirty="0"/>
          </a:p>
        </p:txBody>
      </p:sp>
      <p:sp>
        <p:nvSpPr>
          <p:cNvPr id="24" name="Text 22"/>
          <p:cNvSpPr txBox="1"/>
          <p:nvPr/>
        </p:nvSpPr>
        <p:spPr>
          <a:xfrm>
            <a:off x="4160520" y="5349240"/>
            <a:ext cx="2697480" cy="384048"/>
          </a:xfrm>
          <a:prstGeom prst="rect">
            <a:avLst/>
          </a:prstGeom>
          <a:noFill/>
          <a:ln/>
        </p:spPr>
        <p:txBody>
          <a:bodyPr wrap="square" lIns="0" tIns="0" rIns="0" bIns="0" rtlCol="0" anchor="t">
            <a:normAutofit/>
          </a:bodyPr>
          <a:lstStyle/>
          <a:p>
            <a:pPr algn="l" indent="0" marL="0">
              <a:buNone/>
            </a:pPr>
            <a:r>
              <a:rPr lang="en-US" sz="980" dirty="0">
                <a:solidFill>
                  <a:srgbClr val="B6CADB"/>
                </a:solidFill>
                <a:latin typeface="Aptos" pitchFamily="34" charset="0"/>
                <a:ea typeface="Aptos" pitchFamily="34" charset="-122"/>
                <a:cs typeface="Aptos" pitchFamily="34" charset="-120"/>
              </a:rPr>
              <a:t>Flat in data volume, by construction.</a:t>
            </a:r>
            <a:endParaRPr lang="en-US" sz="980" dirty="0"/>
          </a:p>
        </p:txBody>
      </p:sp>
      <p:sp>
        <p:nvSpPr>
          <p:cNvPr id="25" name="Shape 23"/>
          <p:cNvSpPr/>
          <p:nvPr/>
        </p:nvSpPr>
        <p:spPr>
          <a:xfrm>
            <a:off x="7543800" y="3337560"/>
            <a:ext cx="3977640" cy="2651760"/>
          </a:xfrm>
          <a:prstGeom prst="roundRect">
            <a:avLst>
              <a:gd name="adj" fmla="val 5517"/>
            </a:avLst>
          </a:prstGeom>
          <a:solidFill>
            <a:srgbClr val="FFFFFF"/>
          </a:solidFill>
          <a:ln w="12700">
            <a:solidFill>
              <a:srgbClr val="FFFFFF"/>
            </a:solidFill>
            <a:prstDash val="solid"/>
          </a:ln>
        </p:spPr>
      </p:sp>
      <p:sp>
        <p:nvSpPr>
          <p:cNvPr id="26" name="Text 24"/>
          <p:cNvSpPr txBox="1"/>
          <p:nvPr/>
        </p:nvSpPr>
        <p:spPr>
          <a:xfrm>
            <a:off x="7955280" y="3657600"/>
            <a:ext cx="1005840"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69E0"/>
                </a:solidFill>
                <a:latin typeface="Aptos" pitchFamily="34" charset="0"/>
                <a:ea typeface="Aptos" pitchFamily="34" charset="-122"/>
                <a:cs typeface="Aptos" pitchFamily="34" charset="-120"/>
              </a:rPr>
              <a:t>SENSE</a:t>
            </a:r>
            <a:endParaRPr lang="en-US" sz="1200" dirty="0"/>
          </a:p>
        </p:txBody>
      </p:sp>
      <p:sp>
        <p:nvSpPr>
          <p:cNvPr id="27" name="Text 25"/>
          <p:cNvSpPr txBox="1"/>
          <p:nvPr/>
        </p:nvSpPr>
        <p:spPr>
          <a:xfrm>
            <a:off x="8933688" y="3657600"/>
            <a:ext cx="320040" cy="256032"/>
          </a:xfrm>
          <a:prstGeom prst="rect">
            <a:avLst/>
          </a:prstGeom>
          <a:noFill/>
          <a:ln/>
        </p:spPr>
        <p:txBody>
          <a:bodyPr wrap="square" lIns="0" tIns="0" rIns="0" bIns="0" rtlCol="0" anchor="ctr">
            <a:normAutofit/>
          </a:bodyPr>
          <a:lstStyle/>
          <a:p>
            <a:pPr algn="ctr" indent="0" marL="0">
              <a:buNone/>
            </a:pPr>
            <a:r>
              <a:rPr lang="en-US" sz="1800" b="1" dirty="0">
                <a:solidFill>
                  <a:srgbClr val="61738A"/>
                </a:solidFill>
                <a:latin typeface="Aptos" pitchFamily="34" charset="0"/>
                <a:ea typeface="Aptos" pitchFamily="34" charset="-122"/>
                <a:cs typeface="Aptos" pitchFamily="34" charset="-120"/>
              </a:rPr>
              <a:t>→</a:t>
            </a:r>
            <a:endParaRPr lang="en-US" sz="1800" dirty="0"/>
          </a:p>
        </p:txBody>
      </p:sp>
      <p:sp>
        <p:nvSpPr>
          <p:cNvPr id="28" name="Text 26"/>
          <p:cNvSpPr txBox="1"/>
          <p:nvPr/>
        </p:nvSpPr>
        <p:spPr>
          <a:xfrm>
            <a:off x="9281160" y="3657600"/>
            <a:ext cx="1325880"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6C4CE6"/>
                </a:solidFill>
                <a:latin typeface="Aptos" pitchFamily="34" charset="0"/>
                <a:ea typeface="Aptos" pitchFamily="34" charset="-122"/>
                <a:cs typeface="Aptos" pitchFamily="34" charset="-120"/>
              </a:rPr>
              <a:t>REASON</a:t>
            </a:r>
            <a:endParaRPr lang="en-US" sz="1200" dirty="0"/>
          </a:p>
        </p:txBody>
      </p:sp>
      <p:sp>
        <p:nvSpPr>
          <p:cNvPr id="29" name="Text 27"/>
          <p:cNvSpPr txBox="1"/>
          <p:nvPr/>
        </p:nvSpPr>
        <p:spPr>
          <a:xfrm>
            <a:off x="7955280" y="4315968"/>
            <a:ext cx="1234440"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36D6BD"/>
                </a:solidFill>
                <a:latin typeface="Aptos" pitchFamily="34" charset="0"/>
                <a:ea typeface="Aptos" pitchFamily="34" charset="-122"/>
                <a:cs typeface="Aptos" pitchFamily="34" charset="-120"/>
              </a:rPr>
              <a:t>COMPOSE</a:t>
            </a:r>
            <a:endParaRPr lang="en-US" sz="1200" dirty="0"/>
          </a:p>
        </p:txBody>
      </p:sp>
      <p:sp>
        <p:nvSpPr>
          <p:cNvPr id="30" name="Text 28"/>
          <p:cNvSpPr txBox="1"/>
          <p:nvPr/>
        </p:nvSpPr>
        <p:spPr>
          <a:xfrm>
            <a:off x="9235440" y="4315968"/>
            <a:ext cx="320040" cy="256032"/>
          </a:xfrm>
          <a:prstGeom prst="rect">
            <a:avLst/>
          </a:prstGeom>
          <a:noFill/>
          <a:ln/>
        </p:spPr>
        <p:txBody>
          <a:bodyPr wrap="square" lIns="0" tIns="0" rIns="0" bIns="0" rtlCol="0" anchor="ctr">
            <a:normAutofit/>
          </a:bodyPr>
          <a:lstStyle/>
          <a:p>
            <a:pPr algn="ctr" indent="0" marL="0">
              <a:buNone/>
            </a:pPr>
            <a:r>
              <a:rPr lang="en-US" sz="1800" b="1" dirty="0">
                <a:solidFill>
                  <a:srgbClr val="61738A"/>
                </a:solidFill>
                <a:latin typeface="Aptos" pitchFamily="34" charset="0"/>
                <a:ea typeface="Aptos" pitchFamily="34" charset="-122"/>
                <a:cs typeface="Aptos" pitchFamily="34" charset="-120"/>
              </a:rPr>
              <a:t>→</a:t>
            </a:r>
            <a:endParaRPr lang="en-US" sz="1800" dirty="0"/>
          </a:p>
        </p:txBody>
      </p:sp>
      <p:sp>
        <p:nvSpPr>
          <p:cNvPr id="31" name="Text 29"/>
          <p:cNvSpPr txBox="1"/>
          <p:nvPr/>
        </p:nvSpPr>
        <p:spPr>
          <a:xfrm>
            <a:off x="9601200" y="4315968"/>
            <a:ext cx="822960"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6A568"/>
                </a:solidFill>
                <a:latin typeface="Aptos" pitchFamily="34" charset="0"/>
                <a:ea typeface="Aptos" pitchFamily="34" charset="-122"/>
                <a:cs typeface="Aptos" pitchFamily="34" charset="-120"/>
              </a:rPr>
              <a:t>ACT</a:t>
            </a:r>
            <a:endParaRPr lang="en-US" sz="1200" dirty="0"/>
          </a:p>
        </p:txBody>
      </p:sp>
      <p:sp>
        <p:nvSpPr>
          <p:cNvPr id="32" name="Text 30"/>
          <p:cNvSpPr txBox="1"/>
          <p:nvPr/>
        </p:nvSpPr>
        <p:spPr>
          <a:xfrm>
            <a:off x="7955280" y="4828032"/>
            <a:ext cx="2514600" cy="548640"/>
          </a:xfrm>
          <a:prstGeom prst="rect">
            <a:avLst/>
          </a:prstGeom>
          <a:noFill/>
          <a:ln/>
        </p:spPr>
        <p:txBody>
          <a:bodyPr wrap="square" lIns="0" tIns="0" rIns="0" bIns="0" rtlCol="0" anchor="t">
            <a:normAutofit/>
          </a:bodyPr>
          <a:lstStyle/>
          <a:p>
            <a:pPr algn="l" indent="0" marL="0">
              <a:buNone/>
            </a:pPr>
            <a:r>
              <a:rPr lang="en-US" sz="1800" b="1" dirty="0">
                <a:solidFill>
                  <a:srgbClr val="0E1B2A"/>
                </a:solidFill>
                <a:latin typeface="Aptos" pitchFamily="34" charset="0"/>
                <a:ea typeface="Aptos" pitchFamily="34" charset="-122"/>
                <a:cs typeface="Aptos" pitchFamily="34" charset="-120"/>
              </a:rPr>
              <a:t>From raw feeds</a:t>
            </a:r>
            <a:endParaRPr lang="en-US" sz="1800" dirty="0"/>
          </a:p>
          <a:p>
            <a:pPr algn="l" indent="0" marL="0">
              <a:buNone/>
            </a:pPr>
            <a:r>
              <a:rPr lang="en-US" sz="1800" b="1" dirty="0">
                <a:solidFill>
                  <a:srgbClr val="0E1B2A"/>
                </a:solidFill>
                <a:latin typeface="Aptos" pitchFamily="34" charset="0"/>
                <a:ea typeface="Aptos" pitchFamily="34" charset="-122"/>
                <a:cs typeface="Aptos" pitchFamily="34" charset="-120"/>
              </a:rPr>
              <a:t>to one brief.</a:t>
            </a:r>
            <a:endParaRPr lang="en-US" sz="1800" dirty="0"/>
          </a:p>
        </p:txBody>
      </p:sp>
      <p:sp>
        <p:nvSpPr>
          <p:cNvPr id="33" name="Text 31"/>
          <p:cNvSpPr txBox="1"/>
          <p:nvPr/>
        </p:nvSpPr>
        <p:spPr>
          <a:xfrm>
            <a:off x="7955280" y="5623560"/>
            <a:ext cx="2788920" cy="201168"/>
          </a:xfrm>
          <a:prstGeom prst="rect">
            <a:avLst/>
          </a:prstGeom>
          <a:noFill/>
          <a:ln/>
        </p:spPr>
        <p:txBody>
          <a:bodyPr wrap="square" lIns="0" tIns="0" rIns="0" bIns="0" rtlCol="0" anchor="ctr">
            <a:normAutofit/>
          </a:bodyPr>
          <a:lstStyle/>
          <a:p>
            <a:pPr algn="l" indent="0" marL="0">
              <a:buNone/>
            </a:pPr>
            <a:r>
              <a:rPr lang="en-US" sz="900" b="1" spc="140" kern="0" dirty="0">
                <a:solidFill>
                  <a:srgbClr val="1769E0"/>
                </a:solidFill>
                <a:latin typeface="Aptos" pitchFamily="34" charset="0"/>
                <a:ea typeface="Aptos" pitchFamily="34" charset="-122"/>
                <a:cs typeface="Aptos" pitchFamily="34" charset="-120"/>
              </a:rPr>
              <a:t>MOVEINSYNC INTELLIGENCE</a:t>
            </a:r>
            <a:endParaRPr lang="en-US" sz="900" dirty="0"/>
          </a:p>
        </p:txBody>
      </p:sp>
      <p:sp>
        <p:nvSpPr>
          <p:cNvPr id="34" name="Text 32"/>
          <p:cNvSpPr txBox="1"/>
          <p:nvPr/>
        </p:nvSpPr>
        <p:spPr>
          <a:xfrm>
            <a:off x="603504" y="6144768"/>
            <a:ext cx="1828800" cy="237744"/>
          </a:xfrm>
          <a:prstGeom prst="rect">
            <a:avLst/>
          </a:prstGeom>
          <a:noFill/>
          <a:ln/>
        </p:spPr>
        <p:txBody>
          <a:bodyPr wrap="square" lIns="0" tIns="0" rIns="0" bIns="0" rtlCol="0" anchor="ctr">
            <a:normAutofit/>
          </a:bodyPr>
          <a:lstStyle/>
          <a:p>
            <a:pPr algn="l" indent="0" marL="0">
              <a:buNone/>
            </a:pPr>
            <a:r>
              <a:rPr lang="en-US" sz="1200" dirty="0">
                <a:solidFill>
                  <a:srgbClr val="AFC4D6"/>
                </a:solidFill>
                <a:latin typeface="Aptos" pitchFamily="34" charset="0"/>
                <a:ea typeface="Aptos" pitchFamily="34" charset="-122"/>
                <a:cs typeface="Aptos" pitchFamily="34" charset="-120"/>
              </a:rPr>
              <a:t>Thank you</a:t>
            </a:r>
            <a:endParaRPr lang="en-US" sz="1200" dirty="0"/>
          </a:p>
        </p:txBody>
      </p:sp>
      <p:sp>
        <p:nvSpPr>
          <p:cNvPr id="25" name="Slide Number Placeholder 0"/>
          <p:cNvSpPr>
            <a:spLocks noGrp="1"/>
          </p:cNvSpPr>
          <p:nvPr>
            <p:ph type="sldNum" sz="quarter" idx="4294967295"/>
          </p:nvPr>
        </p:nvSpPr>
        <p:spPr>
          <a:xfrm>
            <a:off x="11475720" y="658368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9E3EF"/>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MoveInSync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MoveInSync Intelligence</dc:title>
  <dc:subject>MoveInSync Hackathon – Agentic Intelligence &amp; Reporting Layer for Enterprise Mobility</dc:subject>
  <dc:creator>OpenAI</dc:creator>
  <cp:lastModifiedBy>OpenAI</cp:lastModifiedBy>
  <cp:revision>1</cp:revision>
  <dcterms:created xsi:type="dcterms:W3CDTF">2026-09-05T04:37:48Z</dcterms:created>
  <dcterms:modified xsi:type="dcterms:W3CDTF">2026-09-05T04:37:48Z</dcterms:modified>
</cp:coreProperties>
</file>